
<file path=[Content_Types].xml><?xml version="1.0" encoding="utf-8"?>
<Types xmlns="http://schemas.openxmlformats.org/package/2006/content-types">
  <Default Extension="xml" ContentType="application/xml"/>
  <Default Extension="jpg" ContentType="image/jpeg"/>
  <Default Extension="svg" ContentType="image/svg+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6.xml" ContentType="application/vnd.openxmlformats-officedocument.presentationml.notesSlide+xml"/>
  <Override PartName="/ppt/slides/slide12.xml" ContentType="application/vnd.openxmlformats-officedocument.presentationml.slide+xml"/>
  <Override PartName="/ppt/slideLayouts/slideLayout1.xml" ContentType="application/vnd.openxmlformats-officedocument.presentationml.slideLayou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slides/slide9.xml" ContentType="application/vnd.openxmlformats-officedocument.presentationml.slide+xml"/>
  <Override PartName="/ppt/slides/slide20.xml" ContentType="application/vnd.openxmlformats-officedocument.presentationml.slide+xml"/>
  <Override PartName="/ppt/notesSlides/notesSlide1.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7.xml" ContentType="application/vnd.openxmlformats-officedocument.presentationml.slide+xml"/>
  <Override PartName="/ppt/notesSlides/notesSlide2.xml" ContentType="application/vnd.openxmlformats-officedocument.presentationml.notesSlide+xml"/>
  <Override PartName="/ppt/slides/slide5.xml" ContentType="application/vnd.openxmlformats-officedocument.presentationml.slide+xml"/>
  <Override PartName="/docProps/app.xml" ContentType="application/vnd.openxmlformats-officedocument.extended-properties+xml"/>
  <Override PartName="/ppt/slides/slide17.xml" ContentType="application/vnd.openxmlformats-officedocument.presentationml.slide+xml"/>
  <Override PartName="/ppt/viewProps.xml" ContentType="application/vnd.openxmlformats-officedocument.presentationml.viewProps+xml"/>
  <Override PartName="/ppt/presProps.xml" ContentType="application/vnd.openxmlformats-officedocument.presentationml.presProps+xml"/>
  <Override PartName="/ppt/slides/slide11.xml" ContentType="application/vnd.openxmlformats-officedocument.presentationml.slide+xml"/>
  <Override PartName="/ppt/slides/slide13.xml" ContentType="application/vnd.openxmlformats-officedocument.presentationml.slide+xml"/>
  <Override PartName="/ppt/theme/theme1.xml" ContentType="application/vnd.openxmlformats-officedocument.theme+xml"/>
  <Override PartName="/ppt/slides/slide3.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docProps/core.xml" ContentType="application/vnd.openxmlformats-package.core-properties+xml"/>
  <Override PartName="/ppt/notesSlides/notesSlide15.xml" ContentType="application/vnd.openxmlformats-officedocument.presentationml.notesSlide+xml"/>
  <Override PartName="/ppt/slides/slide14.xml" ContentType="application/vnd.openxmlformats-officedocument.presentationml.slide+xml"/>
  <Override PartName="/ppt/notesSlides/notesSlide3.xml" ContentType="application/vnd.openxmlformats-officedocument.presentationml.notesSlide+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notesSlides/notesSlide17.xml" ContentType="application/vnd.openxmlformats-officedocument.presentationml.notesSlide+xml"/>
  <Override PartName="/ppt/slides/slide22.xml" ContentType="application/vnd.openxmlformats-officedocument.presentationml.slide+xml"/>
  <Override PartName="/ppt/slides/slide19.xml" ContentType="application/vnd.openxmlformats-officedocument.presentationml.slide+xml"/>
  <Override PartName="/ppt/slides/slide4.xml" ContentType="application/vnd.openxmlformats-officedocument.presentationml.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slides/slide23.xml" ContentType="application/vnd.openxmlformats-officedocument.presentationml.slide+xml"/>
  <Override PartName="/ppt/notesSlides/notesSlide21.xml" ContentType="application/vnd.openxmlformats-officedocument.presentationml.notesSlide+xml"/>
  <Override PartName="/ppt/notesSlides/notesSlide14.xml" ContentType="application/vnd.openxmlformats-officedocument.presentationml.notesSlide+xml"/>
  <Override PartName="/ppt/slides/slide24.xml" ContentType="application/vnd.openxmlformats-officedocument.presentationml.slide+xml"/>
  <Override PartName="/ppt/tableStyles.xml" ContentType="application/vnd.openxmlformats-officedocument.presentationml.tableStyles+xml"/>
  <Override PartName="/ppt/notesSlides/notesSlide4.xml" ContentType="application/vnd.openxmlformats-officedocument.presentationml.notesSlide+xml"/>
  <Override PartName="/ppt/presentation.xml" ContentType="application/vnd.openxmlformats-officedocument.presentationml.presentation.main+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27"/>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Lst>
  <p:sldSz cx="18288000" cy="10287000"/>
  <p:notesSz cx="10287000" cy="18288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36" d="100"/>
          <a:sy n="136" d="100"/>
        </p:scale>
        <p:origin x="216" y="312"/>
      </p:cViewPr>
      <p:guideLst>
        <p:guide pos="5760"/>
        <p:guide pos="324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notesMaster" Target="notesMasters/notesMaster1.xml"/><Relationship Id="rId28" Type="http://schemas.openxmlformats.org/officeDocument/2006/relationships/presProps" Target="presProps.xml" /><Relationship Id="rId29" Type="http://schemas.openxmlformats.org/officeDocument/2006/relationships/tableStyles" Target="tableStyles.xml" /><Relationship Id="rId30"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464819336"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260305663"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7/23/19</a:t>
            </a:fld>
            <a:endParaRPr lang="en-US"/>
          </a:p>
        </p:txBody>
      </p:sp>
      <p:sp>
        <p:nvSpPr>
          <p:cNvPr id="636289381"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236113273"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527076434"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579917071"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38962791" name="Slide Image Placeholder 1"/>
          <p:cNvSpPr>
            <a:spLocks noChangeAspect="1" noGrp="1" noRot="1"/>
          </p:cNvSpPr>
          <p:nvPr>
            <p:ph type="sldImg"/>
          </p:nvPr>
        </p:nvSpPr>
        <p:spPr bwMode="auto"/>
      </p:sp>
      <p:sp>
        <p:nvSpPr>
          <p:cNvPr id="38243422" name="Notes Placeholder 2"/>
          <p:cNvSpPr>
            <a:spLocks noGrp="1"/>
          </p:cNvSpPr>
          <p:nvPr>
            <p:ph type="body" idx="1"/>
          </p:nvPr>
        </p:nvSpPr>
        <p:spPr bwMode="auto"/>
        <p:txBody>
          <a:bodyPr/>
          <a:lstStyle/>
          <a:p>
            <a:pPr>
              <a:defRPr/>
            </a:pPr>
            <a:r>
              <a:rPr lang="en-US"/>
              <a:t>Goal for the session: everyone finds their robot, logs into it, sees its ROS 2 topics, and drives it. Ask who has used a terminal before.</a:t>
            </a:r>
            <a:endParaRPr lang="en-US"/>
          </a:p>
        </p:txBody>
      </p:sp>
      <p:sp>
        <p:nvSpPr>
          <p:cNvPr id="537355111"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26246791" name="Slide Image Placeholder 1"/>
          <p:cNvSpPr>
            <a:spLocks noChangeAspect="1" noGrp="1" noRot="1"/>
          </p:cNvSpPr>
          <p:nvPr>
            <p:ph type="sldImg"/>
          </p:nvPr>
        </p:nvSpPr>
        <p:spPr bwMode="auto"/>
      </p:sp>
      <p:sp>
        <p:nvSpPr>
          <p:cNvPr id="820434809" name="Notes Placeholder 2"/>
          <p:cNvSpPr>
            <a:spLocks noGrp="1"/>
          </p:cNvSpPr>
          <p:nvPr>
            <p:ph type="body" idx="1"/>
          </p:nvPr>
        </p:nvSpPr>
        <p:spPr bwMode="auto"/>
        <p:txBody>
          <a:bodyPr/>
          <a:lstStyle/>
          <a:p>
            <a:pPr>
              <a:defRPr/>
            </a:pPr>
            <a:r>
              <a:rPr lang="en-US"/>
              <a:t>Say this plainly: the slides are a guided tour, the documentation is the source of truth. Everything here has a fuller page there, including troubleshooting. Ask them to open it now and keep it open all session.</a:t>
            </a:r>
            <a:endParaRPr lang="en-US"/>
          </a:p>
        </p:txBody>
      </p:sp>
      <p:sp>
        <p:nvSpPr>
          <p:cNvPr id="834855590"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67042955" name="Slide Image Placeholder 1"/>
          <p:cNvSpPr>
            <a:spLocks noChangeAspect="1" noGrp="1" noRot="1"/>
          </p:cNvSpPr>
          <p:nvPr>
            <p:ph type="sldImg"/>
          </p:nvPr>
        </p:nvSpPr>
        <p:spPr bwMode="auto"/>
      </p:sp>
      <p:sp>
        <p:nvSpPr>
          <p:cNvPr id="1216858059" name="Notes Placeholder 2"/>
          <p:cNvSpPr>
            <a:spLocks noGrp="1"/>
          </p:cNvSpPr>
          <p:nvPr>
            <p:ph type="body" idx="1"/>
          </p:nvPr>
        </p:nvSpPr>
        <p:spPr bwMode="auto"/>
        <p:txBody>
          <a:bodyPr/>
          <a:lstStyle/>
          <a:p>
            <a:pPr>
              <a:defRPr/>
            </a:pPr>
            <a:r>
              <a:rPr lang="en-US"/>
              <a:t>Read the arc once so nobody is lost mid-way. Step 2 is where the deck forks: WiFi or Ethernet. Everything after that is the same either way.</a:t>
            </a:r>
            <a:endParaRPr lang="en-US"/>
          </a:p>
        </p:txBody>
      </p:sp>
      <p:sp>
        <p:nvSpPr>
          <p:cNvPr id="1858150912"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23610047" name="Slide Image Placeholder 1"/>
          <p:cNvSpPr>
            <a:spLocks noChangeAspect="1" noGrp="1" noRot="1"/>
          </p:cNvSpPr>
          <p:nvPr>
            <p:ph type="sldImg"/>
          </p:nvPr>
        </p:nvSpPr>
        <p:spPr bwMode="auto"/>
      </p:sp>
      <p:sp>
        <p:nvSpPr>
          <p:cNvPr id="870342767" name="Notes Placeholder 2"/>
          <p:cNvSpPr>
            <a:spLocks noGrp="1"/>
          </p:cNvSpPr>
          <p:nvPr>
            <p:ph type="body" idx="1"/>
          </p:nvPr>
        </p:nvSpPr>
        <p:spPr bwMode="auto"/>
        <p:txBody>
          <a:bodyPr/>
          <a:lstStyle/>
          <a:p>
            <a:pPr>
              <a:defRPr/>
            </a:pPr>
            <a:r>
              <a:rPr lang="en-US"/>
              <a:t>Hold a robot up, or walk it around the bench. Name the WiFi reset button and the QR label out loud — both come back later. Recognition is enough for today; the electronics are Part 2.</a:t>
            </a:r>
            <a:endParaRPr lang="en-US"/>
          </a:p>
        </p:txBody>
      </p:sp>
      <p:sp>
        <p:nvSpPr>
          <p:cNvPr id="960897134"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68966191" name="Slide Image Placeholder 1"/>
          <p:cNvSpPr>
            <a:spLocks noChangeAspect="1" noGrp="1" noRot="1"/>
          </p:cNvSpPr>
          <p:nvPr>
            <p:ph type="sldImg"/>
          </p:nvPr>
        </p:nvSpPr>
        <p:spPr bwMode="auto"/>
      </p:sp>
      <p:sp>
        <p:nvSpPr>
          <p:cNvPr id="2018518003" name="Notes Placeholder 2"/>
          <p:cNvSpPr>
            <a:spLocks noGrp="1"/>
          </p:cNvSpPr>
          <p:nvPr>
            <p:ph type="body" idx="1"/>
          </p:nvPr>
        </p:nvSpPr>
        <p:spPr bwMode="auto"/>
        <p:txBody>
          <a:bodyPr/>
          <a:lstStyle/>
          <a:p>
            <a:pPr>
              <a:defRPr/>
            </a:pPr>
            <a:r>
              <a:rPr lang="en-US"/>
              <a:t>This is the slide to photograph. One number sets all seven values. A mismatch — A2Bot5's hotspot with domain ID 3 — is the most common lost-time bug in the room. Keep the domain ID between 0 and 101; above that collides with ephemeral ports.</a:t>
            </a:r>
            <a:endParaRPr lang="en-US"/>
          </a:p>
        </p:txBody>
      </p:sp>
      <p:sp>
        <p:nvSpPr>
          <p:cNvPr id="2043810553"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11049316" name="Slide Image Placeholder 1"/>
          <p:cNvSpPr>
            <a:spLocks noChangeAspect="1" noGrp="1" noRot="1"/>
          </p:cNvSpPr>
          <p:nvPr>
            <p:ph type="sldImg"/>
          </p:nvPr>
        </p:nvSpPr>
        <p:spPr bwMode="auto"/>
      </p:sp>
      <p:sp>
        <p:nvSpPr>
          <p:cNvPr id="169661146" name="Notes Placeholder 2"/>
          <p:cNvSpPr>
            <a:spLocks noGrp="1"/>
          </p:cNvSpPr>
          <p:nvPr>
            <p:ph type="body" idx="1"/>
          </p:nvPr>
        </p:nvSpPr>
        <p:spPr bwMode="auto"/>
        <p:txBody>
          <a:bodyPr/>
          <a:lstStyle/>
          <a:p>
            <a:pPr>
              <a:defRPr/>
            </a:pPr>
            <a:r>
              <a:rPr lang="en-US"/>
              <a:t>Every command block from here carries one of these two badges. When a command fails, the first question is always: which machine did you type it on? Purple is your Ubuntu laptop, black is the robot.</a:t>
            </a:r>
            <a:endParaRPr lang="en-US"/>
          </a:p>
        </p:txBody>
      </p:sp>
      <p:sp>
        <p:nvSpPr>
          <p:cNvPr id="390545750"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30908925" name="Slide Image Placeholder 1"/>
          <p:cNvSpPr>
            <a:spLocks noChangeAspect="1" noGrp="1" noRot="1"/>
          </p:cNvSpPr>
          <p:nvPr>
            <p:ph type="sldImg"/>
          </p:nvPr>
        </p:nvSpPr>
        <p:spPr bwMode="auto"/>
      </p:sp>
      <p:sp>
        <p:nvSpPr>
          <p:cNvPr id="1031145095" name="Notes Placeholder 2"/>
          <p:cNvSpPr>
            <a:spLocks noGrp="1"/>
          </p:cNvSpPr>
          <p:nvPr>
            <p:ph type="body" idx="1"/>
          </p:nvPr>
        </p:nvSpPr>
        <p:spPr bwMode="auto"/>
        <p:txBody>
          <a:bodyPr/>
          <a:lstStyle/>
          <a:p>
            <a:pPr>
              <a:defRPr/>
            </a:pPr>
            <a:r>
              <a:rPr lang="en-US"/>
              <a:t>Most Ubuntu installs already carry the SSH client — the check prints a version. Nobody installs openssh-server today; the robot already runs the server side. Do this before anything else.</a:t>
            </a:r>
            <a:endParaRPr lang="en-US"/>
          </a:p>
        </p:txBody>
      </p:sp>
      <p:sp>
        <p:nvSpPr>
          <p:cNvPr id="1141361041"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23017821" name="Slide Image Placeholder 1"/>
          <p:cNvSpPr>
            <a:spLocks noChangeAspect="1" noGrp="1" noRot="1"/>
          </p:cNvSpPr>
          <p:nvPr>
            <p:ph type="sldImg"/>
          </p:nvPr>
        </p:nvSpPr>
        <p:spPr bwMode="auto"/>
      </p:sp>
      <p:sp>
        <p:nvSpPr>
          <p:cNvPr id="89296494" name="Notes Placeholder 2"/>
          <p:cNvSpPr>
            <a:spLocks noGrp="1"/>
          </p:cNvSpPr>
          <p:nvPr>
            <p:ph type="body" idx="1"/>
          </p:nvPr>
        </p:nvSpPr>
        <p:spPr bwMode="auto"/>
        <p:txBody>
          <a:bodyPr/>
          <a:lstStyle/>
          <a:p>
            <a:pPr>
              <a:defRPr/>
            </a:pPr>
            <a:r>
              <a:rPr lang="en-US"/>
              <a:t>Why it matters: ROS 2 can run on several DDS implementations, and two machines must use the same one to discover each other. The robots are already on Cyclone. A mismatch is a silent failure with no error message — topics simply never appear. Both exports go in .bashrc so every new terminal inherits them.</a:t>
            </a:r>
            <a:endParaRPr lang="en-US"/>
          </a:p>
        </p:txBody>
      </p:sp>
      <p:sp>
        <p:nvSpPr>
          <p:cNvPr id="920058471"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11049647" name="Slide Image Placeholder 1"/>
          <p:cNvSpPr>
            <a:spLocks noChangeAspect="1" noGrp="1" noRot="1"/>
          </p:cNvSpPr>
          <p:nvPr>
            <p:ph type="sldImg"/>
          </p:nvPr>
        </p:nvSpPr>
        <p:spPr bwMode="auto"/>
      </p:sp>
      <p:sp>
        <p:nvSpPr>
          <p:cNvPr id="888489776" name="Notes Placeholder 2"/>
          <p:cNvSpPr>
            <a:spLocks noGrp="1"/>
          </p:cNvSpPr>
          <p:nvPr>
            <p:ph type="body" idx="1"/>
          </p:nvPr>
        </p:nvSpPr>
        <p:spPr bwMode="auto"/>
        <p:txBody>
          <a:bodyPr/>
          <a:lstStyle/>
          <a:p>
            <a:pPr>
              <a:defRPr/>
            </a:pPr>
            <a:r>
              <a:rPr lang="en-US"/>
              <a:t>This is the fork. Explain the trade-off honestly: WiFi is what you will use day to day and needs no configuration on the laptop; Ethernet takes ten minutes to set up once and then never fails. If the room's WiFi is unreliable, send everyone down route B.</a:t>
            </a:r>
            <a:endParaRPr lang="en-US"/>
          </a:p>
        </p:txBody>
      </p:sp>
      <p:sp>
        <p:nvSpPr>
          <p:cNvPr id="798634266"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0550610" name="Slide Image Placeholder 1"/>
          <p:cNvSpPr>
            <a:spLocks noChangeAspect="1" noGrp="1" noRot="1"/>
          </p:cNvSpPr>
          <p:nvPr>
            <p:ph type="sldImg"/>
          </p:nvPr>
        </p:nvSpPr>
        <p:spPr bwMode="auto"/>
      </p:sp>
      <p:sp>
        <p:nvSpPr>
          <p:cNvPr id="1157443298" name="Notes Placeholder 2"/>
          <p:cNvSpPr>
            <a:spLocks noGrp="1"/>
          </p:cNvSpPr>
          <p:nvPr>
            <p:ph type="body" idx="1"/>
          </p:nvPr>
        </p:nvSpPr>
        <p:spPr bwMode="auto"/>
        <p:txBody>
          <a:bodyPr/>
          <a:lstStyle/>
          <a:p>
            <a:pPr>
              <a:defRPr/>
            </a:pPr>
            <a:r>
              <a:rPr lang="en-US"/>
              <a:t>No terminal here — this is the ordinary WiFi menu. If a2botX-setup is missing, the robot is already on a network it remembers from a previous session: press and HOLD the WiFi reset button about five seconds, until the LED blinks, to clear saved networks and force hotspot mode. Password is on the robot's QR label or from me.</a:t>
            </a:r>
            <a:endParaRPr lang="en-US"/>
          </a:p>
        </p:txBody>
      </p:sp>
      <p:sp>
        <p:nvSpPr>
          <p:cNvPr id="298915166" name="Slide Number Placeholder 3"/>
          <p:cNvSpPr>
            <a:spLocks noGrp="1"/>
          </p:cNvSpPr>
          <p:nvPr>
            <p:ph type="sldNum" sz="quarter" idx="10"/>
          </p:nvPr>
        </p:nvSpPr>
        <p:spPr bwMode="auto"/>
        <p:txBody>
          <a:bodyPr/>
          <a:lstStyle/>
          <a:p>
            <a:pPr>
              <a:defRPr/>
            </a:pPr>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35119031" name="Slide Image Placeholder 1"/>
          <p:cNvSpPr>
            <a:spLocks noChangeAspect="1" noGrp="1" noRot="1"/>
          </p:cNvSpPr>
          <p:nvPr>
            <p:ph type="sldImg"/>
          </p:nvPr>
        </p:nvSpPr>
        <p:spPr bwMode="auto"/>
      </p:sp>
      <p:sp>
        <p:nvSpPr>
          <p:cNvPr id="788402019" name="Notes Placeholder 2"/>
          <p:cNvSpPr>
            <a:spLocks noGrp="1"/>
          </p:cNvSpPr>
          <p:nvPr>
            <p:ph type="body" idx="1"/>
          </p:nvPr>
        </p:nvSpPr>
        <p:spPr bwMode="auto"/>
        <p:txBody>
          <a:bodyPr/>
          <a:lstStyle/>
          <a:p>
            <a:pPr>
              <a:defRPr/>
            </a:pPr>
            <a:r>
              <a:rPr lang="en-US"/>
              <a:t>Two pages on two ports, on the same robot. 8888 is the connection page you use to get the robot online. 7777 is the control panel you will use in the exercise at the end. Same IP, different port — whatever address the robot currently has.</a:t>
            </a:r>
            <a:endParaRPr lang="en-US"/>
          </a:p>
        </p:txBody>
      </p:sp>
      <p:sp>
        <p:nvSpPr>
          <p:cNvPr id="132247980" name="Slide Number Placeholder 3"/>
          <p:cNvSpPr>
            <a:spLocks noGrp="1"/>
          </p:cNvSpPr>
          <p:nvPr>
            <p:ph type="sldNum" sz="quarter" idx="10"/>
          </p:nvPr>
        </p:nvSpPr>
        <p:spPr bwMode="auto"/>
        <p:txBody>
          <a:bodyPr/>
          <a:lstStyle/>
          <a:p>
            <a:pPr>
              <a:defRPr/>
            </a:pPr>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94365812" name="Slide Image Placeholder 1"/>
          <p:cNvSpPr>
            <a:spLocks noChangeAspect="1" noGrp="1" noRot="1"/>
          </p:cNvSpPr>
          <p:nvPr>
            <p:ph type="sldImg"/>
          </p:nvPr>
        </p:nvSpPr>
        <p:spPr bwMode="auto"/>
      </p:sp>
      <p:sp>
        <p:nvSpPr>
          <p:cNvPr id="1718366454" name="Notes Placeholder 2"/>
          <p:cNvSpPr>
            <a:spLocks noGrp="1"/>
          </p:cNvSpPr>
          <p:nvPr>
            <p:ph type="body" idx="1"/>
          </p:nvPr>
        </p:nvSpPr>
        <p:spPr bwMode="auto"/>
        <p:txBody>
          <a:bodyPr/>
          <a:lstStyle/>
          <a:p>
            <a:pPr>
              <a:defRPr/>
            </a:pPr>
            <a:r>
              <a:rPr lang="en-US"/>
              <a:t>Over the hotspot the dashboard only loads while a2botX-setup is the device's ONLY active connection — mobile data off. That trips up most of the room. Scanning the QR label reaches the same page.</a:t>
            </a:r>
            <a:endParaRPr lang="en-US"/>
          </a:p>
        </p:txBody>
      </p:sp>
      <p:sp>
        <p:nvSpPr>
          <p:cNvPr id="323924758" name="Slide Number Placeholder 3"/>
          <p:cNvSpPr>
            <a:spLocks noGrp="1"/>
          </p:cNvSpPr>
          <p:nvPr>
            <p:ph type="sldNum" sz="quarter" idx="10"/>
          </p:nvPr>
        </p:nvSpPr>
        <p:spPr bwMode="auto"/>
        <p:txBody>
          <a:bodyPr/>
          <a:lstStyle/>
          <a:p>
            <a:pPr>
              <a:defRPr/>
            </a:pPr>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28482260" name="Slide Image Placeholder 1"/>
          <p:cNvSpPr>
            <a:spLocks noChangeAspect="1" noGrp="1" noRot="1"/>
          </p:cNvSpPr>
          <p:nvPr>
            <p:ph type="sldImg"/>
          </p:nvPr>
        </p:nvSpPr>
        <p:spPr bwMode="auto"/>
      </p:sp>
      <p:sp>
        <p:nvSpPr>
          <p:cNvPr id="1877915203" name="Notes Placeholder 2"/>
          <p:cNvSpPr>
            <a:spLocks noGrp="1"/>
          </p:cNvSpPr>
          <p:nvPr>
            <p:ph type="body" idx="1"/>
          </p:nvPr>
        </p:nvSpPr>
        <p:spPr bwMode="auto"/>
        <p:txBody>
          <a:bodyPr/>
          <a:lstStyle/>
          <a:p>
            <a:pPr>
              <a:defRPr/>
            </a:pPr>
            <a:r>
              <a:rPr lang="en-US"/>
              <a:t>Two warnings. If your network is not listed, press rescan — the robot drops its own hotspot to scan, so you lose the page and rejoin afterwards. And the connect request appears to FAIL with a network error: that is the expected shape of success, the robot switched networks out from under the request. Then join your own laptop to that same network.</a:t>
            </a:r>
            <a:endParaRPr lang="en-US"/>
          </a:p>
        </p:txBody>
      </p:sp>
      <p:sp>
        <p:nvSpPr>
          <p:cNvPr id="1652781152" name="Slide Number Placeholder 3"/>
          <p:cNvSpPr>
            <a:spLocks noGrp="1"/>
          </p:cNvSpPr>
          <p:nvPr>
            <p:ph type="sldNum" sz="quarter" idx="10"/>
          </p:nvPr>
        </p:nvSpPr>
        <p:spPr bwMode="auto"/>
        <p:txBody>
          <a:bodyPr/>
          <a:lstStyle/>
          <a:p>
            <a:pPr>
              <a:defRPr/>
            </a:pPr>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63168769" name="Slide Image Placeholder 1"/>
          <p:cNvSpPr>
            <a:spLocks noChangeAspect="1" noGrp="1" noRot="1"/>
          </p:cNvSpPr>
          <p:nvPr>
            <p:ph type="sldImg"/>
          </p:nvPr>
        </p:nvSpPr>
        <p:spPr bwMode="auto"/>
      </p:sp>
      <p:sp>
        <p:nvSpPr>
          <p:cNvPr id="193443757" name="Notes Placeholder 2"/>
          <p:cNvSpPr>
            <a:spLocks noGrp="1"/>
          </p:cNvSpPr>
          <p:nvPr>
            <p:ph type="body" idx="1"/>
          </p:nvPr>
        </p:nvSpPr>
        <p:spPr bwMode="auto"/>
        <p:txBody>
          <a:bodyPr/>
          <a:lstStyle/>
          <a:p>
            <a:pPr>
              <a:defRPr/>
            </a:pPr>
            <a:r>
              <a:rPr lang="en-US"/>
              <a:t>A direct cable has no DHCP, so nothing hands out addresses — you set both ends by hand. Both must be on the same /24: first three numbers identical, last number different. Do not set a gateway on this link, or the Pi tries to route internet traffic down a dead-end cable.</a:t>
            </a:r>
            <a:endParaRPr lang="en-US"/>
          </a:p>
        </p:txBody>
      </p:sp>
      <p:sp>
        <p:nvSpPr>
          <p:cNvPr id="2125201268" name="Slide Number Placeholder 3"/>
          <p:cNvSpPr>
            <a:spLocks noGrp="1"/>
          </p:cNvSpPr>
          <p:nvPr>
            <p:ph type="sldNum" sz="quarter" idx="10"/>
          </p:nvPr>
        </p:nvSpPr>
        <p:spPr bwMode="auto"/>
        <p:txBody>
          <a:bodyPr/>
          <a:lstStyle/>
          <a:p>
            <a:pPr>
              <a:defRPr/>
            </a:pPr>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8835021" name="Slide Image Placeholder 1"/>
          <p:cNvSpPr>
            <a:spLocks noChangeAspect="1" noGrp="1" noRot="1"/>
          </p:cNvSpPr>
          <p:nvPr>
            <p:ph type="sldImg"/>
          </p:nvPr>
        </p:nvSpPr>
        <p:spPr bwMode="auto"/>
      </p:sp>
      <p:sp>
        <p:nvSpPr>
          <p:cNvPr id="422701970" name="Notes Placeholder 2"/>
          <p:cNvSpPr>
            <a:spLocks noGrp="1"/>
          </p:cNvSpPr>
          <p:nvPr>
            <p:ph type="body" idx="1"/>
          </p:nvPr>
        </p:nvSpPr>
        <p:spPr bwMode="auto"/>
        <p:txBody>
          <a:bodyPr/>
          <a:lstStyle/>
          <a:p>
            <a:pPr>
              <a:defRPr/>
            </a:pPr>
            <a:r>
              <a:rPr lang="en-US"/>
              <a:t>Linux no longer names ports eth0/wlan0 — you want an en* name, never wl*. Before the cable is in, the ethernet row shows unavailable; plug both ends in and it flips to connecting or disconnected. If two ethernet rows appear, unplug, re-run, plug back in and compare which row changes.</a:t>
            </a:r>
            <a:endParaRPr lang="en-US"/>
          </a:p>
        </p:txBody>
      </p:sp>
      <p:sp>
        <p:nvSpPr>
          <p:cNvPr id="1631462911" name="Slide Number Placeholder 3"/>
          <p:cNvSpPr>
            <a:spLocks noGrp="1"/>
          </p:cNvSpPr>
          <p:nvPr>
            <p:ph type="sldNum" sz="quarter" idx="10"/>
          </p:nvPr>
        </p:nvSpPr>
        <p:spPr bwMode="auto"/>
        <p:txBody>
          <a:bodyPr/>
          <a:lstStyle/>
          <a:p>
            <a:pPr>
              <a:defRPr/>
            </a:pPr>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07399752" name="Slide Image Placeholder 1"/>
          <p:cNvSpPr>
            <a:spLocks noChangeAspect="1" noGrp="1" noRot="1"/>
          </p:cNvSpPr>
          <p:nvPr>
            <p:ph type="sldImg"/>
          </p:nvPr>
        </p:nvSpPr>
        <p:spPr bwMode="auto"/>
      </p:sp>
      <p:sp>
        <p:nvSpPr>
          <p:cNvPr id="1714323594" name="Notes Placeholder 2"/>
          <p:cNvSpPr>
            <a:spLocks noGrp="1"/>
          </p:cNvSpPr>
          <p:nvPr>
            <p:ph type="body" idx="1"/>
          </p:nvPr>
        </p:nvSpPr>
        <p:spPr bwMode="auto"/>
        <p:txBody>
          <a:bodyPr/>
          <a:lstStyle/>
          <a:p>
            <a:pPr>
              <a:defRPr/>
            </a:pPr>
            <a:r>
              <a:rPr lang="en-US"/>
              <a:t>Robots in the classroom already have the Pi side done — show it so they know what is on the other end. Substitute the interface name from the previous slide. If the laptop uses its Ethernet port on other networks, set autoconnect no so this profile does not grab the interface elsewhere.</a:t>
            </a:r>
            <a:endParaRPr lang="en-US"/>
          </a:p>
        </p:txBody>
      </p:sp>
      <p:sp>
        <p:nvSpPr>
          <p:cNvPr id="946515532" name="Slide Number Placeholder 3"/>
          <p:cNvSpPr>
            <a:spLocks noGrp="1"/>
          </p:cNvSpPr>
          <p:nvPr>
            <p:ph type="sldNum" sz="quarter" idx="10"/>
          </p:nvPr>
        </p:nvSpPr>
        <p:spPr bwMode="auto"/>
        <p:txBody>
          <a:bodyPr/>
          <a:lstStyle/>
          <a:p>
            <a:pPr>
              <a:defRPr/>
            </a:pPr>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89586660" name="Slide Image Placeholder 1"/>
          <p:cNvSpPr>
            <a:spLocks noChangeAspect="1" noGrp="1" noRot="1"/>
          </p:cNvSpPr>
          <p:nvPr>
            <p:ph type="sldImg"/>
          </p:nvPr>
        </p:nvSpPr>
        <p:spPr bwMode="auto"/>
      </p:sp>
      <p:sp>
        <p:nvSpPr>
          <p:cNvPr id="1305169541" name="Notes Placeholder 2"/>
          <p:cNvSpPr>
            <a:spLocks noGrp="1"/>
          </p:cNvSpPr>
          <p:nvPr>
            <p:ph type="body" idx="1"/>
          </p:nvPr>
        </p:nvSpPr>
        <p:spPr bwMode="auto"/>
        <p:txBody>
          <a:bodyPr/>
          <a:lstStyle/>
          <a:p>
            <a:pPr>
              <a:defRPr/>
            </a:pPr>
            <a:r>
              <a:rPr lang="en-US"/>
              <a:t>First connection asks about host authenticity — that is not an error, it is SSH telling you it has no record of this machine yet. Type the full word yes, not y. After that it remembers. Password comes from the dashboard's post-connect panel or the QR label; if the password is rejected, re-check the username first — wrong robot number is the usual cause.</a:t>
            </a:r>
            <a:endParaRPr lang="en-US"/>
          </a:p>
        </p:txBody>
      </p:sp>
      <p:sp>
        <p:nvSpPr>
          <p:cNvPr id="1811090249" name="Slide Number Placeholder 3"/>
          <p:cNvSpPr>
            <a:spLocks noGrp="1"/>
          </p:cNvSpPr>
          <p:nvPr>
            <p:ph type="sldNum" sz="quarter" idx="10"/>
          </p:nvPr>
        </p:nvSpPr>
        <p:spPr bwMode="auto"/>
        <p:txBody>
          <a:bodyPr/>
          <a:lstStyle/>
          <a:p>
            <a:pPr>
              <a:defRPr/>
            </a:pPr>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1019318" name="Slide Image Placeholder 1"/>
          <p:cNvSpPr>
            <a:spLocks noChangeAspect="1" noGrp="1" noRot="1"/>
          </p:cNvSpPr>
          <p:nvPr>
            <p:ph type="sldImg"/>
          </p:nvPr>
        </p:nvSpPr>
        <p:spPr bwMode="auto"/>
      </p:sp>
      <p:sp>
        <p:nvSpPr>
          <p:cNvPr id="18169903" name="Notes Placeholder 2"/>
          <p:cNvSpPr>
            <a:spLocks noGrp="1"/>
          </p:cNvSpPr>
          <p:nvPr>
            <p:ph type="body" idx="1"/>
          </p:nvPr>
        </p:nvSpPr>
        <p:spPr bwMode="auto"/>
        <p:txBody>
          <a:bodyPr/>
          <a:lstStyle/>
          <a:p>
            <a:pPr>
              <a:defRPr/>
            </a:pPr>
            <a:r>
              <a:rPr lang="en-US"/>
              <a:t>hostname -I runs ON THE ROBOT and prints every address it currently holds. On a phone hotspot or classroom WiFi the address is DHCP-assigned, not the fixed patterns from the table — so this is how you find the real one. Note it down; you need it for the dashboard and for the exercise.</a:t>
            </a:r>
            <a:endParaRPr lang="en-US"/>
          </a:p>
        </p:txBody>
      </p:sp>
      <p:sp>
        <p:nvSpPr>
          <p:cNvPr id="934790557" name="Slide Number Placeholder 3"/>
          <p:cNvSpPr>
            <a:spLocks noGrp="1"/>
          </p:cNvSpPr>
          <p:nvPr>
            <p:ph type="sldNum" sz="quarter" idx="10"/>
          </p:nvPr>
        </p:nvSpPr>
        <p:spPr bwMode="auto"/>
        <p:txBody>
          <a:bodyPr/>
          <a:lstStyle/>
          <a:p>
            <a:pPr>
              <a:defRPr/>
            </a:pPr>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70154405" name="Slide Image Placeholder 1"/>
          <p:cNvSpPr>
            <a:spLocks noChangeAspect="1" noGrp="1" noRot="1"/>
          </p:cNvSpPr>
          <p:nvPr>
            <p:ph type="sldImg"/>
          </p:nvPr>
        </p:nvSpPr>
        <p:spPr bwMode="auto"/>
      </p:sp>
      <p:sp>
        <p:nvSpPr>
          <p:cNvPr id="1695887876" name="Notes Placeholder 2"/>
          <p:cNvSpPr>
            <a:spLocks noGrp="1"/>
          </p:cNvSpPr>
          <p:nvPr>
            <p:ph type="body" idx="1"/>
          </p:nvPr>
        </p:nvSpPr>
        <p:spPr bwMode="auto"/>
        <p:txBody>
          <a:bodyPr/>
          <a:lstStyle/>
          <a:p>
            <a:pPr>
              <a:defRPr/>
            </a:pPr>
            <a:r>
              <a:rPr lang="en-US"/>
              <a:t>ROS_DOMAIN_ID is not a networking concept — two machines can ping and SSH each other fine and still see none of each other's topics if this number does not match. You already set RMW_IMPLEMENTATION in step 1; this adds the domain. Substitute the real number for X.</a:t>
            </a:r>
            <a:endParaRPr lang="en-US"/>
          </a:p>
        </p:txBody>
      </p:sp>
      <p:sp>
        <p:nvSpPr>
          <p:cNvPr id="1217571341" name="Slide Number Placeholder 3"/>
          <p:cNvSpPr>
            <a:spLocks noGrp="1"/>
          </p:cNvSpPr>
          <p:nvPr>
            <p:ph type="sldNum" sz="quarter" idx="10"/>
          </p:nvPr>
        </p:nvSpPr>
        <p:spPr bwMode="auto"/>
        <p:txBody>
          <a:bodyPr/>
          <a:lstStyle/>
          <a:p>
            <a:pPr>
              <a:defRPr/>
            </a:pPr>
            <a:fld id="{F7021451-1387-4CA6-816F-3879F97B5CBC}"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79927506" name="Slide Image Placeholder 1"/>
          <p:cNvSpPr>
            <a:spLocks noChangeAspect="1" noGrp="1" noRot="1"/>
          </p:cNvSpPr>
          <p:nvPr>
            <p:ph type="sldImg"/>
          </p:nvPr>
        </p:nvSpPr>
        <p:spPr bwMode="auto"/>
      </p:sp>
      <p:sp>
        <p:nvSpPr>
          <p:cNvPr id="1211128027" name="Notes Placeholder 2"/>
          <p:cNvSpPr>
            <a:spLocks noGrp="1"/>
          </p:cNvSpPr>
          <p:nvPr>
            <p:ph type="body" idx="1"/>
          </p:nvPr>
        </p:nvSpPr>
        <p:spPr bwMode="auto"/>
        <p:txBody>
          <a:bodyPr/>
          <a:lstStyle/>
          <a:p>
            <a:pPr>
              <a:defRPr/>
            </a:pPr>
            <a:r>
              <a:rPr lang="en-US"/>
              <a:t>Key teaching point: systemctl showing active only proves the process started, not that its ROS nodes initialised — a service can be active and publishing nothing. Always cross-check functionally: node list, topic list, topic hz. check_services.py in the repo runs both and reports 'running but not functional' when they disagree.</a:t>
            </a:r>
            <a:endParaRPr lang="en-US"/>
          </a:p>
        </p:txBody>
      </p:sp>
      <p:sp>
        <p:nvSpPr>
          <p:cNvPr id="192977668" name="Slide Number Placeholder 3"/>
          <p:cNvSpPr>
            <a:spLocks noGrp="1"/>
          </p:cNvSpPr>
          <p:nvPr>
            <p:ph type="sldNum" sz="quarter" idx="10"/>
          </p:nvPr>
        </p:nvSpPr>
        <p:spPr bwMode="auto"/>
        <p:txBody>
          <a:bodyPr/>
          <a:lstStyle/>
          <a:p>
            <a:pPr>
              <a:defRPr/>
            </a:pPr>
            <a:fld id="{F7021451-1387-4CA6-816F-3879F97B5CBC}"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05189426" name="Slide Image Placeholder 1"/>
          <p:cNvSpPr>
            <a:spLocks noChangeAspect="1" noGrp="1" noRot="1"/>
          </p:cNvSpPr>
          <p:nvPr>
            <p:ph type="sldImg"/>
          </p:nvPr>
        </p:nvSpPr>
        <p:spPr bwMode="auto"/>
      </p:sp>
      <p:sp>
        <p:nvSpPr>
          <p:cNvPr id="1897770498" name="Notes Placeholder 2"/>
          <p:cNvSpPr>
            <a:spLocks noGrp="1"/>
          </p:cNvSpPr>
          <p:nvPr>
            <p:ph type="body" idx="1"/>
          </p:nvPr>
        </p:nvSpPr>
        <p:spPr bwMode="auto"/>
        <p:txBody>
          <a:bodyPr/>
          <a:lstStyle/>
          <a:p>
            <a:pPr>
              <a:defRPr/>
            </a:pPr>
            <a:r>
              <a:rPr lang="en-US"/>
              <a:t>This is the payoff. teleop_twist_keyboard is stock ROS 2 — nothing A2Bot-specific about it; it just publishes /cmd_vel. The terminal must stay FOCUSED or the keys go nowhere. Start slow, put the robot on the floor with space around it, and be ready to release the keys.</a:t>
            </a:r>
            <a:endParaRPr lang="en-US"/>
          </a:p>
        </p:txBody>
      </p:sp>
      <p:sp>
        <p:nvSpPr>
          <p:cNvPr id="365601416" name="Slide Number Placeholder 3"/>
          <p:cNvSpPr>
            <a:spLocks noGrp="1"/>
          </p:cNvSpPr>
          <p:nvPr>
            <p:ph type="sldNum" sz="quarter" idx="10"/>
          </p:nvPr>
        </p:nvSpPr>
        <p:spPr bwMode="auto"/>
        <p:txBody>
          <a:bodyPr/>
          <a:lstStyle/>
          <a:p>
            <a:pPr>
              <a:defRPr/>
            </a:pPr>
            <a:fld id="{F7021451-1387-4CA6-816F-3879F97B5CBC}" type="slidenum">
              <a:rPr lang="en-US"/>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09737834" name="Slide Image Placeholder 1"/>
          <p:cNvSpPr>
            <a:spLocks noChangeAspect="1" noGrp="1" noRot="1"/>
          </p:cNvSpPr>
          <p:nvPr>
            <p:ph type="sldImg"/>
          </p:nvPr>
        </p:nvSpPr>
        <p:spPr bwMode="auto"/>
      </p:sp>
      <p:sp>
        <p:nvSpPr>
          <p:cNvPr id="534617794" name="Notes Placeholder 2"/>
          <p:cNvSpPr>
            <a:spLocks noGrp="1"/>
          </p:cNvSpPr>
          <p:nvPr>
            <p:ph type="body" idx="1"/>
          </p:nvPr>
        </p:nvSpPr>
        <p:spPr bwMode="auto"/>
        <p:txBody>
          <a:bodyPr/>
          <a:lstStyle/>
          <a:p>
            <a:pPr>
              <a:defRPr/>
            </a:pPr>
            <a:r>
              <a:rPr lang="en-US"/>
              <a:t>Hand this over and stop talking. They have everything they need: hostname -I for the address, and the port. Deliberately not telling them the port number or the command — that is the exercise. Walk the room. Anyone stuck goes to the slides on ports and on hostname -I.</a:t>
            </a:r>
            <a:endParaRPr lang="en-US"/>
          </a:p>
        </p:txBody>
      </p:sp>
      <p:sp>
        <p:nvSpPr>
          <p:cNvPr id="584366329" name="Slide Number Placeholder 3"/>
          <p:cNvSpPr>
            <a:spLocks noGrp="1"/>
          </p:cNvSpPr>
          <p:nvPr>
            <p:ph type="sldNum" sz="quarter" idx="10"/>
          </p:nvPr>
        </p:nvSpPr>
        <p:spPr bwMode="auto"/>
        <p:txBody>
          <a:bodyPr/>
          <a:lstStyle/>
          <a:p>
            <a:pPr>
              <a:defRPr/>
            </a:pPr>
            <a:fld id="{F7021451-1387-4CA6-816F-3879F97B5CBC}" type="slidenum">
              <a:rPr lang="en-US"/>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85167171" name="Slide Image Placeholder 1"/>
          <p:cNvSpPr>
            <a:spLocks noChangeAspect="1" noGrp="1" noRot="1"/>
          </p:cNvSpPr>
          <p:nvPr>
            <p:ph type="sldImg"/>
          </p:nvPr>
        </p:nvSpPr>
        <p:spPr bwMode="auto"/>
      </p:sp>
      <p:sp>
        <p:nvSpPr>
          <p:cNvPr id="1696688466" name="Notes Placeholder 2"/>
          <p:cNvSpPr>
            <a:spLocks noGrp="1"/>
          </p:cNvSpPr>
          <p:nvPr>
            <p:ph type="body" idx="1"/>
          </p:nvPr>
        </p:nvSpPr>
        <p:spPr bwMode="auto"/>
        <p:txBody>
          <a:bodyPr/>
          <a:lstStyle/>
          <a:p>
            <a:pPr>
              <a:defRPr/>
            </a:pPr>
            <a:r>
              <a:rPr lang="en-US"/>
              <a:t>Give them this before they need it. services_report is the one command that tells you what is actually up — it checks the ROS graph functionally, not just whether systemd says active. If a service is down or 'running but not functional', restart all four together; they depend on each other, so restarting one alone often does not help. Give it fifteen seconds and re-run the report.</a:t>
            </a:r>
            <a:endParaRPr lang="en-US"/>
          </a:p>
        </p:txBody>
      </p:sp>
      <p:sp>
        <p:nvSpPr>
          <p:cNvPr id="1775207771" name="Slide Number Placeholder 3"/>
          <p:cNvSpPr>
            <a:spLocks noGrp="1"/>
          </p:cNvSpPr>
          <p:nvPr>
            <p:ph type="sldNum" sz="quarter" idx="10"/>
          </p:nvPr>
        </p:nvSpPr>
        <p:spPr bwMode="auto"/>
        <p:txBody>
          <a:bodyPr/>
          <a:lstStyle/>
          <a:p>
            <a:pPr>
              <a:defRPr/>
            </a:pPr>
            <a:fld id="{F7021451-1387-4CA6-816F-3879F97B5CBC}" type="slidenum">
              <a:rPr lang="en-US"/>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47325126" name="Slide Image Placeholder 1"/>
          <p:cNvSpPr>
            <a:spLocks noChangeAspect="1" noGrp="1" noRot="1"/>
          </p:cNvSpPr>
          <p:nvPr>
            <p:ph type="sldImg"/>
          </p:nvPr>
        </p:nvSpPr>
        <p:spPr bwMode="auto"/>
      </p:sp>
      <p:sp>
        <p:nvSpPr>
          <p:cNvPr id="1083736204" name="Notes Placeholder 2"/>
          <p:cNvSpPr>
            <a:spLocks noGrp="1"/>
          </p:cNvSpPr>
          <p:nvPr>
            <p:ph type="body" idx="1"/>
          </p:nvPr>
        </p:nvSpPr>
        <p:spPr bwMode="auto"/>
        <p:txBody>
          <a:bodyPr/>
          <a:lstStyle/>
          <a:p>
            <a:pPr>
              <a:defRPr/>
            </a:pPr>
            <a:r>
              <a:rPr lang="en-US"/>
              <a:t>Close here. Anyone whose topic list is still empty stays five minutes. The next session starts inside a workspace, so the environment has to already work. Point at the docs once more.</a:t>
            </a:r>
            <a:endParaRPr lang="en-US"/>
          </a:p>
        </p:txBody>
      </p:sp>
      <p:sp>
        <p:nvSpPr>
          <p:cNvPr id="172642706" name="Slide Number Placeholder 3"/>
          <p:cNvSpPr>
            <a:spLocks noGrp="1"/>
          </p:cNvSpPr>
          <p:nvPr>
            <p:ph type="sldNum" sz="quarter" idx="10"/>
          </p:nvPr>
        </p:nvSpPr>
        <p:spPr bwMode="auto"/>
        <p:txBody>
          <a:bodyPr/>
          <a:lstStyle/>
          <a:p>
            <a:pPr>
              <a:defRPr/>
            </a:pPr>
            <a:fld id="{F7021451-1387-4CA6-816F-3879F97B5CBC}" type="slidenum">
              <a:rPr lang="en-US"/>
              <a:t>24</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media1.svg"/><Relationship Id="rId6" Type="http://schemas.openxmlformats.org/officeDocument/2006/relationships/image" Target="../media/image4.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jp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1.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13.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15.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17.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19.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0.png"/><Relationship Id="rId4" Type="http://schemas.openxmlformats.org/officeDocument/2006/relationships/image" Target="../media/image21.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2.png"/><Relationship Id="rId4" Type="http://schemas.openxmlformats.org/officeDocument/2006/relationships/image" Target="../media/image23.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0.png"/><Relationship Id="rId4" Type="http://schemas.openxmlformats.org/officeDocument/2006/relationships/image" Target="../media/image31.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2.png"/><Relationship Id="rId4" Type="http://schemas.openxmlformats.org/officeDocument/2006/relationships/image" Target="../media/image33.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4.png"/><Relationship Id="rId4" Type="http://schemas.openxmlformats.org/officeDocument/2006/relationships/image" Target="../media/image35.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6.png"/><Relationship Id="rId4" Type="http://schemas.openxmlformats.org/officeDocument/2006/relationships/image" Target="../media/image37.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8.png"/><Relationship Id="rId4" Type="http://schemas.openxmlformats.org/officeDocument/2006/relationships/image" Target="../media/image39.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0.png"/><Relationship Id="rId4" Type="http://schemas.openxmlformats.org/officeDocument/2006/relationships/image" Target="../media/image41.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2.png"/><Relationship Id="rId4" Type="http://schemas.openxmlformats.org/officeDocument/2006/relationships/image" Target="../media/image43.pn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4.png"/><Relationship Id="rId4" Type="http://schemas.openxmlformats.org/officeDocument/2006/relationships/image" Target="../media/image45.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6.png"/><Relationship Id="rId4" Type="http://schemas.openxmlformats.org/officeDocument/2006/relationships/image" Target="../media/image47.pn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8.png"/><Relationship Id="rId4" Type="http://schemas.openxmlformats.org/officeDocument/2006/relationships/image" Target="../media/image49.pn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0.png"/><Relationship Id="rId4" Type="http://schemas.openxmlformats.org/officeDocument/2006/relationships/image" Target="../media/image51.pn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bg>
      <p:bgPr shadeToTitle="0">
        <a:solidFill>
          <a:srgbClr val="FFFFFF"/>
        </a:solidFill>
      </p:bgPr>
    </p:bg>
    <p:spTree>
      <p:nvGrpSpPr>
        <p:cNvPr id="1" name=""/>
        <p:cNvGrpSpPr/>
        <p:nvPr/>
      </p:nvGrpSpPr>
      <p:grpSpPr bwMode="auto">
        <a:xfrm>
          <a:off x="0" y="0"/>
          <a:ext cx="0" cy="0"/>
          <a:chOff x="0" y="0"/>
          <a:chExt cx="0" cy="0"/>
        </a:xfrm>
      </p:grpSpPr>
      <p:sp>
        <p:nvSpPr>
          <p:cNvPr id="428343838" name="Shape 0"/>
          <p:cNvSpPr/>
          <p:nvPr/>
        </p:nvSpPr>
        <p:spPr bwMode="auto">
          <a:xfrm>
            <a:off x="0" y="0"/>
            <a:ext cx="11430000" cy="10287000"/>
          </a:xfrm>
          <a:prstGeom prst="rect">
            <a:avLst/>
          </a:prstGeom>
          <a:solidFill>
            <a:srgbClr val="002060"/>
          </a:solidFill>
          <a:ln/>
        </p:spPr>
      </p:sp>
      <p:sp>
        <p:nvSpPr>
          <p:cNvPr id="1951762747" name="Shape 1"/>
          <p:cNvSpPr/>
          <p:nvPr/>
        </p:nvSpPr>
        <p:spPr bwMode="auto">
          <a:xfrm>
            <a:off x="1257300" y="209550"/>
            <a:ext cx="1267778" cy="952500"/>
          </a:xfrm>
          <a:prstGeom prst="roundRect">
            <a:avLst>
              <a:gd name="adj" fmla="val 6000"/>
            </a:avLst>
          </a:prstGeom>
          <a:solidFill>
            <a:srgbClr val="FFFFFF"/>
          </a:solidFill>
          <a:ln/>
        </p:spPr>
      </p:sp>
      <p:pic>
        <p:nvPicPr>
          <p:cNvPr id="238124566" name="Image 0" descr="preencoded.png"/>
          <p:cNvPicPr>
            <a:picLocks noChangeAspect="1"/>
          </p:cNvPicPr>
          <p:nvPr/>
        </p:nvPicPr>
        <p:blipFill rotWithShape="1">
          <a:blip r:embed="rId3"/>
          <a:stretch/>
        </p:blipFill>
        <p:spPr bwMode="auto">
          <a:xfrm>
            <a:off x="1409700" y="285750"/>
            <a:ext cx="962978" cy="800100"/>
          </a:xfrm>
          <a:prstGeom prst="rect">
            <a:avLst/>
          </a:prstGeom>
        </p:spPr>
      </p:pic>
      <p:sp>
        <p:nvSpPr>
          <p:cNvPr id="54576178" name="Text 2"/>
          <p:cNvSpPr/>
          <p:nvPr/>
        </p:nvSpPr>
        <p:spPr bwMode="auto">
          <a:xfrm>
            <a:off x="1257300" y="3582988"/>
            <a:ext cx="9536049" cy="2058987"/>
          </a:xfrm>
          <a:prstGeom prst="rect">
            <a:avLst/>
          </a:prstGeom>
          <a:noFill/>
          <a:ln/>
        </p:spPr>
        <p:txBody>
          <a:bodyPr wrap="square" lIns="25400" tIns="25400" rIns="25400" bIns="25400" rtlCol="0" anchor="t">
            <a:normAutofit/>
          </a:bodyPr>
          <a:lstStyle/>
          <a:p>
            <a:pPr marL="0" indent="0" algn="l">
              <a:lnSpc>
                <a:spcPct val="90928"/>
              </a:lnSpc>
              <a:buNone/>
              <a:defRPr/>
            </a:pPr>
            <a:r>
              <a:rPr lang="en-US" sz="7800" b="1">
                <a:solidFill>
                  <a:srgbClr val="FFFFFF"/>
                </a:solidFill>
                <a:latin typeface="Arial"/>
                <a:ea typeface="Arial"/>
                <a:cs typeface="Arial"/>
              </a:rPr>
              <a:t>Discovering and controlling </a:t>
            </a:r>
            <a:r>
              <a:rPr lang="en-US" sz="7800" b="1">
                <a:solidFill>
                  <a:srgbClr val="F1592A"/>
                </a:solidFill>
                <a:latin typeface="Arial"/>
                <a:ea typeface="Arial"/>
                <a:cs typeface="Arial"/>
              </a:rPr>
              <a:t>A2Bot</a:t>
            </a:r>
            <a:endParaRPr lang="en-US" sz="7800"/>
          </a:p>
        </p:txBody>
      </p:sp>
      <p:sp>
        <p:nvSpPr>
          <p:cNvPr id="2022580914" name="Text 3"/>
          <p:cNvSpPr/>
          <p:nvPr/>
        </p:nvSpPr>
        <p:spPr bwMode="auto">
          <a:xfrm>
            <a:off x="1257300" y="5984875"/>
            <a:ext cx="4764100" cy="1032510"/>
          </a:xfrm>
          <a:prstGeom prst="rect">
            <a:avLst/>
          </a:prstGeom>
          <a:noFill/>
          <a:ln/>
        </p:spPr>
        <p:txBody>
          <a:bodyPr wrap="square" lIns="25400" tIns="25400" rIns="25400" bIns="25400" rtlCol="0" anchor="t">
            <a:normAutofit/>
          </a:bodyPr>
          <a:lstStyle/>
          <a:p>
            <a:pPr marL="0" indent="0" algn="l">
              <a:lnSpc>
                <a:spcPct val="127837"/>
              </a:lnSpc>
              <a:buNone/>
              <a:defRPr/>
            </a:pPr>
            <a:r>
              <a:rPr lang="en-US" sz="2700">
                <a:solidFill>
                  <a:srgbClr val="D6DEEF"/>
                </a:solidFill>
                <a:latin typeface="Arial"/>
                <a:ea typeface="Arial"/>
                <a:cs typeface="Arial"/>
              </a:rPr>
              <a:t>Find the robot, connect to it, and drive it — start to finish.</a:t>
            </a:r>
            <a:endParaRPr lang="en-US" sz="2700"/>
          </a:p>
        </p:txBody>
      </p:sp>
      <p:sp>
        <p:nvSpPr>
          <p:cNvPr id="1923472437" name="Text 4"/>
          <p:cNvSpPr/>
          <p:nvPr/>
        </p:nvSpPr>
        <p:spPr bwMode="auto">
          <a:xfrm>
            <a:off x="1257300" y="7512685"/>
            <a:ext cx="2704417" cy="410369"/>
          </a:xfrm>
          <a:prstGeom prst="rect">
            <a:avLst/>
          </a:prstGeom>
          <a:noFill/>
          <a:ln/>
        </p:spPr>
        <p:txBody>
          <a:bodyPr wrap="square" lIns="25400" tIns="25400" rIns="25400" bIns="25400" rtlCol="0" anchor="t">
            <a:normAutofit/>
          </a:bodyPr>
          <a:lstStyle/>
          <a:p>
            <a:pPr marL="0" indent="0" algn="l">
              <a:buNone/>
              <a:defRPr/>
            </a:pPr>
            <a:r>
              <a:rPr lang="en-US" sz="1950" spc="117">
                <a:solidFill>
                  <a:srgbClr val="93A3C6"/>
                </a:solidFill>
                <a:latin typeface="Arial"/>
                <a:ea typeface="Arial"/>
                <a:cs typeface="Arial"/>
              </a:rPr>
              <a:t>Workshop session</a:t>
            </a:r>
            <a:endParaRPr lang="en-US" sz="1950"/>
          </a:p>
        </p:txBody>
      </p:sp>
      <p:sp>
        <p:nvSpPr>
          <p:cNvPr id="380539542" name="Text 5"/>
          <p:cNvSpPr/>
          <p:nvPr/>
        </p:nvSpPr>
        <p:spPr bwMode="auto">
          <a:xfrm>
            <a:off x="3906361" y="7512685"/>
            <a:ext cx="143669" cy="410369"/>
          </a:xfrm>
          <a:prstGeom prst="rect">
            <a:avLst/>
          </a:prstGeom>
          <a:noFill/>
          <a:ln/>
        </p:spPr>
        <p:txBody>
          <a:bodyPr wrap="square" lIns="25400" tIns="25400" rIns="25400" bIns="25400" rtlCol="0" anchor="t">
            <a:normAutofit/>
          </a:bodyPr>
          <a:lstStyle/>
          <a:p>
            <a:pPr marL="0" indent="0" algn="l">
              <a:buNone/>
              <a:defRPr/>
            </a:pPr>
            <a:r>
              <a:rPr lang="en-US" sz="1950" spc="117">
                <a:solidFill>
                  <a:srgbClr val="93A3C6"/>
                </a:solidFill>
                <a:latin typeface="Arial"/>
                <a:ea typeface="Arial"/>
                <a:cs typeface="Arial"/>
              </a:rPr>
              <a:t>·</a:t>
            </a:r>
            <a:endParaRPr lang="en-US" sz="1950"/>
          </a:p>
        </p:txBody>
      </p:sp>
      <p:sp>
        <p:nvSpPr>
          <p:cNvPr id="390699096" name="Text 6"/>
          <p:cNvSpPr/>
          <p:nvPr/>
        </p:nvSpPr>
        <p:spPr bwMode="auto">
          <a:xfrm>
            <a:off x="4164330" y="7512685"/>
            <a:ext cx="1015365" cy="410369"/>
          </a:xfrm>
          <a:prstGeom prst="rect">
            <a:avLst/>
          </a:prstGeom>
          <a:noFill/>
          <a:ln/>
        </p:spPr>
        <p:txBody>
          <a:bodyPr wrap="square" lIns="25400" tIns="25400" rIns="25400" bIns="25400" rtlCol="0" anchor="t">
            <a:normAutofit/>
          </a:bodyPr>
          <a:lstStyle/>
          <a:p>
            <a:pPr marL="0" indent="0" algn="l">
              <a:buNone/>
              <a:defRPr/>
            </a:pPr>
            <a:r>
              <a:rPr lang="en-US" sz="1950" spc="117">
                <a:solidFill>
                  <a:srgbClr val="93A3C6"/>
                </a:solidFill>
                <a:latin typeface="Arial"/>
                <a:ea typeface="Arial"/>
                <a:cs typeface="Arial"/>
              </a:rPr>
              <a:t>&lt;date&gt;</a:t>
            </a:r>
            <a:endParaRPr lang="en-US" sz="1950"/>
          </a:p>
        </p:txBody>
      </p:sp>
      <p:sp>
        <p:nvSpPr>
          <p:cNvPr id="1627426580" name="Shape 7"/>
          <p:cNvSpPr/>
          <p:nvPr/>
        </p:nvSpPr>
        <p:spPr bwMode="auto">
          <a:xfrm>
            <a:off x="1257300" y="8991600"/>
            <a:ext cx="123825" cy="123825"/>
          </a:xfrm>
          <a:prstGeom prst="ellipse">
            <a:avLst/>
          </a:prstGeom>
          <a:solidFill>
            <a:srgbClr val="DB5817"/>
          </a:solidFill>
          <a:ln/>
        </p:spPr>
      </p:sp>
      <p:sp>
        <p:nvSpPr>
          <p:cNvPr id="1854529643" name="Shape 8"/>
          <p:cNvSpPr/>
          <p:nvPr/>
        </p:nvSpPr>
        <p:spPr bwMode="auto">
          <a:xfrm>
            <a:off x="1657350" y="8991600"/>
            <a:ext cx="123825" cy="123825"/>
          </a:xfrm>
          <a:prstGeom prst="ellipse">
            <a:avLst/>
          </a:prstGeom>
          <a:solidFill>
            <a:srgbClr val="DB5817"/>
          </a:solidFill>
          <a:ln/>
        </p:spPr>
      </p:sp>
      <p:sp>
        <p:nvSpPr>
          <p:cNvPr id="1996625494" name="Shape 9"/>
          <p:cNvSpPr/>
          <p:nvPr/>
        </p:nvSpPr>
        <p:spPr bwMode="auto">
          <a:xfrm>
            <a:off x="2057400" y="8991600"/>
            <a:ext cx="123825" cy="123825"/>
          </a:xfrm>
          <a:prstGeom prst="ellipse">
            <a:avLst/>
          </a:prstGeom>
          <a:solidFill>
            <a:srgbClr val="DB5817"/>
          </a:solidFill>
          <a:ln/>
        </p:spPr>
      </p:sp>
      <p:sp>
        <p:nvSpPr>
          <p:cNvPr id="536244055" name="Shape 10"/>
          <p:cNvSpPr/>
          <p:nvPr/>
        </p:nvSpPr>
        <p:spPr bwMode="auto">
          <a:xfrm>
            <a:off x="2457450" y="8991600"/>
            <a:ext cx="123825" cy="123825"/>
          </a:xfrm>
          <a:prstGeom prst="ellipse">
            <a:avLst/>
          </a:prstGeom>
          <a:solidFill>
            <a:srgbClr val="DB5817"/>
          </a:solidFill>
          <a:ln/>
        </p:spPr>
      </p:sp>
      <p:sp>
        <p:nvSpPr>
          <p:cNvPr id="624145187" name="Shape 11"/>
          <p:cNvSpPr/>
          <p:nvPr/>
        </p:nvSpPr>
        <p:spPr bwMode="auto">
          <a:xfrm>
            <a:off x="2857500" y="8991600"/>
            <a:ext cx="123825" cy="123825"/>
          </a:xfrm>
          <a:prstGeom prst="ellipse">
            <a:avLst/>
          </a:prstGeom>
          <a:solidFill>
            <a:srgbClr val="DB5817"/>
          </a:solidFill>
          <a:ln/>
        </p:spPr>
      </p:sp>
      <p:sp>
        <p:nvSpPr>
          <p:cNvPr id="678296731" name="Shape 12"/>
          <p:cNvSpPr/>
          <p:nvPr/>
        </p:nvSpPr>
        <p:spPr bwMode="auto">
          <a:xfrm>
            <a:off x="3257550" y="8991600"/>
            <a:ext cx="123825" cy="123825"/>
          </a:xfrm>
          <a:prstGeom prst="ellipse">
            <a:avLst/>
          </a:prstGeom>
          <a:solidFill>
            <a:srgbClr val="DB5817"/>
          </a:solidFill>
          <a:ln/>
        </p:spPr>
      </p:sp>
      <p:sp>
        <p:nvSpPr>
          <p:cNvPr id="778767812" name="Shape 13"/>
          <p:cNvSpPr/>
          <p:nvPr/>
        </p:nvSpPr>
        <p:spPr bwMode="auto">
          <a:xfrm>
            <a:off x="1257300" y="9324975"/>
            <a:ext cx="123825" cy="123825"/>
          </a:xfrm>
          <a:prstGeom prst="ellipse">
            <a:avLst/>
          </a:prstGeom>
          <a:solidFill>
            <a:srgbClr val="DB5817"/>
          </a:solidFill>
          <a:ln/>
        </p:spPr>
      </p:sp>
      <p:sp>
        <p:nvSpPr>
          <p:cNvPr id="1602478514" name="Shape 14"/>
          <p:cNvSpPr/>
          <p:nvPr/>
        </p:nvSpPr>
        <p:spPr bwMode="auto">
          <a:xfrm>
            <a:off x="1657350" y="9324975"/>
            <a:ext cx="123825" cy="123825"/>
          </a:xfrm>
          <a:prstGeom prst="ellipse">
            <a:avLst/>
          </a:prstGeom>
          <a:solidFill>
            <a:srgbClr val="DB5817"/>
          </a:solidFill>
          <a:ln/>
        </p:spPr>
      </p:sp>
      <p:sp>
        <p:nvSpPr>
          <p:cNvPr id="446104369" name="Shape 15"/>
          <p:cNvSpPr/>
          <p:nvPr/>
        </p:nvSpPr>
        <p:spPr bwMode="auto">
          <a:xfrm>
            <a:off x="2057400" y="9324975"/>
            <a:ext cx="123825" cy="123825"/>
          </a:xfrm>
          <a:prstGeom prst="ellipse">
            <a:avLst/>
          </a:prstGeom>
          <a:solidFill>
            <a:srgbClr val="DB5817"/>
          </a:solidFill>
          <a:ln/>
        </p:spPr>
      </p:sp>
      <p:sp>
        <p:nvSpPr>
          <p:cNvPr id="684002004" name="Shape 16"/>
          <p:cNvSpPr/>
          <p:nvPr/>
        </p:nvSpPr>
        <p:spPr bwMode="auto">
          <a:xfrm>
            <a:off x="2457450" y="9324975"/>
            <a:ext cx="123825" cy="123825"/>
          </a:xfrm>
          <a:prstGeom prst="ellipse">
            <a:avLst/>
          </a:prstGeom>
          <a:solidFill>
            <a:srgbClr val="DB5817"/>
          </a:solidFill>
          <a:ln/>
        </p:spPr>
      </p:sp>
      <p:sp>
        <p:nvSpPr>
          <p:cNvPr id="54680975" name="Shape 17"/>
          <p:cNvSpPr/>
          <p:nvPr/>
        </p:nvSpPr>
        <p:spPr bwMode="auto">
          <a:xfrm>
            <a:off x="2857500" y="9324975"/>
            <a:ext cx="123825" cy="123825"/>
          </a:xfrm>
          <a:prstGeom prst="ellipse">
            <a:avLst/>
          </a:prstGeom>
          <a:solidFill>
            <a:srgbClr val="DB5817"/>
          </a:solidFill>
          <a:ln/>
        </p:spPr>
      </p:sp>
      <p:sp>
        <p:nvSpPr>
          <p:cNvPr id="1143005546" name="Shape 18"/>
          <p:cNvSpPr/>
          <p:nvPr/>
        </p:nvSpPr>
        <p:spPr bwMode="auto">
          <a:xfrm>
            <a:off x="3257550" y="9324975"/>
            <a:ext cx="123825" cy="123825"/>
          </a:xfrm>
          <a:prstGeom prst="ellipse">
            <a:avLst/>
          </a:prstGeom>
          <a:solidFill>
            <a:srgbClr val="DB5817"/>
          </a:solidFill>
          <a:ln/>
        </p:spPr>
      </p:sp>
      <p:sp>
        <p:nvSpPr>
          <p:cNvPr id="675895291" name="Shape 19"/>
          <p:cNvSpPr/>
          <p:nvPr/>
        </p:nvSpPr>
        <p:spPr bwMode="auto">
          <a:xfrm>
            <a:off x="11430000" y="0"/>
            <a:ext cx="6858000" cy="10287000"/>
          </a:xfrm>
          <a:prstGeom prst="rect">
            <a:avLst/>
          </a:prstGeom>
          <a:solidFill>
            <a:srgbClr val="F3E2CD"/>
          </a:solidFill>
          <a:ln/>
        </p:spPr>
      </p:sp>
      <p:sp>
        <p:nvSpPr>
          <p:cNvPr id="1647185896" name="Shape 20"/>
          <p:cNvSpPr/>
          <p:nvPr/>
        </p:nvSpPr>
        <p:spPr bwMode="auto">
          <a:xfrm>
            <a:off x="11420475" y="8723312"/>
            <a:ext cx="1515269" cy="649288"/>
          </a:xfrm>
          <a:prstGeom prst="rect">
            <a:avLst/>
          </a:prstGeom>
          <a:solidFill>
            <a:srgbClr val="DB5817"/>
          </a:solidFill>
          <a:ln/>
        </p:spPr>
      </p:sp>
      <p:sp>
        <p:nvSpPr>
          <p:cNvPr id="1778801971" name="Text 21"/>
          <p:cNvSpPr/>
          <p:nvPr/>
        </p:nvSpPr>
        <p:spPr bwMode="auto">
          <a:xfrm>
            <a:off x="11744325" y="8875712"/>
            <a:ext cx="943769" cy="382588"/>
          </a:xfrm>
          <a:prstGeom prst="rect">
            <a:avLst/>
          </a:prstGeom>
          <a:noFill/>
          <a:ln/>
        </p:spPr>
        <p:txBody>
          <a:bodyPr wrap="square" lIns="25400" tIns="25400" rIns="25400" bIns="25400" rtlCol="0" anchor="t">
            <a:normAutofit/>
          </a:bodyPr>
          <a:lstStyle/>
          <a:p>
            <a:pPr marL="0" indent="0" algn="l">
              <a:buNone/>
              <a:defRPr/>
            </a:pPr>
            <a:r>
              <a:rPr lang="en-US" sz="1800" b="1" spc="180">
                <a:solidFill>
                  <a:srgbClr val="FFFFFF"/>
                </a:solidFill>
                <a:latin typeface="Arial"/>
                <a:ea typeface="Arial"/>
                <a:cs typeface="Arial"/>
              </a:rPr>
              <a:t>A2BOT</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bg>
      <p:bgPr shadeToTitle="0">
        <a:solidFill>
          <a:srgbClr val="FFFFFF"/>
        </a:solidFill>
      </p:bgPr>
    </p:bg>
    <p:spTree>
      <p:nvGrpSpPr>
        <p:cNvPr id="1" name=""/>
        <p:cNvGrpSpPr/>
        <p:nvPr/>
      </p:nvGrpSpPr>
      <p:grpSpPr bwMode="auto">
        <a:xfrm>
          <a:off x="0" y="0"/>
          <a:ext cx="0" cy="0"/>
          <a:chOff x="0" y="0"/>
          <a:chExt cx="0" cy="0"/>
        </a:xfrm>
      </p:grpSpPr>
      <p:sp>
        <p:nvSpPr>
          <p:cNvPr id="1412508104" name="Shape 0"/>
          <p:cNvSpPr/>
          <p:nvPr/>
        </p:nvSpPr>
        <p:spPr bwMode="auto">
          <a:xfrm>
            <a:off x="971550" y="0"/>
            <a:ext cx="28575" cy="10287000"/>
          </a:xfrm>
          <a:prstGeom prst="rect">
            <a:avLst/>
          </a:prstGeom>
          <a:solidFill>
            <a:srgbClr val="002060">
              <a:alpha val="15999"/>
            </a:srgbClr>
          </a:solidFill>
          <a:ln/>
        </p:spPr>
      </p:sp>
      <p:sp>
        <p:nvSpPr>
          <p:cNvPr id="615540083" name="Shape 1"/>
          <p:cNvSpPr/>
          <p:nvPr/>
        </p:nvSpPr>
        <p:spPr bwMode="auto">
          <a:xfrm>
            <a:off x="971550" y="1009650"/>
            <a:ext cx="16687800" cy="28575"/>
          </a:xfrm>
          <a:prstGeom prst="rect">
            <a:avLst/>
          </a:prstGeom>
          <a:solidFill>
            <a:srgbClr val="002060">
              <a:alpha val="15999"/>
            </a:srgbClr>
          </a:solidFill>
          <a:ln/>
        </p:spPr>
      </p:sp>
      <p:pic>
        <p:nvPicPr>
          <p:cNvPr id="1376894084" name="Image 0" descr="preencoded.png"/>
          <p:cNvPicPr>
            <a:picLocks noChangeAspect="1"/>
          </p:cNvPicPr>
          <p:nvPr/>
        </p:nvPicPr>
        <p:blipFill rotWithShape="1">
          <a:blip r:embed="rId3"/>
          <a:stretch/>
        </p:blipFill>
        <p:spPr bwMode="auto">
          <a:xfrm>
            <a:off x="1257300" y="209550"/>
            <a:ext cx="779621" cy="647700"/>
          </a:xfrm>
          <a:prstGeom prst="rect">
            <a:avLst/>
          </a:prstGeom>
        </p:spPr>
      </p:pic>
      <p:sp>
        <p:nvSpPr>
          <p:cNvPr id="65519354" name="Text 2"/>
          <p:cNvSpPr/>
          <p:nvPr/>
        </p:nvSpPr>
        <p:spPr bwMode="auto">
          <a:xfrm>
            <a:off x="14455616" y="400050"/>
            <a:ext cx="3524107" cy="393700"/>
          </a:xfrm>
          <a:prstGeom prst="rect">
            <a:avLst/>
          </a:prstGeom>
          <a:noFill/>
          <a:ln/>
        </p:spPr>
        <p:txBody>
          <a:bodyPr wrap="square" lIns="25400" tIns="25400" rIns="25400" bIns="25400" rtlCol="0" anchor="t">
            <a:normAutofit/>
          </a:bodyPr>
          <a:lstStyle/>
          <a:p>
            <a:pPr marL="0" indent="0" algn="l">
              <a:buNone/>
              <a:defRPr/>
            </a:pPr>
            <a:r>
              <a:rPr lang="en-US" sz="1900" spc="75">
                <a:solidFill>
                  <a:srgbClr val="DB5817"/>
                </a:solidFill>
                <a:latin typeface="Arial"/>
                <a:ea typeface="Arial"/>
                <a:cs typeface="Arial"/>
              </a:rPr>
              <a:t>www.centex-sarawak.my</a:t>
            </a:r>
            <a:endParaRPr lang="en-US" sz="1900"/>
          </a:p>
        </p:txBody>
      </p:sp>
      <p:sp>
        <p:nvSpPr>
          <p:cNvPr id="863802785" name="Text 3"/>
          <p:cNvSpPr/>
          <p:nvPr/>
        </p:nvSpPr>
        <p:spPr bwMode="auto">
          <a:xfrm>
            <a:off x="1257300" y="1905000"/>
            <a:ext cx="17665065" cy="410369"/>
          </a:xfrm>
          <a:prstGeom prst="rect">
            <a:avLst/>
          </a:prstGeom>
          <a:noFill/>
          <a:ln/>
        </p:spPr>
        <p:txBody>
          <a:bodyPr wrap="square" lIns="25400" tIns="25400" rIns="25400" bIns="25400" rtlCol="0" anchor="t">
            <a:normAutofit/>
          </a:bodyPr>
          <a:lstStyle/>
          <a:p>
            <a:pPr marL="0" indent="0" algn="l">
              <a:buNone/>
              <a:defRPr/>
            </a:pPr>
            <a:r>
              <a:rPr lang="en-US" sz="1950" b="1" spc="311">
                <a:solidFill>
                  <a:srgbClr val="DB5817"/>
                </a:solidFill>
                <a:latin typeface="Arial"/>
                <a:ea typeface="Arial"/>
                <a:cs typeface="Arial"/>
              </a:rPr>
              <a:t>YOUR MAIN REFERENCE</a:t>
            </a:r>
            <a:endParaRPr lang="en-US" sz="1950"/>
          </a:p>
        </p:txBody>
      </p:sp>
      <p:sp>
        <p:nvSpPr>
          <p:cNvPr id="1425164203" name="Text 4"/>
          <p:cNvSpPr/>
          <p:nvPr/>
        </p:nvSpPr>
        <p:spPr bwMode="auto">
          <a:xfrm>
            <a:off x="1257300" y="2486819"/>
            <a:ext cx="17665065" cy="805497"/>
          </a:xfrm>
          <a:prstGeom prst="rect">
            <a:avLst/>
          </a:prstGeom>
          <a:noFill/>
          <a:ln/>
        </p:spPr>
        <p:txBody>
          <a:bodyPr wrap="square" lIns="25400" tIns="25400" rIns="25400" bIns="25400" rtlCol="0" anchor="t">
            <a:normAutofit/>
          </a:bodyPr>
          <a:lstStyle/>
          <a:p>
            <a:pPr marL="0" indent="0" algn="l">
              <a:lnSpc>
                <a:spcPct val="94599"/>
              </a:lnSpc>
              <a:buNone/>
              <a:defRPr/>
            </a:pPr>
            <a:r>
              <a:rPr lang="en-US" sz="5700" b="1" spc="-57">
                <a:solidFill>
                  <a:srgbClr val="002060"/>
                </a:solidFill>
                <a:latin typeface="Arial"/>
                <a:ea typeface="Arial"/>
                <a:cs typeface="Arial"/>
              </a:rPr>
              <a:t>Everything is in the documentation</a:t>
            </a:r>
            <a:endParaRPr lang="en-US" sz="5700"/>
          </a:p>
        </p:txBody>
      </p:sp>
      <p:sp>
        <p:nvSpPr>
          <p:cNvPr id="404712261" name="Text 5"/>
          <p:cNvSpPr/>
          <p:nvPr/>
        </p:nvSpPr>
        <p:spPr bwMode="auto">
          <a:xfrm>
            <a:off x="1257300" y="3520916"/>
            <a:ext cx="9528201" cy="1958340"/>
          </a:xfrm>
          <a:prstGeom prst="rect">
            <a:avLst/>
          </a:prstGeom>
          <a:noFill/>
          <a:ln/>
        </p:spPr>
        <p:txBody>
          <a:bodyPr wrap="square" lIns="25400" tIns="25400" rIns="25400" bIns="25400" rtlCol="0" anchor="t">
            <a:normAutofit/>
          </a:bodyPr>
          <a:lstStyle/>
          <a:p>
            <a:pPr marL="0" indent="0" algn="l">
              <a:lnSpc>
                <a:spcPct val="123429"/>
              </a:lnSpc>
              <a:buNone/>
              <a:defRPr/>
            </a:pPr>
            <a:r>
              <a:rPr lang="en-US" sz="2700">
                <a:solidFill>
                  <a:srgbClr val="2A3040"/>
                </a:solidFill>
                <a:latin typeface="Arial"/>
                <a:ea typeface="Arial"/>
                <a:cs typeface="Arial"/>
              </a:rPr>
              <a:t>These slides walk you through the session. The documentation site is the reference you keep open — 23 pages covering the whole course, and every screen here points back into it.</a:t>
            </a:r>
            <a:endParaRPr lang="en-US" sz="2700"/>
          </a:p>
        </p:txBody>
      </p:sp>
      <p:sp>
        <p:nvSpPr>
          <p:cNvPr id="1008301435" name="Shape 6"/>
          <p:cNvSpPr/>
          <p:nvPr/>
        </p:nvSpPr>
        <p:spPr bwMode="auto">
          <a:xfrm>
            <a:off x="1257300" y="5841206"/>
            <a:ext cx="7732712" cy="700088"/>
          </a:xfrm>
          <a:prstGeom prst="roundRect">
            <a:avLst>
              <a:gd name="adj" fmla="val 50000"/>
            </a:avLst>
          </a:prstGeom>
          <a:solidFill>
            <a:srgbClr val="FFFFFF"/>
          </a:solidFill>
          <a:ln w="27781">
            <a:solidFill>
              <a:srgbClr val="002060">
                <a:alpha val="15999"/>
              </a:srgbClr>
            </a:solidFill>
            <a:prstDash val="solid"/>
          </a:ln>
          <a:effectLst>
            <a:outerShdw blurRad="266700" dist="95250" dir="5400000" sx="100000" sy="100000" kx="0" ky="0" algn="bl" rotWithShape="0">
              <a:srgbClr val="002060">
                <a:alpha val="14000"/>
              </a:srgbClr>
            </a:outerShdw>
          </a:effectLst>
        </p:spPr>
      </p:sp>
      <p:sp>
        <p:nvSpPr>
          <p:cNvPr id="1855549867" name="Shape 7"/>
          <p:cNvSpPr/>
          <p:nvPr/>
        </p:nvSpPr>
        <p:spPr bwMode="auto">
          <a:xfrm>
            <a:off x="1475581" y="6029325"/>
            <a:ext cx="323850" cy="323850"/>
          </a:xfrm>
          <a:prstGeom prst="ellipse">
            <a:avLst/>
          </a:prstGeom>
          <a:solidFill>
            <a:srgbClr val="E7EAF1"/>
          </a:solidFill>
          <a:ln/>
        </p:spPr>
      </p:sp>
      <p:pic>
        <p:nvPicPr>
          <p:cNvPr id="140073397" name="Image 1" descr="preencoded.png"/>
          <p:cNvPicPr>
            <a:picLocks noChangeAspect="1"/>
          </p:cNvPicPr>
          <p:nvPr/>
        </p:nvPicPr>
        <p:blipFill rotWithShape="1">
          <a:blip r:embed="rId4">
            <a:extLst>
              <a:ext uri="{96DAC541-7B7A-43D3-8B79-37D633B846F1}">
                <asvg:svgBlip xmlns:asvg="http://schemas.microsoft.com/office/drawing/2016/SVG/main" r:embed="rId5"/>
              </a:ext>
            </a:extLst>
          </a:blip>
          <a:stretch/>
        </p:blipFill>
        <p:spPr bwMode="auto">
          <a:xfrm>
            <a:off x="1547019" y="6100763"/>
            <a:ext cx="180975" cy="180975"/>
          </a:xfrm>
          <a:prstGeom prst="rect">
            <a:avLst/>
          </a:prstGeom>
        </p:spPr>
      </p:pic>
      <p:sp>
        <p:nvSpPr>
          <p:cNvPr id="257320045" name="Text 8"/>
          <p:cNvSpPr/>
          <p:nvPr/>
        </p:nvSpPr>
        <p:spPr bwMode="auto">
          <a:xfrm>
            <a:off x="1970881" y="6002338"/>
            <a:ext cx="5092065" cy="415925"/>
          </a:xfrm>
          <a:prstGeom prst="rect">
            <a:avLst/>
          </a:prstGeom>
          <a:noFill/>
          <a:ln/>
        </p:spPr>
        <p:txBody>
          <a:bodyPr wrap="square" lIns="25400" tIns="25400" rIns="25400" bIns="25400" rtlCol="0" anchor="t">
            <a:normAutofit/>
          </a:bodyPr>
          <a:lstStyle/>
          <a:p>
            <a:pPr marL="0" indent="0" algn="l">
              <a:buNone/>
              <a:defRPr/>
            </a:pPr>
            <a:r>
              <a:rPr lang="en-US" sz="2250">
                <a:solidFill>
                  <a:srgbClr val="002060"/>
                </a:solidFill>
                <a:latin typeface="Courier New"/>
                <a:ea typeface="Courier New"/>
                <a:cs typeface="Courier New"/>
              </a:rPr>
              <a:t>mhd-01.github.io</a:t>
            </a:r>
            <a:r>
              <a:rPr lang="en-US" sz="2250">
                <a:solidFill>
                  <a:srgbClr val="14161C"/>
                </a:solidFill>
                <a:latin typeface="Courier New"/>
                <a:ea typeface="Courier New"/>
                <a:cs typeface="Courier New"/>
              </a:rPr>
              <a:t>/A2Bot-Docs</a:t>
            </a:r>
            <a:endParaRPr lang="en-US" sz="2250"/>
          </a:p>
        </p:txBody>
      </p:sp>
      <p:sp>
        <p:nvSpPr>
          <p:cNvPr id="1906432132" name="Text 9"/>
          <p:cNvSpPr/>
          <p:nvPr/>
        </p:nvSpPr>
        <p:spPr bwMode="auto">
          <a:xfrm>
            <a:off x="8523129" y="6019006"/>
            <a:ext cx="267653" cy="382587"/>
          </a:xfrm>
          <a:prstGeom prst="rect">
            <a:avLst/>
          </a:prstGeom>
          <a:noFill/>
          <a:ln/>
        </p:spPr>
        <p:txBody>
          <a:bodyPr wrap="square" lIns="25400" tIns="25400" rIns="25400" bIns="25400" rtlCol="0" anchor="t">
            <a:normAutofit/>
          </a:bodyPr>
          <a:lstStyle/>
          <a:p>
            <a:pPr marL="0" indent="0" algn="l">
              <a:buNone/>
              <a:defRPr/>
            </a:pPr>
            <a:r>
              <a:rPr lang="en-US" sz="1800">
                <a:solidFill>
                  <a:srgbClr val="8A91A1"/>
                </a:solidFill>
                <a:latin typeface="Arial"/>
                <a:ea typeface="Arial"/>
                <a:cs typeface="Arial"/>
              </a:rPr>
              <a:t>↵</a:t>
            </a:r>
            <a:endParaRPr lang="en-US" sz="1800"/>
          </a:p>
        </p:txBody>
      </p:sp>
      <p:sp>
        <p:nvSpPr>
          <p:cNvPr id="108056620" name="Text 10"/>
          <p:cNvSpPr/>
          <p:nvPr/>
        </p:nvSpPr>
        <p:spPr bwMode="auto">
          <a:xfrm>
            <a:off x="1257300" y="6712744"/>
            <a:ext cx="8560118" cy="389731"/>
          </a:xfrm>
          <a:prstGeom prst="rect">
            <a:avLst/>
          </a:prstGeom>
          <a:noFill/>
          <a:ln/>
        </p:spPr>
        <p:txBody>
          <a:bodyPr wrap="square" lIns="25400" tIns="25400" rIns="25400" bIns="25400" rtlCol="0" anchor="t">
            <a:normAutofit/>
          </a:bodyPr>
          <a:lstStyle/>
          <a:p>
            <a:pPr marL="0" indent="0" algn="l">
              <a:lnSpc>
                <a:spcPct val="124089"/>
              </a:lnSpc>
              <a:buNone/>
              <a:defRPr/>
            </a:pPr>
            <a:r>
              <a:rPr lang="en-US" sz="1950">
                <a:solidFill>
                  <a:srgbClr val="5A6172"/>
                </a:solidFill>
                <a:latin typeface="Arial"/>
                <a:ea typeface="Arial"/>
                <a:cs typeface="Arial"/>
              </a:rPr>
              <a:t>In any browser, on your laptop or your phone.</a:t>
            </a:r>
            <a:endParaRPr lang="en-US" sz="1950"/>
          </a:p>
        </p:txBody>
      </p:sp>
      <p:sp>
        <p:nvSpPr>
          <p:cNvPr id="399527778" name="Shape 11"/>
          <p:cNvSpPr/>
          <p:nvPr/>
        </p:nvSpPr>
        <p:spPr bwMode="auto">
          <a:xfrm>
            <a:off x="1257300" y="7350125"/>
            <a:ext cx="7781925" cy="2026285"/>
          </a:xfrm>
          <a:prstGeom prst="roundRect">
            <a:avLst>
              <a:gd name="adj" fmla="val 3761"/>
            </a:avLst>
          </a:prstGeom>
          <a:solidFill>
            <a:srgbClr val="F3E2CD"/>
          </a:solidFill>
          <a:ln/>
        </p:spPr>
      </p:sp>
      <p:sp>
        <p:nvSpPr>
          <p:cNvPr id="2036269126" name="Shape 12"/>
          <p:cNvSpPr/>
          <p:nvPr/>
        </p:nvSpPr>
        <p:spPr bwMode="auto">
          <a:xfrm>
            <a:off x="1257300" y="7350125"/>
            <a:ext cx="111125" cy="2026285"/>
          </a:xfrm>
          <a:prstGeom prst="rect">
            <a:avLst/>
          </a:prstGeom>
          <a:solidFill>
            <a:srgbClr val="DB5817"/>
          </a:solidFill>
          <a:ln/>
        </p:spPr>
      </p:sp>
      <p:sp>
        <p:nvSpPr>
          <p:cNvPr id="1998661160" name="Text 13"/>
          <p:cNvSpPr/>
          <p:nvPr/>
        </p:nvSpPr>
        <p:spPr bwMode="auto">
          <a:xfrm>
            <a:off x="1654175" y="7578725"/>
            <a:ext cx="347504" cy="426720"/>
          </a:xfrm>
          <a:prstGeom prst="rect">
            <a:avLst/>
          </a:prstGeom>
          <a:noFill/>
          <a:ln/>
        </p:spPr>
        <p:txBody>
          <a:bodyPr wrap="square" lIns="25400" tIns="25400" rIns="25400" bIns="25400" rtlCol="0" anchor="t">
            <a:normAutofit/>
          </a:bodyPr>
          <a:lstStyle/>
          <a:p>
            <a:pPr marL="0" indent="0" algn="l">
              <a:lnSpc>
                <a:spcPct val="105973"/>
              </a:lnSpc>
              <a:buNone/>
              <a:defRPr/>
            </a:pPr>
            <a:r>
              <a:rPr lang="en-US" sz="2550">
                <a:solidFill>
                  <a:srgbClr val="DB5817"/>
                </a:solidFill>
                <a:latin typeface="Arial"/>
                <a:ea typeface="Arial"/>
                <a:cs typeface="Arial"/>
              </a:rPr>
              <a:t>→</a:t>
            </a:r>
            <a:endParaRPr lang="en-US" sz="2550"/>
          </a:p>
        </p:txBody>
      </p:sp>
      <p:sp>
        <p:nvSpPr>
          <p:cNvPr id="1016443519" name="Text 14"/>
          <p:cNvSpPr/>
          <p:nvPr/>
        </p:nvSpPr>
        <p:spPr bwMode="auto">
          <a:xfrm>
            <a:off x="2135029" y="7578725"/>
            <a:ext cx="6816999" cy="1607185"/>
          </a:xfrm>
          <a:prstGeom prst="rect">
            <a:avLst/>
          </a:prstGeom>
          <a:noFill/>
          <a:ln/>
        </p:spPr>
        <p:txBody>
          <a:bodyPr wrap="square" lIns="25400" tIns="25400" rIns="25400" bIns="25400" rtlCol="0" anchor="t">
            <a:normAutofit/>
          </a:bodyPr>
          <a:lstStyle/>
          <a:p>
            <a:pPr marL="0" indent="0" algn="l">
              <a:lnSpc>
                <a:spcPct val="123859"/>
              </a:lnSpc>
              <a:buNone/>
              <a:defRPr/>
            </a:pPr>
            <a:r>
              <a:rPr lang="en-US" sz="2200">
                <a:solidFill>
                  <a:srgbClr val="2A3040"/>
                </a:solidFill>
                <a:latin typeface="Arial"/>
                <a:ea typeface="Arial"/>
                <a:cs typeface="Arial"/>
              </a:rPr>
              <a:t>When a slide says </a:t>
            </a:r>
            <a:r>
              <a:rPr lang="en-US" sz="2200" b="1">
                <a:solidFill>
                  <a:srgbClr val="002060"/>
                </a:solidFill>
                <a:latin typeface="Arial"/>
                <a:ea typeface="Arial"/>
                <a:cs typeface="Arial"/>
              </a:rPr>
              <a:t>see the docs </a:t>
            </a:r>
            <a:r>
              <a:rPr lang="en-US" sz="2200">
                <a:solidFill>
                  <a:srgbClr val="2A3040"/>
                </a:solidFill>
                <a:latin typeface="Arial"/>
                <a:ea typeface="Arial"/>
                <a:cs typeface="Arial"/>
              </a:rPr>
              <a:t>, it names the page. Stuck on anything not covered here, start at </a:t>
            </a:r>
            <a:r>
              <a:rPr lang="en-US" sz="2200" b="1">
                <a:solidFill>
                  <a:srgbClr val="002060"/>
                </a:solidFill>
                <a:latin typeface="Arial"/>
                <a:ea typeface="Arial"/>
                <a:cs typeface="Arial"/>
              </a:rPr>
              <a:t>Appendices → Troubleshooting Index </a:t>
            </a:r>
            <a:r>
              <a:rPr lang="en-US" sz="2200">
                <a:solidFill>
                  <a:srgbClr val="2A3040"/>
                </a:solidFill>
                <a:latin typeface="Arial"/>
                <a:ea typeface="Arial"/>
                <a:cs typeface="Arial"/>
              </a:rPr>
              <a:t>, which is organised by symptom.</a:t>
            </a:r>
            <a:endParaRPr lang="en-US" sz="2200"/>
          </a:p>
        </p:txBody>
      </p:sp>
      <p:sp>
        <p:nvSpPr>
          <p:cNvPr id="233054932" name="Shape 15"/>
          <p:cNvSpPr/>
          <p:nvPr/>
        </p:nvSpPr>
        <p:spPr bwMode="auto">
          <a:xfrm>
            <a:off x="9534525" y="5841206"/>
            <a:ext cx="7781925" cy="4008279"/>
          </a:xfrm>
          <a:prstGeom prst="roundRect">
            <a:avLst>
              <a:gd name="adj" fmla="val 2852"/>
            </a:avLst>
          </a:prstGeom>
          <a:solidFill>
            <a:srgbClr val="EAEEF6"/>
          </a:solidFill>
          <a:ln/>
        </p:spPr>
      </p:sp>
      <p:sp>
        <p:nvSpPr>
          <p:cNvPr id="1714226941" name="Shape 16"/>
          <p:cNvSpPr/>
          <p:nvPr/>
        </p:nvSpPr>
        <p:spPr bwMode="auto">
          <a:xfrm>
            <a:off x="9534525" y="5841206"/>
            <a:ext cx="7781925" cy="111125"/>
          </a:xfrm>
          <a:prstGeom prst="rect">
            <a:avLst/>
          </a:prstGeom>
          <a:solidFill>
            <a:srgbClr val="002060"/>
          </a:solidFill>
          <a:ln/>
        </p:spPr>
      </p:sp>
      <p:sp>
        <p:nvSpPr>
          <p:cNvPr id="1083270410" name="Text 17"/>
          <p:cNvSpPr/>
          <p:nvPr/>
        </p:nvSpPr>
        <p:spPr bwMode="auto">
          <a:xfrm>
            <a:off x="9915525" y="6276181"/>
            <a:ext cx="7721918" cy="521494"/>
          </a:xfrm>
          <a:prstGeom prst="rect">
            <a:avLst/>
          </a:prstGeom>
          <a:noFill/>
          <a:ln/>
        </p:spPr>
        <p:txBody>
          <a:bodyPr wrap="square" lIns="25400" tIns="25400" rIns="25400" bIns="25400" rtlCol="0" anchor="t">
            <a:normAutofit/>
          </a:bodyPr>
          <a:lstStyle/>
          <a:p>
            <a:pPr marL="0" indent="0" algn="l">
              <a:buNone/>
              <a:defRPr/>
            </a:pPr>
            <a:r>
              <a:rPr lang="en-US" sz="2550" b="1">
                <a:solidFill>
                  <a:srgbClr val="002060"/>
                </a:solidFill>
                <a:latin typeface="Arial"/>
                <a:ea typeface="Arial"/>
                <a:cs typeface="Arial"/>
              </a:rPr>
              <a:t>Where today's material lives</a:t>
            </a:r>
            <a:endParaRPr lang="en-US" sz="2550"/>
          </a:p>
        </p:txBody>
      </p:sp>
      <p:sp>
        <p:nvSpPr>
          <p:cNvPr id="14906747" name="Text 18"/>
          <p:cNvSpPr/>
          <p:nvPr/>
        </p:nvSpPr>
        <p:spPr bwMode="auto">
          <a:xfrm>
            <a:off x="9915525" y="6873875"/>
            <a:ext cx="7230523" cy="2689860"/>
          </a:xfrm>
          <a:prstGeom prst="rect">
            <a:avLst/>
          </a:prstGeom>
          <a:noFill/>
          <a:ln/>
        </p:spPr>
        <p:txBody>
          <a:bodyPr wrap="square" lIns="25400" tIns="25400" rIns="25400" bIns="25400" rtlCol="0" anchor="t">
            <a:normAutofit/>
          </a:bodyPr>
          <a:lstStyle/>
          <a:p>
            <a:pPr marL="0" indent="0" algn="l">
              <a:lnSpc>
                <a:spcPct val="139549"/>
              </a:lnSpc>
              <a:buNone/>
              <a:defRPr/>
            </a:pPr>
            <a:r>
              <a:rPr lang="en-US" sz="2200" b="1">
                <a:solidFill>
                  <a:srgbClr val="2A3040"/>
                </a:solidFill>
                <a:latin typeface="Arial"/>
                <a:ea typeface="Arial"/>
                <a:cs typeface="Arial"/>
              </a:rPr>
              <a:t>Part 0 </a:t>
            </a:r>
            <a:r>
              <a:rPr lang="en-US" sz="2200">
                <a:solidFill>
                  <a:srgbClr val="2A3040"/>
                </a:solidFill>
                <a:latin typeface="Arial"/>
                <a:ea typeface="Arial"/>
                <a:cs typeface="Arial"/>
              </a:rPr>
              <a:t>— Discovering and Controlling A2Bot </a:t>
            </a:r>
            <a:r>
              <a:rPr lang="en-US" sz="2200" b="1">
                <a:solidFill>
                  <a:srgbClr val="2A3040"/>
                </a:solidFill>
                <a:latin typeface="Arial"/>
                <a:ea typeface="Arial"/>
                <a:cs typeface="Arial"/>
              </a:rPr>
              <a:t>Toolkit </a:t>
            </a:r>
            <a:r>
              <a:rPr lang="en-US" sz="2200">
                <a:solidFill>
                  <a:srgbClr val="2A3040"/>
                </a:solidFill>
                <a:latin typeface="Arial"/>
                <a:ea typeface="Arial"/>
                <a:cs typeface="Arial"/>
              </a:rPr>
              <a:t>— IP Addresses &amp; Your Network </a:t>
            </a:r>
            <a:r>
              <a:rPr lang="en-US" sz="2200" b="1">
                <a:solidFill>
                  <a:srgbClr val="2A3040"/>
                </a:solidFill>
                <a:latin typeface="Arial"/>
                <a:ea typeface="Arial"/>
                <a:cs typeface="Arial"/>
              </a:rPr>
              <a:t>Toolkit </a:t>
            </a:r>
            <a:r>
              <a:rPr lang="en-US" sz="2200">
                <a:solidFill>
                  <a:srgbClr val="2A3040"/>
                </a:solidFill>
                <a:latin typeface="Arial"/>
                <a:ea typeface="Arial"/>
                <a:cs typeface="Arial"/>
              </a:rPr>
              <a:t>— SSH &amp; Remote Access </a:t>
            </a:r>
            <a:r>
              <a:rPr lang="en-US" sz="2200" b="1">
                <a:solidFill>
                  <a:srgbClr val="2A3040"/>
                </a:solidFill>
                <a:latin typeface="Arial"/>
                <a:ea typeface="Arial"/>
                <a:cs typeface="Arial"/>
              </a:rPr>
              <a:t>Part 3 </a:t>
            </a:r>
            <a:r>
              <a:rPr lang="en-US" sz="2200">
                <a:solidFill>
                  <a:srgbClr val="2A3040"/>
                </a:solidFill>
                <a:latin typeface="Arial"/>
                <a:ea typeface="Arial"/>
                <a:cs typeface="Arial"/>
              </a:rPr>
              <a:t>— Setup 2, Laptop </a:t>
            </a:r>
            <a:r>
              <a:rPr lang="en-US" sz="2200" b="1">
                <a:solidFill>
                  <a:srgbClr val="2A3040"/>
                </a:solidFill>
                <a:latin typeface="Arial"/>
                <a:ea typeface="Arial"/>
                <a:cs typeface="Arial"/>
              </a:rPr>
              <a:t>Part 3 </a:t>
            </a:r>
            <a:r>
              <a:rPr lang="en-US" sz="2200">
                <a:solidFill>
                  <a:srgbClr val="2A3040"/>
                </a:solidFill>
                <a:latin typeface="Arial"/>
                <a:ea typeface="Arial"/>
                <a:cs typeface="Arial"/>
              </a:rPr>
              <a:t>— Bringup &amp; Driving </a:t>
            </a:r>
            <a:r>
              <a:rPr lang="en-US" sz="2200" b="1">
                <a:solidFill>
                  <a:srgbClr val="2A3040"/>
                </a:solidFill>
                <a:latin typeface="Arial"/>
                <a:ea typeface="Arial"/>
                <a:cs typeface="Arial"/>
              </a:rPr>
              <a:t>Appendices </a:t>
            </a:r>
            <a:r>
              <a:rPr lang="en-US" sz="2200">
                <a:solidFill>
                  <a:srgbClr val="2A3040"/>
                </a:solidFill>
                <a:latin typeface="Arial"/>
                <a:ea typeface="Arial"/>
                <a:cs typeface="Arial"/>
              </a:rPr>
              <a:t>— Troubleshooting Index</a:t>
            </a:r>
            <a:endParaRPr lang="en-US" sz="2200"/>
          </a:p>
        </p:txBody>
      </p:sp>
      <p:pic>
        <p:nvPicPr>
          <p:cNvPr id="943302028" name="Image 2" descr="preencoded.png"/>
          <p:cNvPicPr>
            <a:picLocks noChangeAspect="1"/>
          </p:cNvPicPr>
          <p:nvPr/>
        </p:nvPicPr>
        <p:blipFill rotWithShape="1">
          <a:blip r:embed="rId6"/>
          <a:stretch/>
        </p:blipFill>
        <p:spPr bwMode="auto">
          <a:xfrm>
            <a:off x="17527905" y="9561512"/>
            <a:ext cx="131445" cy="34448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bg>
      <p:bgPr shadeToTitle="0">
        <a:solidFill>
          <a:srgbClr val="FFFFFF"/>
        </a:solidFill>
      </p:bgPr>
    </p:bg>
    <p:spTree>
      <p:nvGrpSpPr>
        <p:cNvPr id="1" name=""/>
        <p:cNvGrpSpPr/>
        <p:nvPr/>
      </p:nvGrpSpPr>
      <p:grpSpPr bwMode="auto">
        <a:xfrm>
          <a:off x="0" y="0"/>
          <a:ext cx="0" cy="0"/>
          <a:chOff x="0" y="0"/>
          <a:chExt cx="0" cy="0"/>
        </a:xfrm>
      </p:grpSpPr>
      <p:sp>
        <p:nvSpPr>
          <p:cNvPr id="226808082" name="Shape 0"/>
          <p:cNvSpPr/>
          <p:nvPr/>
        </p:nvSpPr>
        <p:spPr bwMode="auto">
          <a:xfrm>
            <a:off x="971550" y="0"/>
            <a:ext cx="28575" cy="10287000"/>
          </a:xfrm>
          <a:prstGeom prst="rect">
            <a:avLst/>
          </a:prstGeom>
          <a:solidFill>
            <a:srgbClr val="002060">
              <a:alpha val="15999"/>
            </a:srgbClr>
          </a:solidFill>
          <a:ln/>
        </p:spPr>
      </p:sp>
      <p:sp>
        <p:nvSpPr>
          <p:cNvPr id="759037252" name="Shape 1"/>
          <p:cNvSpPr/>
          <p:nvPr/>
        </p:nvSpPr>
        <p:spPr bwMode="auto">
          <a:xfrm>
            <a:off x="971550" y="1009650"/>
            <a:ext cx="16687800" cy="28575"/>
          </a:xfrm>
          <a:prstGeom prst="rect">
            <a:avLst/>
          </a:prstGeom>
          <a:solidFill>
            <a:srgbClr val="002060">
              <a:alpha val="15999"/>
            </a:srgbClr>
          </a:solidFill>
          <a:ln/>
        </p:spPr>
      </p:sp>
      <p:pic>
        <p:nvPicPr>
          <p:cNvPr id="1342204607" name="Image 0" descr="preencoded.png"/>
          <p:cNvPicPr>
            <a:picLocks noChangeAspect="1"/>
          </p:cNvPicPr>
          <p:nvPr/>
        </p:nvPicPr>
        <p:blipFill rotWithShape="1">
          <a:blip r:embed="rId3"/>
          <a:stretch/>
        </p:blipFill>
        <p:spPr bwMode="auto">
          <a:xfrm>
            <a:off x="1257300" y="209550"/>
            <a:ext cx="779621" cy="647700"/>
          </a:xfrm>
          <a:prstGeom prst="rect">
            <a:avLst/>
          </a:prstGeom>
        </p:spPr>
      </p:pic>
      <p:sp>
        <p:nvSpPr>
          <p:cNvPr id="645999109" name="Text 2"/>
          <p:cNvSpPr/>
          <p:nvPr/>
        </p:nvSpPr>
        <p:spPr bwMode="auto">
          <a:xfrm>
            <a:off x="14455616" y="400050"/>
            <a:ext cx="3524107" cy="393700"/>
          </a:xfrm>
          <a:prstGeom prst="rect">
            <a:avLst/>
          </a:prstGeom>
          <a:noFill/>
          <a:ln/>
        </p:spPr>
        <p:txBody>
          <a:bodyPr wrap="square" lIns="25400" tIns="25400" rIns="25400" bIns="25400" rtlCol="0" anchor="t">
            <a:normAutofit/>
          </a:bodyPr>
          <a:lstStyle/>
          <a:p>
            <a:pPr marL="0" indent="0" algn="l">
              <a:buNone/>
              <a:defRPr/>
            </a:pPr>
            <a:r>
              <a:rPr lang="en-US" sz="1900" spc="75">
                <a:solidFill>
                  <a:srgbClr val="DB5817"/>
                </a:solidFill>
                <a:latin typeface="Arial"/>
                <a:ea typeface="Arial"/>
                <a:cs typeface="Arial"/>
              </a:rPr>
              <a:t>www.centex-sarawak.my</a:t>
            </a:r>
            <a:endParaRPr lang="en-US" sz="1900"/>
          </a:p>
        </p:txBody>
      </p:sp>
      <p:sp>
        <p:nvSpPr>
          <p:cNvPr id="1678930888" name="Text 3"/>
          <p:cNvSpPr/>
          <p:nvPr/>
        </p:nvSpPr>
        <p:spPr bwMode="auto">
          <a:xfrm>
            <a:off x="1257300" y="1905000"/>
            <a:ext cx="17665065" cy="410369"/>
          </a:xfrm>
          <a:prstGeom prst="rect">
            <a:avLst/>
          </a:prstGeom>
          <a:noFill/>
          <a:ln/>
        </p:spPr>
        <p:txBody>
          <a:bodyPr wrap="square" lIns="25400" tIns="25400" rIns="25400" bIns="25400" rtlCol="0" anchor="t">
            <a:normAutofit/>
          </a:bodyPr>
          <a:lstStyle/>
          <a:p>
            <a:pPr marL="0" indent="0" algn="l">
              <a:buNone/>
              <a:defRPr/>
            </a:pPr>
            <a:r>
              <a:rPr lang="en-US" sz="1950" b="1" spc="311">
                <a:solidFill>
                  <a:srgbClr val="DB5817"/>
                </a:solidFill>
                <a:latin typeface="Arial"/>
                <a:ea typeface="Arial"/>
                <a:cs typeface="Arial"/>
              </a:rPr>
              <a:t>TODAY</a:t>
            </a:r>
            <a:endParaRPr lang="en-US" sz="1950"/>
          </a:p>
        </p:txBody>
      </p:sp>
      <p:sp>
        <p:nvSpPr>
          <p:cNvPr id="44668308" name="Text 4"/>
          <p:cNvSpPr/>
          <p:nvPr/>
        </p:nvSpPr>
        <p:spPr bwMode="auto">
          <a:xfrm>
            <a:off x="1257300" y="2486819"/>
            <a:ext cx="17665065" cy="805497"/>
          </a:xfrm>
          <a:prstGeom prst="rect">
            <a:avLst/>
          </a:prstGeom>
          <a:noFill/>
          <a:ln/>
        </p:spPr>
        <p:txBody>
          <a:bodyPr wrap="square" lIns="25400" tIns="25400" rIns="25400" bIns="25400" rtlCol="0" anchor="t">
            <a:normAutofit/>
          </a:bodyPr>
          <a:lstStyle/>
          <a:p>
            <a:pPr marL="0" indent="0" algn="l">
              <a:lnSpc>
                <a:spcPct val="94599"/>
              </a:lnSpc>
              <a:buNone/>
              <a:defRPr/>
            </a:pPr>
            <a:r>
              <a:rPr lang="en-US" sz="5700" b="1" spc="-57">
                <a:solidFill>
                  <a:srgbClr val="002060"/>
                </a:solidFill>
                <a:latin typeface="Arial"/>
                <a:ea typeface="Arial"/>
                <a:cs typeface="Arial"/>
              </a:rPr>
              <a:t>From an unopened laptop to a driving robot</a:t>
            </a:r>
            <a:endParaRPr lang="en-US" sz="5700"/>
          </a:p>
        </p:txBody>
      </p:sp>
      <p:sp>
        <p:nvSpPr>
          <p:cNvPr id="1741116654" name="Shape 5"/>
          <p:cNvSpPr/>
          <p:nvPr/>
        </p:nvSpPr>
        <p:spPr bwMode="auto">
          <a:xfrm>
            <a:off x="1257300" y="3654266"/>
            <a:ext cx="2470150" cy="55562"/>
          </a:xfrm>
          <a:prstGeom prst="rect">
            <a:avLst/>
          </a:prstGeom>
          <a:solidFill>
            <a:srgbClr val="002060">
              <a:alpha val="15999"/>
            </a:srgbClr>
          </a:solidFill>
          <a:ln/>
        </p:spPr>
      </p:sp>
      <p:sp>
        <p:nvSpPr>
          <p:cNvPr id="1840823593" name="Text 6"/>
          <p:cNvSpPr/>
          <p:nvPr/>
        </p:nvSpPr>
        <p:spPr bwMode="auto">
          <a:xfrm>
            <a:off x="1257300" y="3938429"/>
            <a:ext cx="2717165" cy="533400"/>
          </a:xfrm>
          <a:prstGeom prst="rect">
            <a:avLst/>
          </a:prstGeom>
          <a:noFill/>
          <a:ln/>
        </p:spPr>
        <p:txBody>
          <a:bodyPr wrap="square" lIns="25400" tIns="25400" rIns="25400" bIns="25400" rtlCol="0" anchor="t">
            <a:normAutofit/>
          </a:bodyPr>
          <a:lstStyle/>
          <a:p>
            <a:pPr marL="0" indent="0" algn="l">
              <a:lnSpc>
                <a:spcPct val="89143"/>
              </a:lnSpc>
              <a:buNone/>
              <a:defRPr/>
            </a:pPr>
            <a:r>
              <a:rPr lang="en-US" sz="3900">
                <a:solidFill>
                  <a:srgbClr val="DB5817"/>
                </a:solidFill>
                <a:latin typeface="Arial"/>
                <a:ea typeface="Arial"/>
                <a:cs typeface="Arial"/>
              </a:rPr>
              <a:t>1</a:t>
            </a:r>
            <a:endParaRPr lang="en-US" sz="3900"/>
          </a:p>
        </p:txBody>
      </p:sp>
      <p:sp>
        <p:nvSpPr>
          <p:cNvPr id="412393078" name="Text 7"/>
          <p:cNvSpPr/>
          <p:nvPr/>
        </p:nvSpPr>
        <p:spPr bwMode="auto">
          <a:xfrm>
            <a:off x="1257300" y="4567079"/>
            <a:ext cx="2546350" cy="838200"/>
          </a:xfrm>
          <a:prstGeom prst="rect">
            <a:avLst/>
          </a:prstGeom>
          <a:noFill/>
          <a:ln/>
        </p:spPr>
        <p:txBody>
          <a:bodyPr wrap="square" lIns="25400" tIns="25400" rIns="25400" bIns="25400" rtlCol="0" anchor="t">
            <a:normAutofit/>
          </a:bodyPr>
          <a:lstStyle/>
          <a:p>
            <a:pPr marL="0" indent="0" algn="l">
              <a:buNone/>
              <a:defRPr/>
            </a:pPr>
            <a:r>
              <a:rPr lang="en-US" sz="2100" b="1">
                <a:solidFill>
                  <a:srgbClr val="002060"/>
                </a:solidFill>
                <a:latin typeface="Arial"/>
                <a:ea typeface="Arial"/>
                <a:cs typeface="Arial"/>
              </a:rPr>
              <a:t>Prepare your laptop</a:t>
            </a:r>
            <a:endParaRPr lang="en-US" sz="2100"/>
          </a:p>
        </p:txBody>
      </p:sp>
      <p:sp>
        <p:nvSpPr>
          <p:cNvPr id="2032425430" name="Text 8"/>
          <p:cNvSpPr/>
          <p:nvPr/>
        </p:nvSpPr>
        <p:spPr bwMode="auto">
          <a:xfrm>
            <a:off x="1257300" y="5462429"/>
            <a:ext cx="2546350" cy="666750"/>
          </a:xfrm>
          <a:prstGeom prst="rect">
            <a:avLst/>
          </a:prstGeom>
          <a:noFill/>
          <a:ln/>
        </p:spPr>
        <p:txBody>
          <a:bodyPr wrap="square" lIns="25400" tIns="25400" rIns="25400" bIns="25400" rtlCol="0" anchor="t">
            <a:normAutofit/>
          </a:bodyPr>
          <a:lstStyle/>
          <a:p>
            <a:pPr marL="0" indent="0" algn="l">
              <a:lnSpc>
                <a:spcPct val="115452"/>
              </a:lnSpc>
              <a:buNone/>
              <a:defRPr/>
            </a:pPr>
            <a:r>
              <a:rPr lang="en-US" sz="1900">
                <a:solidFill>
                  <a:srgbClr val="3A4152"/>
                </a:solidFill>
                <a:latin typeface="Arial"/>
                <a:ea typeface="Arial"/>
                <a:cs typeface="Arial"/>
              </a:rPr>
              <a:t>SSH client and Cyclone DDS.</a:t>
            </a:r>
            <a:endParaRPr lang="en-US" sz="1900"/>
          </a:p>
        </p:txBody>
      </p:sp>
      <p:sp>
        <p:nvSpPr>
          <p:cNvPr id="50523634" name="Shape 9"/>
          <p:cNvSpPr/>
          <p:nvPr/>
        </p:nvSpPr>
        <p:spPr bwMode="auto">
          <a:xfrm>
            <a:off x="3975100" y="3654266"/>
            <a:ext cx="2470150" cy="55562"/>
          </a:xfrm>
          <a:prstGeom prst="rect">
            <a:avLst/>
          </a:prstGeom>
          <a:solidFill>
            <a:srgbClr val="DB5817"/>
          </a:solidFill>
          <a:ln/>
        </p:spPr>
      </p:sp>
      <p:sp>
        <p:nvSpPr>
          <p:cNvPr id="1066579108" name="Text 10"/>
          <p:cNvSpPr/>
          <p:nvPr/>
        </p:nvSpPr>
        <p:spPr bwMode="auto">
          <a:xfrm>
            <a:off x="3975100" y="3938429"/>
            <a:ext cx="2717165" cy="533400"/>
          </a:xfrm>
          <a:prstGeom prst="rect">
            <a:avLst/>
          </a:prstGeom>
          <a:noFill/>
          <a:ln/>
        </p:spPr>
        <p:txBody>
          <a:bodyPr wrap="square" lIns="25400" tIns="25400" rIns="25400" bIns="25400" rtlCol="0" anchor="t">
            <a:normAutofit/>
          </a:bodyPr>
          <a:lstStyle/>
          <a:p>
            <a:pPr marL="0" indent="0" algn="l">
              <a:lnSpc>
                <a:spcPct val="89143"/>
              </a:lnSpc>
              <a:buNone/>
              <a:defRPr/>
            </a:pPr>
            <a:r>
              <a:rPr lang="en-US" sz="3900">
                <a:solidFill>
                  <a:srgbClr val="DB5817"/>
                </a:solidFill>
                <a:latin typeface="Arial"/>
                <a:ea typeface="Arial"/>
                <a:cs typeface="Arial"/>
              </a:rPr>
              <a:t>2</a:t>
            </a:r>
            <a:endParaRPr lang="en-US" sz="3900"/>
          </a:p>
        </p:txBody>
      </p:sp>
      <p:sp>
        <p:nvSpPr>
          <p:cNvPr id="222341550" name="Text 11"/>
          <p:cNvSpPr/>
          <p:nvPr/>
        </p:nvSpPr>
        <p:spPr bwMode="auto">
          <a:xfrm>
            <a:off x="3975100" y="4567079"/>
            <a:ext cx="2546350" cy="838200"/>
          </a:xfrm>
          <a:prstGeom prst="rect">
            <a:avLst/>
          </a:prstGeom>
          <a:noFill/>
          <a:ln/>
        </p:spPr>
        <p:txBody>
          <a:bodyPr wrap="square" lIns="25400" tIns="25400" rIns="25400" bIns="25400" rtlCol="0" anchor="t">
            <a:normAutofit/>
          </a:bodyPr>
          <a:lstStyle/>
          <a:p>
            <a:pPr marL="0" indent="0" algn="l">
              <a:buNone/>
              <a:defRPr/>
            </a:pPr>
            <a:r>
              <a:rPr lang="en-US" sz="2100" b="1">
                <a:solidFill>
                  <a:srgbClr val="002060"/>
                </a:solidFill>
                <a:latin typeface="Arial"/>
                <a:ea typeface="Arial"/>
                <a:cs typeface="Arial"/>
              </a:rPr>
              <a:t>Get on the same network</a:t>
            </a:r>
            <a:endParaRPr lang="en-US" sz="2100"/>
          </a:p>
        </p:txBody>
      </p:sp>
      <p:sp>
        <p:nvSpPr>
          <p:cNvPr id="1325047516" name="Text 12"/>
          <p:cNvSpPr/>
          <p:nvPr/>
        </p:nvSpPr>
        <p:spPr bwMode="auto">
          <a:xfrm>
            <a:off x="3975100" y="5462429"/>
            <a:ext cx="2546350" cy="666750"/>
          </a:xfrm>
          <a:prstGeom prst="rect">
            <a:avLst/>
          </a:prstGeom>
          <a:noFill/>
          <a:ln/>
        </p:spPr>
        <p:txBody>
          <a:bodyPr wrap="square" lIns="25400" tIns="25400" rIns="25400" bIns="25400" rtlCol="0" anchor="t">
            <a:normAutofit/>
          </a:bodyPr>
          <a:lstStyle/>
          <a:p>
            <a:pPr marL="0" indent="0" algn="l">
              <a:lnSpc>
                <a:spcPct val="115452"/>
              </a:lnSpc>
              <a:buNone/>
              <a:defRPr/>
            </a:pPr>
            <a:r>
              <a:rPr lang="en-US" sz="1900">
                <a:solidFill>
                  <a:srgbClr val="3A4152"/>
                </a:solidFill>
                <a:latin typeface="Arial"/>
                <a:ea typeface="Arial"/>
                <a:cs typeface="Arial"/>
              </a:rPr>
              <a:t>By WiFi, or by Ethernet cable.</a:t>
            </a:r>
            <a:endParaRPr lang="en-US" sz="1900"/>
          </a:p>
        </p:txBody>
      </p:sp>
      <p:sp>
        <p:nvSpPr>
          <p:cNvPr id="1139166995" name="Shape 13"/>
          <p:cNvSpPr/>
          <p:nvPr/>
        </p:nvSpPr>
        <p:spPr bwMode="auto">
          <a:xfrm>
            <a:off x="6692900" y="3654266"/>
            <a:ext cx="2470150" cy="55562"/>
          </a:xfrm>
          <a:prstGeom prst="rect">
            <a:avLst/>
          </a:prstGeom>
          <a:solidFill>
            <a:srgbClr val="002060">
              <a:alpha val="15999"/>
            </a:srgbClr>
          </a:solidFill>
          <a:ln/>
        </p:spPr>
      </p:sp>
      <p:sp>
        <p:nvSpPr>
          <p:cNvPr id="293739685" name="Text 14"/>
          <p:cNvSpPr/>
          <p:nvPr/>
        </p:nvSpPr>
        <p:spPr bwMode="auto">
          <a:xfrm>
            <a:off x="6692900" y="3938429"/>
            <a:ext cx="2717165" cy="533400"/>
          </a:xfrm>
          <a:prstGeom prst="rect">
            <a:avLst/>
          </a:prstGeom>
          <a:noFill/>
          <a:ln/>
        </p:spPr>
        <p:txBody>
          <a:bodyPr wrap="square" lIns="25400" tIns="25400" rIns="25400" bIns="25400" rtlCol="0" anchor="t">
            <a:normAutofit/>
          </a:bodyPr>
          <a:lstStyle/>
          <a:p>
            <a:pPr marL="0" indent="0" algn="l">
              <a:lnSpc>
                <a:spcPct val="89143"/>
              </a:lnSpc>
              <a:buNone/>
              <a:defRPr/>
            </a:pPr>
            <a:r>
              <a:rPr lang="en-US" sz="3900">
                <a:solidFill>
                  <a:srgbClr val="DB5817"/>
                </a:solidFill>
                <a:latin typeface="Arial"/>
                <a:ea typeface="Arial"/>
                <a:cs typeface="Arial"/>
              </a:rPr>
              <a:t>3</a:t>
            </a:r>
            <a:endParaRPr lang="en-US" sz="3900"/>
          </a:p>
        </p:txBody>
      </p:sp>
      <p:sp>
        <p:nvSpPr>
          <p:cNvPr id="80107576" name="Text 15"/>
          <p:cNvSpPr/>
          <p:nvPr/>
        </p:nvSpPr>
        <p:spPr bwMode="auto">
          <a:xfrm>
            <a:off x="6692900" y="4567079"/>
            <a:ext cx="2717165" cy="438149"/>
          </a:xfrm>
          <a:prstGeom prst="rect">
            <a:avLst/>
          </a:prstGeom>
          <a:noFill/>
          <a:ln/>
        </p:spPr>
        <p:txBody>
          <a:bodyPr wrap="square" lIns="25400" tIns="25400" rIns="25400" bIns="25400" rtlCol="0" anchor="t">
            <a:normAutofit/>
          </a:bodyPr>
          <a:lstStyle/>
          <a:p>
            <a:pPr marL="0" indent="0" algn="l">
              <a:buNone/>
              <a:defRPr/>
            </a:pPr>
            <a:r>
              <a:rPr lang="en-US" sz="2100" b="1">
                <a:solidFill>
                  <a:srgbClr val="002060"/>
                </a:solidFill>
                <a:latin typeface="Arial"/>
                <a:ea typeface="Arial"/>
                <a:cs typeface="Arial"/>
              </a:rPr>
              <a:t>SSH into the robot</a:t>
            </a:r>
            <a:endParaRPr lang="en-US" sz="2100"/>
          </a:p>
        </p:txBody>
      </p:sp>
      <p:sp>
        <p:nvSpPr>
          <p:cNvPr id="367485151" name="Text 16"/>
          <p:cNvSpPr/>
          <p:nvPr/>
        </p:nvSpPr>
        <p:spPr bwMode="auto">
          <a:xfrm>
            <a:off x="6692900" y="5062379"/>
            <a:ext cx="2546350" cy="666750"/>
          </a:xfrm>
          <a:prstGeom prst="rect">
            <a:avLst/>
          </a:prstGeom>
          <a:noFill/>
          <a:ln/>
        </p:spPr>
        <p:txBody>
          <a:bodyPr wrap="square" lIns="25400" tIns="25400" rIns="25400" bIns="25400" rtlCol="0" anchor="t">
            <a:normAutofit/>
          </a:bodyPr>
          <a:lstStyle/>
          <a:p>
            <a:pPr marL="0" indent="0" algn="l">
              <a:lnSpc>
                <a:spcPct val="115452"/>
              </a:lnSpc>
              <a:buNone/>
              <a:defRPr/>
            </a:pPr>
            <a:r>
              <a:rPr lang="en-US" sz="1900">
                <a:solidFill>
                  <a:srgbClr val="3A4152"/>
                </a:solidFill>
                <a:latin typeface="Arial"/>
                <a:ea typeface="Arial"/>
                <a:cs typeface="Arial"/>
              </a:rPr>
              <a:t>A terminal on the Raspberry Pi.</a:t>
            </a:r>
            <a:endParaRPr lang="en-US" sz="1900"/>
          </a:p>
        </p:txBody>
      </p:sp>
      <p:sp>
        <p:nvSpPr>
          <p:cNvPr id="1323792424" name="Shape 17"/>
          <p:cNvSpPr/>
          <p:nvPr/>
        </p:nvSpPr>
        <p:spPr bwMode="auto">
          <a:xfrm>
            <a:off x="9410700" y="3654266"/>
            <a:ext cx="2470150" cy="55562"/>
          </a:xfrm>
          <a:prstGeom prst="rect">
            <a:avLst/>
          </a:prstGeom>
          <a:solidFill>
            <a:srgbClr val="002060">
              <a:alpha val="15999"/>
            </a:srgbClr>
          </a:solidFill>
          <a:ln/>
        </p:spPr>
      </p:sp>
      <p:sp>
        <p:nvSpPr>
          <p:cNvPr id="1066652151" name="Text 18"/>
          <p:cNvSpPr/>
          <p:nvPr/>
        </p:nvSpPr>
        <p:spPr bwMode="auto">
          <a:xfrm>
            <a:off x="9410700" y="3938429"/>
            <a:ext cx="2717165" cy="533400"/>
          </a:xfrm>
          <a:prstGeom prst="rect">
            <a:avLst/>
          </a:prstGeom>
          <a:noFill/>
          <a:ln/>
        </p:spPr>
        <p:txBody>
          <a:bodyPr wrap="square" lIns="25400" tIns="25400" rIns="25400" bIns="25400" rtlCol="0" anchor="t">
            <a:normAutofit/>
          </a:bodyPr>
          <a:lstStyle/>
          <a:p>
            <a:pPr marL="0" indent="0" algn="l">
              <a:lnSpc>
                <a:spcPct val="89143"/>
              </a:lnSpc>
              <a:buNone/>
              <a:defRPr/>
            </a:pPr>
            <a:r>
              <a:rPr lang="en-US" sz="3900">
                <a:solidFill>
                  <a:srgbClr val="DB5817"/>
                </a:solidFill>
                <a:latin typeface="Arial"/>
                <a:ea typeface="Arial"/>
                <a:cs typeface="Arial"/>
              </a:rPr>
              <a:t>4</a:t>
            </a:r>
            <a:endParaRPr lang="en-US" sz="3900"/>
          </a:p>
        </p:txBody>
      </p:sp>
      <p:sp>
        <p:nvSpPr>
          <p:cNvPr id="913435268" name="Text 19"/>
          <p:cNvSpPr/>
          <p:nvPr/>
        </p:nvSpPr>
        <p:spPr bwMode="auto">
          <a:xfrm>
            <a:off x="9410700" y="4567079"/>
            <a:ext cx="2717165" cy="438149"/>
          </a:xfrm>
          <a:prstGeom prst="rect">
            <a:avLst/>
          </a:prstGeom>
          <a:noFill/>
          <a:ln/>
        </p:spPr>
        <p:txBody>
          <a:bodyPr wrap="square" lIns="25400" tIns="25400" rIns="25400" bIns="25400" rtlCol="0" anchor="t">
            <a:normAutofit/>
          </a:bodyPr>
          <a:lstStyle/>
          <a:p>
            <a:pPr marL="0" indent="0" algn="l">
              <a:buNone/>
              <a:defRPr/>
            </a:pPr>
            <a:r>
              <a:rPr lang="en-US" sz="2100" b="1">
                <a:solidFill>
                  <a:srgbClr val="002060"/>
                </a:solidFill>
                <a:latin typeface="Arial"/>
                <a:ea typeface="Arial"/>
                <a:cs typeface="Arial"/>
              </a:rPr>
              <a:t>Match ROS 2</a:t>
            </a:r>
            <a:endParaRPr lang="en-US" sz="2100"/>
          </a:p>
        </p:txBody>
      </p:sp>
      <p:sp>
        <p:nvSpPr>
          <p:cNvPr id="1401981847" name="Text 20"/>
          <p:cNvSpPr/>
          <p:nvPr/>
        </p:nvSpPr>
        <p:spPr bwMode="auto">
          <a:xfrm>
            <a:off x="9410700" y="5062379"/>
            <a:ext cx="2546350" cy="666750"/>
          </a:xfrm>
          <a:prstGeom prst="rect">
            <a:avLst/>
          </a:prstGeom>
          <a:noFill/>
          <a:ln/>
        </p:spPr>
        <p:txBody>
          <a:bodyPr wrap="square" lIns="25400" tIns="25400" rIns="25400" bIns="25400" rtlCol="0" anchor="t">
            <a:normAutofit/>
          </a:bodyPr>
          <a:lstStyle/>
          <a:p>
            <a:pPr marL="0" indent="0" algn="l">
              <a:lnSpc>
                <a:spcPct val="115452"/>
              </a:lnSpc>
              <a:buNone/>
              <a:defRPr/>
            </a:pPr>
            <a:r>
              <a:rPr lang="en-US" sz="1900">
                <a:solidFill>
                  <a:srgbClr val="3A4152"/>
                </a:solidFill>
                <a:latin typeface="Arial"/>
                <a:ea typeface="Arial"/>
                <a:cs typeface="Arial"/>
              </a:rPr>
              <a:t>Domain ID and DDS, then verify.</a:t>
            </a:r>
            <a:endParaRPr lang="en-US" sz="1900"/>
          </a:p>
        </p:txBody>
      </p:sp>
      <p:sp>
        <p:nvSpPr>
          <p:cNvPr id="133592679" name="Shape 21"/>
          <p:cNvSpPr/>
          <p:nvPr/>
        </p:nvSpPr>
        <p:spPr bwMode="auto">
          <a:xfrm>
            <a:off x="12128500" y="3654266"/>
            <a:ext cx="2470150" cy="55562"/>
          </a:xfrm>
          <a:prstGeom prst="rect">
            <a:avLst/>
          </a:prstGeom>
          <a:solidFill>
            <a:srgbClr val="002060">
              <a:alpha val="15999"/>
            </a:srgbClr>
          </a:solidFill>
          <a:ln/>
        </p:spPr>
      </p:sp>
      <p:sp>
        <p:nvSpPr>
          <p:cNvPr id="1120063996" name="Text 22"/>
          <p:cNvSpPr/>
          <p:nvPr/>
        </p:nvSpPr>
        <p:spPr bwMode="auto">
          <a:xfrm>
            <a:off x="12128500" y="3938429"/>
            <a:ext cx="2717165" cy="533400"/>
          </a:xfrm>
          <a:prstGeom prst="rect">
            <a:avLst/>
          </a:prstGeom>
          <a:noFill/>
          <a:ln/>
        </p:spPr>
        <p:txBody>
          <a:bodyPr wrap="square" lIns="25400" tIns="25400" rIns="25400" bIns="25400" rtlCol="0" anchor="t">
            <a:normAutofit/>
          </a:bodyPr>
          <a:lstStyle/>
          <a:p>
            <a:pPr marL="0" indent="0" algn="l">
              <a:lnSpc>
                <a:spcPct val="89143"/>
              </a:lnSpc>
              <a:buNone/>
              <a:defRPr/>
            </a:pPr>
            <a:r>
              <a:rPr lang="en-US" sz="3900">
                <a:solidFill>
                  <a:srgbClr val="DB5817"/>
                </a:solidFill>
                <a:latin typeface="Arial"/>
                <a:ea typeface="Arial"/>
                <a:cs typeface="Arial"/>
              </a:rPr>
              <a:t>5</a:t>
            </a:r>
            <a:endParaRPr lang="en-US" sz="3900"/>
          </a:p>
        </p:txBody>
      </p:sp>
      <p:sp>
        <p:nvSpPr>
          <p:cNvPr id="593662397" name="Text 23"/>
          <p:cNvSpPr/>
          <p:nvPr/>
        </p:nvSpPr>
        <p:spPr bwMode="auto">
          <a:xfrm>
            <a:off x="12128500" y="4567079"/>
            <a:ext cx="2717165" cy="438149"/>
          </a:xfrm>
          <a:prstGeom prst="rect">
            <a:avLst/>
          </a:prstGeom>
          <a:noFill/>
          <a:ln/>
        </p:spPr>
        <p:txBody>
          <a:bodyPr wrap="square" lIns="25400" tIns="25400" rIns="25400" bIns="25400" rtlCol="0" anchor="t">
            <a:normAutofit/>
          </a:bodyPr>
          <a:lstStyle/>
          <a:p>
            <a:pPr marL="0" indent="0" algn="l">
              <a:buNone/>
              <a:defRPr/>
            </a:pPr>
            <a:r>
              <a:rPr lang="en-US" sz="2100" b="1">
                <a:solidFill>
                  <a:srgbClr val="002060"/>
                </a:solidFill>
                <a:latin typeface="Arial"/>
                <a:ea typeface="Arial"/>
                <a:cs typeface="Arial"/>
              </a:rPr>
              <a:t>Drive it</a:t>
            </a:r>
            <a:endParaRPr lang="en-US" sz="2100"/>
          </a:p>
        </p:txBody>
      </p:sp>
      <p:sp>
        <p:nvSpPr>
          <p:cNvPr id="1109038437" name="Text 24"/>
          <p:cNvSpPr/>
          <p:nvPr/>
        </p:nvSpPr>
        <p:spPr bwMode="auto">
          <a:xfrm>
            <a:off x="12128500" y="5062379"/>
            <a:ext cx="2546350" cy="689293"/>
          </a:xfrm>
          <a:prstGeom prst="rect">
            <a:avLst/>
          </a:prstGeom>
          <a:noFill/>
          <a:ln/>
        </p:spPr>
        <p:txBody>
          <a:bodyPr wrap="square" lIns="25400" tIns="25400" rIns="25400" bIns="25400" rtlCol="0" anchor="t">
            <a:normAutofit/>
          </a:bodyPr>
          <a:lstStyle/>
          <a:p>
            <a:pPr marL="0" indent="0" algn="l">
              <a:lnSpc>
                <a:spcPct val="115452"/>
              </a:lnSpc>
              <a:buNone/>
              <a:defRPr/>
            </a:pPr>
            <a:r>
              <a:rPr lang="en-US" sz="1900">
                <a:solidFill>
                  <a:srgbClr val="3A4152"/>
                </a:solidFill>
                <a:latin typeface="Arial"/>
                <a:ea typeface="Arial"/>
                <a:cs typeface="Arial"/>
              </a:rPr>
              <a:t>Keyboard teleop over </a:t>
            </a:r>
            <a:r>
              <a:rPr lang="en-US" sz="1900">
                <a:solidFill>
                  <a:srgbClr val="3A4152"/>
                </a:solidFill>
                <a:latin typeface="Courier New"/>
                <a:ea typeface="Courier New"/>
                <a:cs typeface="Courier New"/>
              </a:rPr>
              <a:t>/cmd_vel </a:t>
            </a:r>
            <a:r>
              <a:rPr lang="en-US" sz="1900">
                <a:solidFill>
                  <a:srgbClr val="3A4152"/>
                </a:solidFill>
                <a:latin typeface="Arial"/>
                <a:ea typeface="Arial"/>
                <a:cs typeface="Arial"/>
              </a:rPr>
              <a:t>.</a:t>
            </a:r>
            <a:endParaRPr lang="en-US" sz="1900"/>
          </a:p>
        </p:txBody>
      </p:sp>
      <p:sp>
        <p:nvSpPr>
          <p:cNvPr id="1111561678" name="Shape 25"/>
          <p:cNvSpPr/>
          <p:nvPr/>
        </p:nvSpPr>
        <p:spPr bwMode="auto">
          <a:xfrm>
            <a:off x="14846300" y="3654266"/>
            <a:ext cx="2470150" cy="55562"/>
          </a:xfrm>
          <a:prstGeom prst="rect">
            <a:avLst/>
          </a:prstGeom>
          <a:solidFill>
            <a:srgbClr val="002060">
              <a:alpha val="15999"/>
            </a:srgbClr>
          </a:solidFill>
          <a:ln/>
        </p:spPr>
      </p:sp>
      <p:sp>
        <p:nvSpPr>
          <p:cNvPr id="1161586698" name="Text 26"/>
          <p:cNvSpPr/>
          <p:nvPr/>
        </p:nvSpPr>
        <p:spPr bwMode="auto">
          <a:xfrm>
            <a:off x="14846300" y="3938429"/>
            <a:ext cx="2717165" cy="533400"/>
          </a:xfrm>
          <a:prstGeom prst="rect">
            <a:avLst/>
          </a:prstGeom>
          <a:noFill/>
          <a:ln/>
        </p:spPr>
        <p:txBody>
          <a:bodyPr wrap="square" lIns="25400" tIns="25400" rIns="25400" bIns="25400" rtlCol="0" anchor="t">
            <a:normAutofit/>
          </a:bodyPr>
          <a:lstStyle/>
          <a:p>
            <a:pPr marL="0" indent="0" algn="l">
              <a:lnSpc>
                <a:spcPct val="89143"/>
              </a:lnSpc>
              <a:buNone/>
              <a:defRPr/>
            </a:pPr>
            <a:r>
              <a:rPr lang="en-US" sz="3900">
                <a:solidFill>
                  <a:srgbClr val="DB5817"/>
                </a:solidFill>
                <a:latin typeface="Arial"/>
                <a:ea typeface="Arial"/>
                <a:cs typeface="Arial"/>
              </a:rPr>
              <a:t>6</a:t>
            </a:r>
            <a:endParaRPr lang="en-US" sz="3900"/>
          </a:p>
        </p:txBody>
      </p:sp>
      <p:sp>
        <p:nvSpPr>
          <p:cNvPr id="2019740584" name="Text 27"/>
          <p:cNvSpPr/>
          <p:nvPr/>
        </p:nvSpPr>
        <p:spPr bwMode="auto">
          <a:xfrm>
            <a:off x="14846300" y="4567079"/>
            <a:ext cx="2717165" cy="438149"/>
          </a:xfrm>
          <a:prstGeom prst="rect">
            <a:avLst/>
          </a:prstGeom>
          <a:noFill/>
          <a:ln/>
        </p:spPr>
        <p:txBody>
          <a:bodyPr wrap="square" lIns="25400" tIns="25400" rIns="25400" bIns="25400" rtlCol="0" anchor="t">
            <a:normAutofit/>
          </a:bodyPr>
          <a:lstStyle/>
          <a:p>
            <a:pPr marL="0" indent="0" algn="l">
              <a:buNone/>
              <a:defRPr/>
            </a:pPr>
            <a:r>
              <a:rPr lang="en-US" sz="2100" b="1">
                <a:solidFill>
                  <a:srgbClr val="002060"/>
                </a:solidFill>
                <a:latin typeface="Arial"/>
                <a:ea typeface="Arial"/>
                <a:cs typeface="Arial"/>
              </a:rPr>
              <a:t>Exercise</a:t>
            </a:r>
            <a:endParaRPr lang="en-US" sz="2100"/>
          </a:p>
        </p:txBody>
      </p:sp>
      <p:sp>
        <p:nvSpPr>
          <p:cNvPr id="893865732" name="Text 28"/>
          <p:cNvSpPr/>
          <p:nvPr/>
        </p:nvSpPr>
        <p:spPr bwMode="auto">
          <a:xfrm>
            <a:off x="14846300" y="5062379"/>
            <a:ext cx="2546350" cy="666750"/>
          </a:xfrm>
          <a:prstGeom prst="rect">
            <a:avLst/>
          </a:prstGeom>
          <a:noFill/>
          <a:ln/>
        </p:spPr>
        <p:txBody>
          <a:bodyPr wrap="square" lIns="25400" tIns="25400" rIns="25400" bIns="25400" rtlCol="0" anchor="t">
            <a:normAutofit/>
          </a:bodyPr>
          <a:lstStyle/>
          <a:p>
            <a:pPr marL="0" indent="0" algn="l">
              <a:lnSpc>
                <a:spcPct val="115452"/>
              </a:lnSpc>
              <a:buNone/>
              <a:defRPr/>
            </a:pPr>
            <a:r>
              <a:rPr lang="en-US" sz="1900">
                <a:solidFill>
                  <a:srgbClr val="3A4152"/>
                </a:solidFill>
                <a:latin typeface="Arial"/>
                <a:ea typeface="Arial"/>
                <a:cs typeface="Arial"/>
              </a:rPr>
              <a:t>Drive it from the dashboard instead.</a:t>
            </a:r>
            <a:endParaRPr lang="en-US" sz="1900"/>
          </a:p>
        </p:txBody>
      </p:sp>
      <p:sp>
        <p:nvSpPr>
          <p:cNvPr id="596514824" name="Shape 29"/>
          <p:cNvSpPr/>
          <p:nvPr/>
        </p:nvSpPr>
        <p:spPr bwMode="auto">
          <a:xfrm>
            <a:off x="1257300" y="6376829"/>
            <a:ext cx="15160625" cy="1230630"/>
          </a:xfrm>
          <a:prstGeom prst="roundRect">
            <a:avLst>
              <a:gd name="adj" fmla="val 6192"/>
            </a:avLst>
          </a:prstGeom>
          <a:solidFill>
            <a:srgbClr val="F3E2CD"/>
          </a:solidFill>
          <a:ln/>
        </p:spPr>
      </p:sp>
      <p:sp>
        <p:nvSpPr>
          <p:cNvPr id="1553275623" name="Shape 30"/>
          <p:cNvSpPr/>
          <p:nvPr/>
        </p:nvSpPr>
        <p:spPr bwMode="auto">
          <a:xfrm>
            <a:off x="1257300" y="6376829"/>
            <a:ext cx="111125" cy="1230630"/>
          </a:xfrm>
          <a:prstGeom prst="rect">
            <a:avLst/>
          </a:prstGeom>
          <a:solidFill>
            <a:srgbClr val="DB5817"/>
          </a:solidFill>
          <a:ln/>
        </p:spPr>
      </p:sp>
      <p:sp>
        <p:nvSpPr>
          <p:cNvPr id="831978903" name="Text 31"/>
          <p:cNvSpPr/>
          <p:nvPr/>
        </p:nvSpPr>
        <p:spPr bwMode="auto">
          <a:xfrm>
            <a:off x="1654175" y="6605429"/>
            <a:ext cx="347504" cy="426720"/>
          </a:xfrm>
          <a:prstGeom prst="rect">
            <a:avLst/>
          </a:prstGeom>
          <a:noFill/>
          <a:ln/>
        </p:spPr>
        <p:txBody>
          <a:bodyPr wrap="square" lIns="25400" tIns="25400" rIns="25400" bIns="25400" rtlCol="0" anchor="t">
            <a:normAutofit/>
          </a:bodyPr>
          <a:lstStyle/>
          <a:p>
            <a:pPr marL="0" indent="0" algn="l">
              <a:lnSpc>
                <a:spcPct val="105973"/>
              </a:lnSpc>
              <a:buNone/>
              <a:defRPr/>
            </a:pPr>
            <a:r>
              <a:rPr lang="en-US" sz="2550">
                <a:solidFill>
                  <a:srgbClr val="DB5817"/>
                </a:solidFill>
                <a:latin typeface="Arial"/>
                <a:ea typeface="Arial"/>
                <a:cs typeface="Arial"/>
              </a:rPr>
              <a:t>→</a:t>
            </a:r>
            <a:endParaRPr lang="en-US" sz="2550"/>
          </a:p>
        </p:txBody>
      </p:sp>
      <p:sp>
        <p:nvSpPr>
          <p:cNvPr id="619146095" name="Text 32"/>
          <p:cNvSpPr/>
          <p:nvPr/>
        </p:nvSpPr>
        <p:spPr bwMode="auto">
          <a:xfrm>
            <a:off x="2135029" y="6605429"/>
            <a:ext cx="14417060" cy="811530"/>
          </a:xfrm>
          <a:prstGeom prst="rect">
            <a:avLst/>
          </a:prstGeom>
          <a:noFill/>
          <a:ln/>
        </p:spPr>
        <p:txBody>
          <a:bodyPr wrap="square" lIns="25400" tIns="25400" rIns="25400" bIns="25400" rtlCol="0" anchor="t">
            <a:normAutofit/>
          </a:bodyPr>
          <a:lstStyle/>
          <a:p>
            <a:pPr marL="0" indent="0" algn="l">
              <a:lnSpc>
                <a:spcPct val="122105"/>
              </a:lnSpc>
              <a:buNone/>
              <a:defRPr/>
            </a:pPr>
            <a:r>
              <a:rPr lang="en-US" sz="2200" b="1">
                <a:solidFill>
                  <a:srgbClr val="002060"/>
                </a:solidFill>
                <a:latin typeface="Arial"/>
                <a:ea typeface="Arial"/>
                <a:cs typeface="Arial"/>
              </a:rPr>
              <a:t>You are connected </a:t>
            </a:r>
            <a:r>
              <a:rPr lang="en-US" sz="2200">
                <a:solidFill>
                  <a:srgbClr val="14161C"/>
                </a:solidFill>
                <a:latin typeface="Arial"/>
                <a:ea typeface="Arial"/>
                <a:cs typeface="Arial"/>
              </a:rPr>
              <a:t>when </a:t>
            </a:r>
            <a:r>
              <a:rPr lang="en-US" sz="2050">
                <a:solidFill>
                  <a:srgbClr val="14161C"/>
                </a:solidFill>
                <a:latin typeface="Courier New"/>
                <a:ea typeface="Courier New"/>
                <a:cs typeface="Courier New"/>
              </a:rPr>
              <a:t>ros2 topic list </a:t>
            </a:r>
            <a:r>
              <a:rPr lang="en-US" sz="2200">
                <a:solidFill>
                  <a:srgbClr val="14161C"/>
                </a:solidFill>
                <a:latin typeface="Arial"/>
                <a:ea typeface="Arial"/>
                <a:cs typeface="Arial"/>
              </a:rPr>
              <a:t>on your own laptop prints the robot's topics. </a:t>
            </a:r>
            <a:r>
              <a:rPr lang="en-US" sz="2200" b="1">
                <a:solidFill>
                  <a:srgbClr val="002060"/>
                </a:solidFill>
                <a:latin typeface="Arial"/>
                <a:ea typeface="Arial"/>
                <a:cs typeface="Arial"/>
              </a:rPr>
              <a:t>You are finished </a:t>
            </a:r>
            <a:r>
              <a:rPr lang="en-US" sz="2200">
                <a:solidFill>
                  <a:srgbClr val="14161C"/>
                </a:solidFill>
                <a:latin typeface="Arial"/>
                <a:ea typeface="Arial"/>
                <a:cs typeface="Arial"/>
              </a:rPr>
              <a:t>when the robot moves.</a:t>
            </a:r>
            <a:endParaRPr lang="en-US" sz="2200"/>
          </a:p>
        </p:txBody>
      </p:sp>
      <p:pic>
        <p:nvPicPr>
          <p:cNvPr id="557169479" name="Image 1" descr="preencoded.png"/>
          <p:cNvPicPr>
            <a:picLocks noChangeAspect="1"/>
          </p:cNvPicPr>
          <p:nvPr/>
        </p:nvPicPr>
        <p:blipFill rotWithShape="1">
          <a:blip r:embed="rId4"/>
          <a:stretch/>
        </p:blipFill>
        <p:spPr bwMode="auto">
          <a:xfrm>
            <a:off x="17524730" y="9561512"/>
            <a:ext cx="134620" cy="34448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bg>
      <p:bgPr shadeToTitle="0">
        <a:solidFill>
          <a:srgbClr val="FFFFFF"/>
        </a:solidFill>
      </p:bgPr>
    </p:bg>
    <p:spTree>
      <p:nvGrpSpPr>
        <p:cNvPr id="1" name=""/>
        <p:cNvGrpSpPr/>
        <p:nvPr/>
      </p:nvGrpSpPr>
      <p:grpSpPr bwMode="auto">
        <a:xfrm>
          <a:off x="0" y="0"/>
          <a:ext cx="0" cy="0"/>
          <a:chOff x="0" y="0"/>
          <a:chExt cx="0" cy="0"/>
        </a:xfrm>
      </p:grpSpPr>
      <p:sp>
        <p:nvSpPr>
          <p:cNvPr id="1126693567" name="Shape 0"/>
          <p:cNvSpPr/>
          <p:nvPr/>
        </p:nvSpPr>
        <p:spPr bwMode="auto">
          <a:xfrm>
            <a:off x="971550" y="0"/>
            <a:ext cx="28575" cy="10287000"/>
          </a:xfrm>
          <a:prstGeom prst="rect">
            <a:avLst/>
          </a:prstGeom>
          <a:solidFill>
            <a:srgbClr val="002060">
              <a:alpha val="15999"/>
            </a:srgbClr>
          </a:solidFill>
          <a:ln/>
        </p:spPr>
      </p:sp>
      <p:sp>
        <p:nvSpPr>
          <p:cNvPr id="604848496" name="Shape 1"/>
          <p:cNvSpPr/>
          <p:nvPr/>
        </p:nvSpPr>
        <p:spPr bwMode="auto">
          <a:xfrm>
            <a:off x="971550" y="1009650"/>
            <a:ext cx="16687800" cy="28575"/>
          </a:xfrm>
          <a:prstGeom prst="rect">
            <a:avLst/>
          </a:prstGeom>
          <a:solidFill>
            <a:srgbClr val="002060">
              <a:alpha val="15999"/>
            </a:srgbClr>
          </a:solidFill>
          <a:ln/>
        </p:spPr>
      </p:sp>
      <p:pic>
        <p:nvPicPr>
          <p:cNvPr id="952886685" name="Image 0" descr="preencoded.png"/>
          <p:cNvPicPr>
            <a:picLocks noChangeAspect="1"/>
          </p:cNvPicPr>
          <p:nvPr/>
        </p:nvPicPr>
        <p:blipFill rotWithShape="1">
          <a:blip r:embed="rId3"/>
          <a:stretch/>
        </p:blipFill>
        <p:spPr bwMode="auto">
          <a:xfrm>
            <a:off x="1257300" y="209550"/>
            <a:ext cx="779621" cy="647700"/>
          </a:xfrm>
          <a:prstGeom prst="rect">
            <a:avLst/>
          </a:prstGeom>
        </p:spPr>
      </p:pic>
      <p:sp>
        <p:nvSpPr>
          <p:cNvPr id="697602639" name="Text 2"/>
          <p:cNvSpPr/>
          <p:nvPr/>
        </p:nvSpPr>
        <p:spPr bwMode="auto">
          <a:xfrm>
            <a:off x="14455616" y="400050"/>
            <a:ext cx="3524107" cy="393700"/>
          </a:xfrm>
          <a:prstGeom prst="rect">
            <a:avLst/>
          </a:prstGeom>
          <a:noFill/>
          <a:ln/>
        </p:spPr>
        <p:txBody>
          <a:bodyPr wrap="square" lIns="25400" tIns="25400" rIns="25400" bIns="25400" rtlCol="0" anchor="t">
            <a:normAutofit/>
          </a:bodyPr>
          <a:lstStyle/>
          <a:p>
            <a:pPr marL="0" indent="0" algn="l">
              <a:buNone/>
              <a:defRPr/>
            </a:pPr>
            <a:r>
              <a:rPr lang="en-US" sz="1900" spc="75">
                <a:solidFill>
                  <a:srgbClr val="DB5817"/>
                </a:solidFill>
                <a:latin typeface="Arial"/>
                <a:ea typeface="Arial"/>
                <a:cs typeface="Arial"/>
              </a:rPr>
              <a:t>www.centex-sarawak.my</a:t>
            </a:r>
            <a:endParaRPr lang="en-US" sz="1900"/>
          </a:p>
        </p:txBody>
      </p:sp>
      <p:sp>
        <p:nvSpPr>
          <p:cNvPr id="339562005" name="Text 3"/>
          <p:cNvSpPr/>
          <p:nvPr/>
        </p:nvSpPr>
        <p:spPr bwMode="auto">
          <a:xfrm>
            <a:off x="1257300" y="1905000"/>
            <a:ext cx="17665065" cy="410369"/>
          </a:xfrm>
          <a:prstGeom prst="rect">
            <a:avLst/>
          </a:prstGeom>
          <a:noFill/>
          <a:ln/>
        </p:spPr>
        <p:txBody>
          <a:bodyPr wrap="square" lIns="25400" tIns="25400" rIns="25400" bIns="25400" rtlCol="0" anchor="t">
            <a:normAutofit/>
          </a:bodyPr>
          <a:lstStyle/>
          <a:p>
            <a:pPr marL="0" indent="0" algn="l">
              <a:buNone/>
              <a:defRPr/>
            </a:pPr>
            <a:r>
              <a:rPr lang="en-US" sz="1950" b="1" spc="311">
                <a:solidFill>
                  <a:srgbClr val="DB5817"/>
                </a:solidFill>
                <a:latin typeface="Arial"/>
                <a:ea typeface="Arial"/>
                <a:cs typeface="Arial"/>
              </a:rPr>
              <a:t>KNOW YOUR HARDWARE</a:t>
            </a:r>
            <a:endParaRPr lang="en-US" sz="1950"/>
          </a:p>
        </p:txBody>
      </p:sp>
      <p:sp>
        <p:nvSpPr>
          <p:cNvPr id="910334306" name="Text 4"/>
          <p:cNvSpPr/>
          <p:nvPr/>
        </p:nvSpPr>
        <p:spPr bwMode="auto">
          <a:xfrm>
            <a:off x="1257300" y="2486819"/>
            <a:ext cx="17665065" cy="805497"/>
          </a:xfrm>
          <a:prstGeom prst="rect">
            <a:avLst/>
          </a:prstGeom>
          <a:noFill/>
          <a:ln/>
        </p:spPr>
        <p:txBody>
          <a:bodyPr wrap="square" lIns="25400" tIns="25400" rIns="25400" bIns="25400" rtlCol="0" anchor="t">
            <a:normAutofit/>
          </a:bodyPr>
          <a:lstStyle/>
          <a:p>
            <a:pPr marL="0" indent="0" algn="l">
              <a:lnSpc>
                <a:spcPct val="94599"/>
              </a:lnSpc>
              <a:buNone/>
              <a:defRPr/>
            </a:pPr>
            <a:r>
              <a:rPr lang="en-US" sz="5700" b="1" spc="-57">
                <a:solidFill>
                  <a:srgbClr val="002060"/>
                </a:solidFill>
                <a:latin typeface="Arial"/>
                <a:ea typeface="Arial"/>
                <a:cs typeface="Arial"/>
              </a:rPr>
              <a:t>The robot, part by part</a:t>
            </a:r>
            <a:endParaRPr lang="en-US" sz="5700"/>
          </a:p>
        </p:txBody>
      </p:sp>
      <p:sp>
        <p:nvSpPr>
          <p:cNvPr id="1661317197" name="Shape 5"/>
          <p:cNvSpPr/>
          <p:nvPr/>
        </p:nvSpPr>
        <p:spPr bwMode="auto">
          <a:xfrm flipH="0" flipV="0">
            <a:off x="1257300" y="3929062"/>
            <a:ext cx="6858000" cy="5149452"/>
          </a:xfrm>
          <a:prstGeom prst="roundRect">
            <a:avLst>
              <a:gd name="adj" fmla="val 1935"/>
            </a:avLst>
          </a:prstGeom>
          <a:solidFill>
            <a:srgbClr val="F3E2CD"/>
          </a:solidFill>
          <a:ln/>
        </p:spPr>
      </p:sp>
      <p:sp>
        <p:nvSpPr>
          <p:cNvPr id="802032228" name="Shape 6"/>
          <p:cNvSpPr/>
          <p:nvPr/>
        </p:nvSpPr>
        <p:spPr bwMode="auto">
          <a:xfrm>
            <a:off x="8610600" y="3654266"/>
            <a:ext cx="419100" cy="419100"/>
          </a:xfrm>
          <a:prstGeom prst="ellipse">
            <a:avLst/>
          </a:prstGeom>
          <a:solidFill>
            <a:srgbClr val="002060"/>
          </a:solidFill>
          <a:ln/>
        </p:spPr>
      </p:sp>
      <p:sp>
        <p:nvSpPr>
          <p:cNvPr id="706781107" name="Text 7"/>
          <p:cNvSpPr/>
          <p:nvPr/>
        </p:nvSpPr>
        <p:spPr bwMode="auto">
          <a:xfrm>
            <a:off x="8572500" y="3654266"/>
            <a:ext cx="495300" cy="457200"/>
          </a:xfrm>
          <a:prstGeom prst="rect">
            <a:avLst/>
          </a:prstGeom>
          <a:noFill/>
          <a:ln/>
        </p:spPr>
        <p:txBody>
          <a:bodyPr wrap="square" lIns="25400" tIns="25400" rIns="25400" bIns="25400" rtlCol="0" anchor="ctr">
            <a:normAutofit/>
          </a:bodyPr>
          <a:lstStyle/>
          <a:p>
            <a:pPr marL="0" indent="0" algn="ctr">
              <a:buNone/>
              <a:defRPr/>
            </a:pPr>
            <a:r>
              <a:rPr lang="en-US" sz="1800" b="1">
                <a:solidFill>
                  <a:srgbClr val="FFFFFF"/>
                </a:solidFill>
                <a:latin typeface="Arial"/>
                <a:ea typeface="Arial"/>
                <a:cs typeface="Arial"/>
              </a:rPr>
              <a:t>1</a:t>
            </a:r>
            <a:endParaRPr lang="en-US" sz="1800"/>
          </a:p>
        </p:txBody>
      </p:sp>
      <p:sp>
        <p:nvSpPr>
          <p:cNvPr id="336232688" name="Text 8"/>
          <p:cNvSpPr/>
          <p:nvPr/>
        </p:nvSpPr>
        <p:spPr bwMode="auto">
          <a:xfrm>
            <a:off x="9182100" y="3665379"/>
            <a:ext cx="718185" cy="399256"/>
          </a:xfrm>
          <a:prstGeom prst="rect">
            <a:avLst/>
          </a:prstGeom>
          <a:noFill/>
          <a:ln/>
        </p:spPr>
        <p:txBody>
          <a:bodyPr wrap="square" lIns="25400" tIns="25400" rIns="25400" bIns="25400" rtlCol="0" anchor="t">
            <a:normAutofit/>
          </a:bodyPr>
          <a:lstStyle/>
          <a:p>
            <a:pPr marL="0" indent="0" algn="l">
              <a:buNone/>
              <a:defRPr/>
            </a:pPr>
            <a:r>
              <a:rPr lang="en-US" sz="2050" b="1">
                <a:solidFill>
                  <a:srgbClr val="002060"/>
                </a:solidFill>
                <a:latin typeface="Arial"/>
                <a:ea typeface="Arial"/>
                <a:cs typeface="Arial"/>
              </a:rPr>
              <a:t>Lidar</a:t>
            </a:r>
            <a:endParaRPr lang="en-US" sz="2050"/>
          </a:p>
        </p:txBody>
      </p:sp>
      <p:sp>
        <p:nvSpPr>
          <p:cNvPr id="1963506073" name="Text 9"/>
          <p:cNvSpPr/>
          <p:nvPr/>
        </p:nvSpPr>
        <p:spPr bwMode="auto">
          <a:xfrm>
            <a:off x="9182100" y="4047331"/>
            <a:ext cx="2451100" cy="315912"/>
          </a:xfrm>
          <a:prstGeom prst="rect">
            <a:avLst/>
          </a:prstGeom>
          <a:noFill/>
          <a:ln/>
        </p:spPr>
        <p:txBody>
          <a:bodyPr wrap="square" lIns="0" tIns="0" rIns="0" bIns="0" rtlCol="0" anchor="t">
            <a:normAutofit/>
          </a:bodyPr>
          <a:lstStyle/>
          <a:p>
            <a:pPr marL="0" indent="0" algn="l">
              <a:lnSpc>
                <a:spcPct val="113799"/>
              </a:lnSpc>
              <a:buNone/>
              <a:defRPr/>
            </a:pPr>
            <a:r>
              <a:rPr lang="en-US" sz="1800">
                <a:solidFill>
                  <a:srgbClr val="3A4152"/>
                </a:solidFill>
                <a:latin typeface="Arial"/>
                <a:ea typeface="Arial"/>
                <a:cs typeface="Arial"/>
              </a:rPr>
              <a:t>Spins on top. Publishes</a:t>
            </a:r>
            <a:endParaRPr lang="en-US" sz="1800"/>
          </a:p>
        </p:txBody>
      </p:sp>
      <p:sp>
        <p:nvSpPr>
          <p:cNvPr id="548269725" name="Text 10"/>
          <p:cNvSpPr/>
          <p:nvPr/>
        </p:nvSpPr>
        <p:spPr bwMode="auto">
          <a:xfrm>
            <a:off x="9182100" y="4334828"/>
            <a:ext cx="2612390" cy="335280"/>
          </a:xfrm>
          <a:prstGeom prst="rect">
            <a:avLst/>
          </a:prstGeom>
          <a:noFill/>
          <a:ln/>
        </p:spPr>
        <p:txBody>
          <a:bodyPr wrap="square" lIns="25400" tIns="25400" rIns="25400" bIns="25400" rtlCol="0" anchor="t">
            <a:normAutofit/>
          </a:bodyPr>
          <a:lstStyle/>
          <a:p>
            <a:pPr marL="0" indent="0" algn="l">
              <a:lnSpc>
                <a:spcPct val="111429"/>
              </a:lnSpc>
              <a:buNone/>
              <a:defRPr/>
            </a:pPr>
            <a:r>
              <a:rPr lang="en-US" sz="1800">
                <a:solidFill>
                  <a:srgbClr val="3A4152"/>
                </a:solidFill>
                <a:latin typeface="Courier New"/>
                <a:ea typeface="Courier New"/>
                <a:cs typeface="Courier New"/>
              </a:rPr>
              <a:t>/scan</a:t>
            </a:r>
            <a:endParaRPr lang="en-US" sz="1800"/>
          </a:p>
        </p:txBody>
      </p:sp>
      <p:sp>
        <p:nvSpPr>
          <p:cNvPr id="1260978935" name="Text 11"/>
          <p:cNvSpPr/>
          <p:nvPr/>
        </p:nvSpPr>
        <p:spPr bwMode="auto">
          <a:xfrm>
            <a:off x="9182100" y="4641691"/>
            <a:ext cx="136525" cy="315913"/>
          </a:xfrm>
          <a:prstGeom prst="rect">
            <a:avLst/>
          </a:prstGeom>
          <a:noFill/>
          <a:ln/>
        </p:spPr>
        <p:txBody>
          <a:bodyPr wrap="square" lIns="0" tIns="0" rIns="0" bIns="0" rtlCol="0" anchor="t">
            <a:normAutofit/>
          </a:bodyPr>
          <a:lstStyle/>
          <a:p>
            <a:pPr marL="0" indent="0" algn="l">
              <a:lnSpc>
                <a:spcPct val="113799"/>
              </a:lnSpc>
              <a:buNone/>
              <a:defRPr/>
            </a:pPr>
            <a:r>
              <a:rPr lang="en-US" sz="1800">
                <a:solidFill>
                  <a:srgbClr val="3A4152"/>
                </a:solidFill>
                <a:latin typeface="Arial"/>
                <a:ea typeface="Arial"/>
                <a:cs typeface="Arial"/>
              </a:rPr>
              <a:t>.</a:t>
            </a:r>
            <a:endParaRPr lang="en-US" sz="1800"/>
          </a:p>
        </p:txBody>
      </p:sp>
      <p:sp>
        <p:nvSpPr>
          <p:cNvPr id="716338931" name="Shape 12"/>
          <p:cNvSpPr/>
          <p:nvPr/>
        </p:nvSpPr>
        <p:spPr bwMode="auto">
          <a:xfrm>
            <a:off x="13134975" y="3654266"/>
            <a:ext cx="419100" cy="419100"/>
          </a:xfrm>
          <a:prstGeom prst="ellipse">
            <a:avLst/>
          </a:prstGeom>
          <a:solidFill>
            <a:srgbClr val="002060"/>
          </a:solidFill>
          <a:ln/>
        </p:spPr>
      </p:sp>
      <p:sp>
        <p:nvSpPr>
          <p:cNvPr id="1427208863" name="Text 13"/>
          <p:cNvSpPr/>
          <p:nvPr/>
        </p:nvSpPr>
        <p:spPr bwMode="auto">
          <a:xfrm>
            <a:off x="13096875" y="3654266"/>
            <a:ext cx="495300" cy="457200"/>
          </a:xfrm>
          <a:prstGeom prst="rect">
            <a:avLst/>
          </a:prstGeom>
          <a:noFill/>
          <a:ln/>
        </p:spPr>
        <p:txBody>
          <a:bodyPr wrap="square" lIns="25400" tIns="25400" rIns="25400" bIns="25400" rtlCol="0" anchor="ctr">
            <a:normAutofit/>
          </a:bodyPr>
          <a:lstStyle/>
          <a:p>
            <a:pPr marL="0" indent="0" algn="ctr">
              <a:buNone/>
              <a:defRPr/>
            </a:pPr>
            <a:r>
              <a:rPr lang="en-US" sz="1800" b="1">
                <a:solidFill>
                  <a:srgbClr val="FFFFFF"/>
                </a:solidFill>
                <a:latin typeface="Arial"/>
                <a:ea typeface="Arial"/>
                <a:cs typeface="Arial"/>
              </a:rPr>
              <a:t>2</a:t>
            </a:r>
            <a:endParaRPr lang="en-US" sz="1800"/>
          </a:p>
        </p:txBody>
      </p:sp>
      <p:sp>
        <p:nvSpPr>
          <p:cNvPr id="1541214589" name="Text 14"/>
          <p:cNvSpPr/>
          <p:nvPr/>
        </p:nvSpPr>
        <p:spPr bwMode="auto">
          <a:xfrm>
            <a:off x="13706475" y="3665379"/>
            <a:ext cx="1802654" cy="399256"/>
          </a:xfrm>
          <a:prstGeom prst="rect">
            <a:avLst/>
          </a:prstGeom>
          <a:noFill/>
          <a:ln/>
        </p:spPr>
        <p:txBody>
          <a:bodyPr wrap="square" lIns="25400" tIns="25400" rIns="25400" bIns="25400" rtlCol="0" anchor="t">
            <a:normAutofit/>
          </a:bodyPr>
          <a:lstStyle/>
          <a:p>
            <a:pPr marL="0" indent="0" algn="l">
              <a:buNone/>
              <a:defRPr/>
            </a:pPr>
            <a:r>
              <a:rPr lang="en-US" sz="2050" b="1">
                <a:solidFill>
                  <a:srgbClr val="002060"/>
                </a:solidFill>
                <a:latin typeface="Arial"/>
                <a:ea typeface="Arial"/>
                <a:cs typeface="Arial"/>
              </a:rPr>
              <a:t>Raspberry Pi</a:t>
            </a:r>
            <a:endParaRPr lang="en-US" sz="2050"/>
          </a:p>
        </p:txBody>
      </p:sp>
      <p:sp>
        <p:nvSpPr>
          <p:cNvPr id="1985357751" name="Text 15"/>
          <p:cNvSpPr/>
          <p:nvPr/>
        </p:nvSpPr>
        <p:spPr bwMode="auto">
          <a:xfrm>
            <a:off x="13706475" y="4037647"/>
            <a:ext cx="3718274" cy="632459"/>
          </a:xfrm>
          <a:prstGeom prst="rect">
            <a:avLst/>
          </a:prstGeom>
          <a:noFill/>
          <a:ln/>
        </p:spPr>
        <p:txBody>
          <a:bodyPr wrap="square" lIns="25400" tIns="25400" rIns="25400" bIns="25400" rtlCol="0" anchor="t">
            <a:normAutofit/>
          </a:bodyPr>
          <a:lstStyle/>
          <a:p>
            <a:pPr marL="0" indent="0" algn="l">
              <a:lnSpc>
                <a:spcPct val="113799"/>
              </a:lnSpc>
              <a:buNone/>
              <a:defRPr/>
            </a:pPr>
            <a:r>
              <a:rPr lang="en-US" sz="1800">
                <a:solidFill>
                  <a:srgbClr val="3A4152"/>
                </a:solidFill>
                <a:latin typeface="Arial"/>
                <a:ea typeface="Arial"/>
                <a:cs typeface="Arial"/>
              </a:rPr>
              <a:t>The brain. This is what you SSH into.</a:t>
            </a:r>
            <a:endParaRPr lang="en-US" sz="1800"/>
          </a:p>
        </p:txBody>
      </p:sp>
      <p:sp>
        <p:nvSpPr>
          <p:cNvPr id="1677096010" name="Shape 16"/>
          <p:cNvSpPr/>
          <p:nvPr/>
        </p:nvSpPr>
        <p:spPr bwMode="auto">
          <a:xfrm>
            <a:off x="8610600" y="5119688"/>
            <a:ext cx="419100" cy="419100"/>
          </a:xfrm>
          <a:prstGeom prst="ellipse">
            <a:avLst/>
          </a:prstGeom>
          <a:solidFill>
            <a:srgbClr val="002060"/>
          </a:solidFill>
          <a:ln/>
        </p:spPr>
      </p:sp>
      <p:sp>
        <p:nvSpPr>
          <p:cNvPr id="826905574" name="Text 17"/>
          <p:cNvSpPr/>
          <p:nvPr/>
        </p:nvSpPr>
        <p:spPr bwMode="auto">
          <a:xfrm>
            <a:off x="8572500" y="5119688"/>
            <a:ext cx="495300" cy="457200"/>
          </a:xfrm>
          <a:prstGeom prst="rect">
            <a:avLst/>
          </a:prstGeom>
          <a:noFill/>
          <a:ln/>
        </p:spPr>
        <p:txBody>
          <a:bodyPr wrap="square" lIns="25400" tIns="25400" rIns="25400" bIns="25400" rtlCol="0" anchor="ctr">
            <a:normAutofit/>
          </a:bodyPr>
          <a:lstStyle/>
          <a:p>
            <a:pPr marL="0" indent="0" algn="ctr">
              <a:buNone/>
              <a:defRPr/>
            </a:pPr>
            <a:r>
              <a:rPr lang="en-US" sz="1800" b="1">
                <a:solidFill>
                  <a:srgbClr val="FFFFFF"/>
                </a:solidFill>
                <a:latin typeface="Arial"/>
                <a:ea typeface="Arial"/>
                <a:cs typeface="Arial"/>
              </a:rPr>
              <a:t>3</a:t>
            </a:r>
            <a:endParaRPr lang="en-US" sz="1800"/>
          </a:p>
        </p:txBody>
      </p:sp>
      <p:sp>
        <p:nvSpPr>
          <p:cNvPr id="195645898" name="Text 18"/>
          <p:cNvSpPr/>
          <p:nvPr/>
        </p:nvSpPr>
        <p:spPr bwMode="auto">
          <a:xfrm>
            <a:off x="9182100" y="5130800"/>
            <a:ext cx="1976057" cy="399256"/>
          </a:xfrm>
          <a:prstGeom prst="rect">
            <a:avLst/>
          </a:prstGeom>
          <a:noFill/>
          <a:ln/>
        </p:spPr>
        <p:txBody>
          <a:bodyPr wrap="square" lIns="25400" tIns="25400" rIns="25400" bIns="25400" rtlCol="0" anchor="t">
            <a:normAutofit/>
          </a:bodyPr>
          <a:lstStyle/>
          <a:p>
            <a:pPr marL="0" indent="0" algn="l">
              <a:buNone/>
              <a:defRPr/>
            </a:pPr>
            <a:r>
              <a:rPr lang="en-US" sz="2050" b="1">
                <a:solidFill>
                  <a:srgbClr val="002060"/>
                </a:solidFill>
                <a:latin typeface="Arial"/>
                <a:ea typeface="Arial"/>
                <a:cs typeface="Arial"/>
              </a:rPr>
              <a:t>Arduino Nano</a:t>
            </a:r>
            <a:endParaRPr lang="en-US" sz="2050"/>
          </a:p>
        </p:txBody>
      </p:sp>
      <p:sp>
        <p:nvSpPr>
          <p:cNvPr id="2123243406" name="Text 19"/>
          <p:cNvSpPr/>
          <p:nvPr/>
        </p:nvSpPr>
        <p:spPr bwMode="auto">
          <a:xfrm>
            <a:off x="9182100" y="5503069"/>
            <a:ext cx="3718274" cy="632459"/>
          </a:xfrm>
          <a:prstGeom prst="rect">
            <a:avLst/>
          </a:prstGeom>
          <a:noFill/>
          <a:ln/>
        </p:spPr>
        <p:txBody>
          <a:bodyPr wrap="square" lIns="25400" tIns="25400" rIns="25400" bIns="25400" rtlCol="0" anchor="t">
            <a:normAutofit/>
          </a:bodyPr>
          <a:lstStyle/>
          <a:p>
            <a:pPr marL="0" indent="0" algn="l">
              <a:lnSpc>
                <a:spcPct val="113799"/>
              </a:lnSpc>
              <a:buNone/>
              <a:defRPr/>
            </a:pPr>
            <a:r>
              <a:rPr lang="en-US" sz="1800">
                <a:solidFill>
                  <a:srgbClr val="3A4152"/>
                </a:solidFill>
                <a:latin typeface="Arial"/>
                <a:ea typeface="Arial"/>
                <a:cs typeface="Arial"/>
              </a:rPr>
              <a:t>Drives the motors, reads the encoders.</a:t>
            </a:r>
            <a:endParaRPr lang="en-US" sz="1800"/>
          </a:p>
        </p:txBody>
      </p:sp>
      <p:sp>
        <p:nvSpPr>
          <p:cNvPr id="121710971" name="Shape 20"/>
          <p:cNvSpPr/>
          <p:nvPr/>
        </p:nvSpPr>
        <p:spPr bwMode="auto">
          <a:xfrm>
            <a:off x="13134975" y="5119688"/>
            <a:ext cx="419100" cy="419100"/>
          </a:xfrm>
          <a:prstGeom prst="ellipse">
            <a:avLst/>
          </a:prstGeom>
          <a:solidFill>
            <a:srgbClr val="002060"/>
          </a:solidFill>
          <a:ln/>
        </p:spPr>
      </p:sp>
      <p:sp>
        <p:nvSpPr>
          <p:cNvPr id="1326044898" name="Text 21"/>
          <p:cNvSpPr/>
          <p:nvPr/>
        </p:nvSpPr>
        <p:spPr bwMode="auto">
          <a:xfrm>
            <a:off x="13096875" y="5119688"/>
            <a:ext cx="495300" cy="457200"/>
          </a:xfrm>
          <a:prstGeom prst="rect">
            <a:avLst/>
          </a:prstGeom>
          <a:noFill/>
          <a:ln/>
        </p:spPr>
        <p:txBody>
          <a:bodyPr wrap="square" lIns="25400" tIns="25400" rIns="25400" bIns="25400" rtlCol="0" anchor="ctr">
            <a:normAutofit/>
          </a:bodyPr>
          <a:lstStyle/>
          <a:p>
            <a:pPr marL="0" indent="0" algn="ctr">
              <a:buNone/>
              <a:defRPr/>
            </a:pPr>
            <a:r>
              <a:rPr lang="en-US" sz="1800" b="1">
                <a:solidFill>
                  <a:srgbClr val="FFFFFF"/>
                </a:solidFill>
                <a:latin typeface="Arial"/>
                <a:ea typeface="Arial"/>
                <a:cs typeface="Arial"/>
              </a:rPr>
              <a:t>4</a:t>
            </a:r>
            <a:endParaRPr lang="en-US" sz="1800"/>
          </a:p>
        </p:txBody>
      </p:sp>
      <p:sp>
        <p:nvSpPr>
          <p:cNvPr id="1828043363" name="Text 22"/>
          <p:cNvSpPr/>
          <p:nvPr/>
        </p:nvSpPr>
        <p:spPr bwMode="auto">
          <a:xfrm>
            <a:off x="13706475" y="5130800"/>
            <a:ext cx="558006" cy="399256"/>
          </a:xfrm>
          <a:prstGeom prst="rect">
            <a:avLst/>
          </a:prstGeom>
          <a:noFill/>
          <a:ln/>
        </p:spPr>
        <p:txBody>
          <a:bodyPr wrap="square" lIns="25400" tIns="25400" rIns="25400" bIns="25400" rtlCol="0" anchor="t">
            <a:normAutofit/>
          </a:bodyPr>
          <a:lstStyle/>
          <a:p>
            <a:pPr marL="0" indent="0" algn="l">
              <a:buNone/>
              <a:defRPr/>
            </a:pPr>
            <a:r>
              <a:rPr lang="en-US" sz="2050" b="1">
                <a:solidFill>
                  <a:srgbClr val="002060"/>
                </a:solidFill>
                <a:latin typeface="Arial"/>
                <a:ea typeface="Arial"/>
                <a:cs typeface="Arial"/>
              </a:rPr>
              <a:t>IMU</a:t>
            </a:r>
            <a:endParaRPr lang="en-US" sz="2050"/>
          </a:p>
        </p:txBody>
      </p:sp>
      <p:sp>
        <p:nvSpPr>
          <p:cNvPr id="1387104672" name="Text 23"/>
          <p:cNvSpPr/>
          <p:nvPr/>
        </p:nvSpPr>
        <p:spPr bwMode="auto">
          <a:xfrm>
            <a:off x="13706475" y="5503069"/>
            <a:ext cx="3718274" cy="632459"/>
          </a:xfrm>
          <a:prstGeom prst="rect">
            <a:avLst/>
          </a:prstGeom>
          <a:noFill/>
          <a:ln/>
        </p:spPr>
        <p:txBody>
          <a:bodyPr wrap="square" lIns="25400" tIns="25400" rIns="25400" bIns="25400" rtlCol="0" anchor="t">
            <a:normAutofit/>
          </a:bodyPr>
          <a:lstStyle/>
          <a:p>
            <a:pPr marL="0" indent="0" algn="l">
              <a:lnSpc>
                <a:spcPct val="113799"/>
              </a:lnSpc>
              <a:buNone/>
              <a:defRPr/>
            </a:pPr>
            <a:r>
              <a:rPr lang="en-US" sz="1800">
                <a:solidFill>
                  <a:srgbClr val="3A4152"/>
                </a:solidFill>
                <a:latin typeface="Arial"/>
                <a:ea typeface="Arial"/>
                <a:cs typeface="Arial"/>
              </a:rPr>
              <a:t>Accelerometer and gyro, fused into the pose.</a:t>
            </a:r>
            <a:endParaRPr lang="en-US" sz="1800"/>
          </a:p>
        </p:txBody>
      </p:sp>
      <p:sp>
        <p:nvSpPr>
          <p:cNvPr id="902769657" name="Shape 24"/>
          <p:cNvSpPr/>
          <p:nvPr/>
        </p:nvSpPr>
        <p:spPr bwMode="auto">
          <a:xfrm>
            <a:off x="8610600" y="6287929"/>
            <a:ext cx="419100" cy="419100"/>
          </a:xfrm>
          <a:prstGeom prst="ellipse">
            <a:avLst/>
          </a:prstGeom>
          <a:solidFill>
            <a:srgbClr val="002060"/>
          </a:solidFill>
          <a:ln/>
        </p:spPr>
      </p:sp>
      <p:sp>
        <p:nvSpPr>
          <p:cNvPr id="1928597431" name="Text 25"/>
          <p:cNvSpPr/>
          <p:nvPr/>
        </p:nvSpPr>
        <p:spPr bwMode="auto">
          <a:xfrm>
            <a:off x="8572500" y="6287929"/>
            <a:ext cx="495300" cy="457200"/>
          </a:xfrm>
          <a:prstGeom prst="rect">
            <a:avLst/>
          </a:prstGeom>
          <a:noFill/>
          <a:ln/>
        </p:spPr>
        <p:txBody>
          <a:bodyPr wrap="square" lIns="25400" tIns="25400" rIns="25400" bIns="25400" rtlCol="0" anchor="ctr">
            <a:normAutofit/>
          </a:bodyPr>
          <a:lstStyle/>
          <a:p>
            <a:pPr marL="0" indent="0" algn="ctr">
              <a:buNone/>
              <a:defRPr/>
            </a:pPr>
            <a:r>
              <a:rPr lang="en-US" sz="1800" b="1">
                <a:solidFill>
                  <a:srgbClr val="FFFFFF"/>
                </a:solidFill>
                <a:latin typeface="Arial"/>
                <a:ea typeface="Arial"/>
                <a:cs typeface="Arial"/>
              </a:rPr>
              <a:t>5</a:t>
            </a:r>
            <a:endParaRPr lang="en-US" sz="1800"/>
          </a:p>
        </p:txBody>
      </p:sp>
      <p:sp>
        <p:nvSpPr>
          <p:cNvPr id="233203299" name="Text 26"/>
          <p:cNvSpPr/>
          <p:nvPr/>
        </p:nvSpPr>
        <p:spPr bwMode="auto">
          <a:xfrm>
            <a:off x="9182100" y="6299041"/>
            <a:ext cx="2705989" cy="399256"/>
          </a:xfrm>
          <a:prstGeom prst="rect">
            <a:avLst/>
          </a:prstGeom>
          <a:noFill/>
          <a:ln/>
        </p:spPr>
        <p:txBody>
          <a:bodyPr wrap="square" lIns="25400" tIns="25400" rIns="25400" bIns="25400" rtlCol="0" anchor="t">
            <a:normAutofit/>
          </a:bodyPr>
          <a:lstStyle/>
          <a:p>
            <a:pPr marL="0" indent="0" algn="l">
              <a:buNone/>
              <a:defRPr/>
            </a:pPr>
            <a:r>
              <a:rPr lang="en-US" sz="2050" b="1">
                <a:solidFill>
                  <a:srgbClr val="002060"/>
                </a:solidFill>
                <a:latin typeface="Arial"/>
                <a:ea typeface="Arial"/>
                <a:cs typeface="Arial"/>
              </a:rPr>
              <a:t>Motors and wheels</a:t>
            </a:r>
            <a:endParaRPr lang="en-US" sz="2050"/>
          </a:p>
        </p:txBody>
      </p:sp>
      <p:sp>
        <p:nvSpPr>
          <p:cNvPr id="670678186" name="Text 27"/>
          <p:cNvSpPr/>
          <p:nvPr/>
        </p:nvSpPr>
        <p:spPr bwMode="auto">
          <a:xfrm>
            <a:off x="9182100" y="6671310"/>
            <a:ext cx="3718274" cy="632459"/>
          </a:xfrm>
          <a:prstGeom prst="rect">
            <a:avLst/>
          </a:prstGeom>
          <a:noFill/>
          <a:ln/>
        </p:spPr>
        <p:txBody>
          <a:bodyPr wrap="square" lIns="25400" tIns="25400" rIns="25400" bIns="25400" rtlCol="0" anchor="t">
            <a:normAutofit/>
          </a:bodyPr>
          <a:lstStyle/>
          <a:p>
            <a:pPr marL="0" indent="0" algn="l">
              <a:lnSpc>
                <a:spcPct val="113799"/>
              </a:lnSpc>
              <a:buNone/>
              <a:defRPr/>
            </a:pPr>
            <a:r>
              <a:rPr lang="en-US" sz="1800">
                <a:solidFill>
                  <a:srgbClr val="3A4152"/>
                </a:solidFill>
                <a:latin typeface="Arial"/>
                <a:ea typeface="Arial"/>
                <a:cs typeface="Arial"/>
              </a:rPr>
              <a:t>Two driven wheels — differential drive.</a:t>
            </a:r>
            <a:endParaRPr lang="en-US" sz="1800"/>
          </a:p>
        </p:txBody>
      </p:sp>
      <p:sp>
        <p:nvSpPr>
          <p:cNvPr id="1682720966" name="Shape 28"/>
          <p:cNvSpPr/>
          <p:nvPr/>
        </p:nvSpPr>
        <p:spPr bwMode="auto">
          <a:xfrm>
            <a:off x="13134975" y="6287929"/>
            <a:ext cx="419100" cy="419100"/>
          </a:xfrm>
          <a:prstGeom prst="ellipse">
            <a:avLst/>
          </a:prstGeom>
          <a:solidFill>
            <a:srgbClr val="002060"/>
          </a:solidFill>
          <a:ln/>
        </p:spPr>
      </p:sp>
      <p:sp>
        <p:nvSpPr>
          <p:cNvPr id="733348333" name="Text 29"/>
          <p:cNvSpPr/>
          <p:nvPr/>
        </p:nvSpPr>
        <p:spPr bwMode="auto">
          <a:xfrm>
            <a:off x="13096875" y="6287929"/>
            <a:ext cx="495300" cy="457200"/>
          </a:xfrm>
          <a:prstGeom prst="rect">
            <a:avLst/>
          </a:prstGeom>
          <a:noFill/>
          <a:ln/>
        </p:spPr>
        <p:txBody>
          <a:bodyPr wrap="square" lIns="25400" tIns="25400" rIns="25400" bIns="25400" rtlCol="0" anchor="ctr">
            <a:normAutofit/>
          </a:bodyPr>
          <a:lstStyle/>
          <a:p>
            <a:pPr marL="0" indent="0" algn="ctr">
              <a:buNone/>
              <a:defRPr/>
            </a:pPr>
            <a:r>
              <a:rPr lang="en-US" sz="1800" b="1">
                <a:solidFill>
                  <a:srgbClr val="FFFFFF"/>
                </a:solidFill>
                <a:latin typeface="Arial"/>
                <a:ea typeface="Arial"/>
                <a:cs typeface="Arial"/>
              </a:rPr>
              <a:t>6</a:t>
            </a:r>
            <a:endParaRPr lang="en-US" sz="1800"/>
          </a:p>
        </p:txBody>
      </p:sp>
      <p:sp>
        <p:nvSpPr>
          <p:cNvPr id="1874287816" name="Text 30"/>
          <p:cNvSpPr/>
          <p:nvPr/>
        </p:nvSpPr>
        <p:spPr bwMode="auto">
          <a:xfrm>
            <a:off x="13706475" y="6299041"/>
            <a:ext cx="1033621" cy="399256"/>
          </a:xfrm>
          <a:prstGeom prst="rect">
            <a:avLst/>
          </a:prstGeom>
          <a:noFill/>
          <a:ln/>
        </p:spPr>
        <p:txBody>
          <a:bodyPr wrap="square" lIns="25400" tIns="25400" rIns="25400" bIns="25400" rtlCol="0" anchor="t">
            <a:normAutofit/>
          </a:bodyPr>
          <a:lstStyle/>
          <a:p>
            <a:pPr marL="0" indent="0" algn="l">
              <a:buNone/>
              <a:defRPr/>
            </a:pPr>
            <a:r>
              <a:rPr lang="en-US" sz="2050" b="1">
                <a:solidFill>
                  <a:srgbClr val="002060"/>
                </a:solidFill>
                <a:latin typeface="Arial"/>
                <a:ea typeface="Arial"/>
                <a:cs typeface="Arial"/>
              </a:rPr>
              <a:t>Battery</a:t>
            </a:r>
            <a:endParaRPr lang="en-US" sz="2050"/>
          </a:p>
        </p:txBody>
      </p:sp>
      <p:sp>
        <p:nvSpPr>
          <p:cNvPr id="1930584385" name="Text 31"/>
          <p:cNvSpPr/>
          <p:nvPr/>
        </p:nvSpPr>
        <p:spPr bwMode="auto">
          <a:xfrm>
            <a:off x="13706475" y="6671310"/>
            <a:ext cx="3718274" cy="632459"/>
          </a:xfrm>
          <a:prstGeom prst="rect">
            <a:avLst/>
          </a:prstGeom>
          <a:noFill/>
          <a:ln/>
        </p:spPr>
        <p:txBody>
          <a:bodyPr wrap="square" lIns="25400" tIns="25400" rIns="25400" bIns="25400" rtlCol="0" anchor="t">
            <a:normAutofit/>
          </a:bodyPr>
          <a:lstStyle/>
          <a:p>
            <a:pPr marL="0" indent="0" algn="l">
              <a:lnSpc>
                <a:spcPct val="113799"/>
              </a:lnSpc>
              <a:buNone/>
              <a:defRPr/>
            </a:pPr>
            <a:r>
              <a:rPr lang="en-US" sz="1800">
                <a:solidFill>
                  <a:srgbClr val="3A4152"/>
                </a:solidFill>
                <a:latin typeface="Arial"/>
                <a:ea typeface="Arial"/>
                <a:cs typeface="Arial"/>
              </a:rPr>
              <a:t>Powers everything. Check it before you start.</a:t>
            </a:r>
            <a:endParaRPr lang="en-US" sz="1800"/>
          </a:p>
        </p:txBody>
      </p:sp>
      <p:sp>
        <p:nvSpPr>
          <p:cNvPr id="1397761518" name="Shape 32"/>
          <p:cNvSpPr/>
          <p:nvPr/>
        </p:nvSpPr>
        <p:spPr bwMode="auto">
          <a:xfrm>
            <a:off x="8610600" y="7456170"/>
            <a:ext cx="419100" cy="419100"/>
          </a:xfrm>
          <a:prstGeom prst="ellipse">
            <a:avLst/>
          </a:prstGeom>
          <a:solidFill>
            <a:srgbClr val="002060"/>
          </a:solidFill>
          <a:ln/>
        </p:spPr>
      </p:sp>
      <p:sp>
        <p:nvSpPr>
          <p:cNvPr id="553689817" name="Text 33"/>
          <p:cNvSpPr/>
          <p:nvPr/>
        </p:nvSpPr>
        <p:spPr bwMode="auto">
          <a:xfrm>
            <a:off x="8572500" y="7456170"/>
            <a:ext cx="495300" cy="457200"/>
          </a:xfrm>
          <a:prstGeom prst="rect">
            <a:avLst/>
          </a:prstGeom>
          <a:noFill/>
          <a:ln/>
        </p:spPr>
        <p:txBody>
          <a:bodyPr wrap="square" lIns="25400" tIns="25400" rIns="25400" bIns="25400" rtlCol="0" anchor="ctr">
            <a:normAutofit/>
          </a:bodyPr>
          <a:lstStyle/>
          <a:p>
            <a:pPr marL="0" indent="0" algn="ctr">
              <a:buNone/>
              <a:defRPr/>
            </a:pPr>
            <a:r>
              <a:rPr lang="en-US" sz="1800" b="1">
                <a:solidFill>
                  <a:srgbClr val="FFFFFF"/>
                </a:solidFill>
                <a:latin typeface="Arial"/>
                <a:ea typeface="Arial"/>
                <a:cs typeface="Arial"/>
              </a:rPr>
              <a:t>7</a:t>
            </a:r>
            <a:endParaRPr lang="en-US" sz="1800"/>
          </a:p>
        </p:txBody>
      </p:sp>
      <p:sp>
        <p:nvSpPr>
          <p:cNvPr id="38981803" name="Text 34"/>
          <p:cNvSpPr/>
          <p:nvPr/>
        </p:nvSpPr>
        <p:spPr bwMode="auto">
          <a:xfrm>
            <a:off x="9182100" y="7467283"/>
            <a:ext cx="2424668" cy="399256"/>
          </a:xfrm>
          <a:prstGeom prst="rect">
            <a:avLst/>
          </a:prstGeom>
          <a:noFill/>
          <a:ln/>
        </p:spPr>
        <p:txBody>
          <a:bodyPr wrap="square" lIns="25400" tIns="25400" rIns="25400" bIns="25400" rtlCol="0" anchor="t">
            <a:normAutofit/>
          </a:bodyPr>
          <a:lstStyle/>
          <a:p>
            <a:pPr marL="0" indent="0" algn="l">
              <a:buNone/>
              <a:defRPr/>
            </a:pPr>
            <a:r>
              <a:rPr lang="en-US" sz="2050" b="1">
                <a:solidFill>
                  <a:srgbClr val="002060"/>
                </a:solidFill>
                <a:latin typeface="Arial"/>
                <a:ea typeface="Arial"/>
                <a:cs typeface="Arial"/>
              </a:rPr>
              <a:t>WiFi reset button</a:t>
            </a:r>
            <a:endParaRPr lang="en-US" sz="2050"/>
          </a:p>
        </p:txBody>
      </p:sp>
      <p:sp>
        <p:nvSpPr>
          <p:cNvPr id="1044511392" name="Text 35"/>
          <p:cNvSpPr/>
          <p:nvPr/>
        </p:nvSpPr>
        <p:spPr bwMode="auto">
          <a:xfrm>
            <a:off x="9182100" y="7839551"/>
            <a:ext cx="3718274" cy="632459"/>
          </a:xfrm>
          <a:prstGeom prst="rect">
            <a:avLst/>
          </a:prstGeom>
          <a:noFill/>
          <a:ln/>
        </p:spPr>
        <p:txBody>
          <a:bodyPr wrap="square" lIns="25400" tIns="25400" rIns="25400" bIns="25400" rtlCol="0" anchor="t">
            <a:normAutofit/>
          </a:bodyPr>
          <a:lstStyle/>
          <a:p>
            <a:pPr marL="0" indent="0" algn="l">
              <a:lnSpc>
                <a:spcPct val="113799"/>
              </a:lnSpc>
              <a:buNone/>
              <a:defRPr/>
            </a:pPr>
            <a:r>
              <a:rPr lang="en-US" sz="1800">
                <a:solidFill>
                  <a:srgbClr val="3A4152"/>
                </a:solidFill>
                <a:latin typeface="Arial"/>
                <a:ea typeface="Arial"/>
                <a:cs typeface="Arial"/>
              </a:rPr>
              <a:t>Hold it to force the setup hotspot back.</a:t>
            </a:r>
            <a:endParaRPr lang="en-US" sz="1800"/>
          </a:p>
        </p:txBody>
      </p:sp>
      <p:sp>
        <p:nvSpPr>
          <p:cNvPr id="1813675250" name="Shape 36"/>
          <p:cNvSpPr/>
          <p:nvPr/>
        </p:nvSpPr>
        <p:spPr bwMode="auto">
          <a:xfrm>
            <a:off x="13134975" y="7456170"/>
            <a:ext cx="419100" cy="419100"/>
          </a:xfrm>
          <a:prstGeom prst="ellipse">
            <a:avLst/>
          </a:prstGeom>
          <a:solidFill>
            <a:srgbClr val="002060"/>
          </a:solidFill>
          <a:ln/>
        </p:spPr>
      </p:sp>
      <p:sp>
        <p:nvSpPr>
          <p:cNvPr id="396053638" name="Text 37"/>
          <p:cNvSpPr/>
          <p:nvPr/>
        </p:nvSpPr>
        <p:spPr bwMode="auto">
          <a:xfrm>
            <a:off x="13096875" y="7456170"/>
            <a:ext cx="495300" cy="457200"/>
          </a:xfrm>
          <a:prstGeom prst="rect">
            <a:avLst/>
          </a:prstGeom>
          <a:noFill/>
          <a:ln/>
        </p:spPr>
        <p:txBody>
          <a:bodyPr wrap="square" lIns="25400" tIns="25400" rIns="25400" bIns="25400" rtlCol="0" anchor="ctr">
            <a:normAutofit/>
          </a:bodyPr>
          <a:lstStyle/>
          <a:p>
            <a:pPr marL="0" indent="0" algn="ctr">
              <a:buNone/>
              <a:defRPr/>
            </a:pPr>
            <a:r>
              <a:rPr lang="en-US" sz="1800" b="1">
                <a:solidFill>
                  <a:srgbClr val="FFFFFF"/>
                </a:solidFill>
                <a:latin typeface="Arial"/>
                <a:ea typeface="Arial"/>
                <a:cs typeface="Arial"/>
              </a:rPr>
              <a:t>8</a:t>
            </a:r>
            <a:endParaRPr lang="en-US" sz="1800"/>
          </a:p>
        </p:txBody>
      </p:sp>
      <p:sp>
        <p:nvSpPr>
          <p:cNvPr id="486456066" name="Text 38"/>
          <p:cNvSpPr/>
          <p:nvPr/>
        </p:nvSpPr>
        <p:spPr bwMode="auto">
          <a:xfrm>
            <a:off x="13706475" y="7467283"/>
            <a:ext cx="1154748" cy="399256"/>
          </a:xfrm>
          <a:prstGeom prst="rect">
            <a:avLst/>
          </a:prstGeom>
          <a:noFill/>
          <a:ln/>
        </p:spPr>
        <p:txBody>
          <a:bodyPr wrap="square" lIns="25400" tIns="25400" rIns="25400" bIns="25400" rtlCol="0" anchor="t">
            <a:normAutofit/>
          </a:bodyPr>
          <a:lstStyle/>
          <a:p>
            <a:pPr marL="0" indent="0" algn="l">
              <a:buNone/>
              <a:defRPr/>
            </a:pPr>
            <a:r>
              <a:rPr lang="en-US" sz="2050" b="1">
                <a:solidFill>
                  <a:srgbClr val="002060"/>
                </a:solidFill>
                <a:latin typeface="Arial"/>
                <a:ea typeface="Arial"/>
                <a:cs typeface="Arial"/>
              </a:rPr>
              <a:t>QR label</a:t>
            </a:r>
            <a:endParaRPr lang="en-US" sz="2050"/>
          </a:p>
        </p:txBody>
      </p:sp>
      <p:sp>
        <p:nvSpPr>
          <p:cNvPr id="173725527" name="Text 39"/>
          <p:cNvSpPr/>
          <p:nvPr/>
        </p:nvSpPr>
        <p:spPr bwMode="auto">
          <a:xfrm>
            <a:off x="13706475" y="7839551"/>
            <a:ext cx="3718274" cy="632459"/>
          </a:xfrm>
          <a:prstGeom prst="rect">
            <a:avLst/>
          </a:prstGeom>
          <a:noFill/>
          <a:ln/>
        </p:spPr>
        <p:txBody>
          <a:bodyPr wrap="square" lIns="25400" tIns="25400" rIns="25400" bIns="25400" rtlCol="0" anchor="t">
            <a:normAutofit/>
          </a:bodyPr>
          <a:lstStyle/>
          <a:p>
            <a:pPr marL="0" indent="0" algn="l">
              <a:lnSpc>
                <a:spcPct val="113799"/>
              </a:lnSpc>
              <a:buNone/>
              <a:defRPr/>
            </a:pPr>
            <a:r>
              <a:rPr lang="en-US" sz="1800">
                <a:solidFill>
                  <a:srgbClr val="3A4152"/>
                </a:solidFill>
                <a:latin typeface="Arial"/>
                <a:ea typeface="Arial"/>
                <a:cs typeface="Arial"/>
              </a:rPr>
              <a:t>Holds the robot's IP and SSH password.</a:t>
            </a:r>
            <a:endParaRPr lang="en-US" sz="1800"/>
          </a:p>
        </p:txBody>
      </p:sp>
      <p:pic>
        <p:nvPicPr>
          <p:cNvPr id="510352688" name="Image 1" descr="preencoded.png"/>
          <p:cNvPicPr>
            <a:picLocks noChangeAspect="1"/>
          </p:cNvPicPr>
          <p:nvPr/>
        </p:nvPicPr>
        <p:blipFill rotWithShape="1">
          <a:blip r:embed="rId4"/>
          <a:stretch/>
        </p:blipFill>
        <p:spPr bwMode="auto">
          <a:xfrm>
            <a:off x="17515523" y="9561512"/>
            <a:ext cx="143828" cy="344488"/>
          </a:xfrm>
          <a:prstGeom prst="rect">
            <a:avLst/>
          </a:prstGeom>
        </p:spPr>
      </p:pic>
      <p:pic>
        <p:nvPicPr>
          <p:cNvPr id="1555251945" name=""/>
          <p:cNvPicPr>
            <a:picLocks noChangeAspect="1"/>
          </p:cNvPicPr>
          <p:nvPr/>
        </p:nvPicPr>
        <p:blipFill rotWithShape="1">
          <a:blip r:embed="rId5"/>
          <a:stretch/>
        </p:blipFill>
        <p:spPr bwMode="auto">
          <a:xfrm flipH="0" flipV="0">
            <a:off x="1536635" y="4111465"/>
            <a:ext cx="6299327" cy="47244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FFFFFF"/>
        </a:solidFill>
      </p:bgPr>
    </p:bg>
    <p:spTree>
      <p:nvGrpSpPr>
        <p:cNvPr id="1" name=""/>
        <p:cNvGrpSpPr/>
        <p:nvPr/>
      </p:nvGrpSpPr>
      <p:grpSpPr bwMode="auto">
        <a:xfrm>
          <a:off x="0" y="0"/>
          <a:ext cx="0" cy="0"/>
          <a:chOff x="0" y="0"/>
          <a:chExt cx="0" cy="0"/>
        </a:xfrm>
      </p:grpSpPr>
      <p:sp>
        <p:nvSpPr>
          <p:cNvPr id="1518371259" name="Shape 0"/>
          <p:cNvSpPr/>
          <p:nvPr/>
        </p:nvSpPr>
        <p:spPr bwMode="auto">
          <a:xfrm>
            <a:off x="971550" y="0"/>
            <a:ext cx="28575" cy="10287000"/>
          </a:xfrm>
          <a:prstGeom prst="rect">
            <a:avLst/>
          </a:prstGeom>
          <a:solidFill>
            <a:srgbClr val="002060">
              <a:alpha val="15999"/>
            </a:srgbClr>
          </a:solidFill>
          <a:ln/>
        </p:spPr>
      </p:sp>
      <p:sp>
        <p:nvSpPr>
          <p:cNvPr id="529533305" name="Shape 1"/>
          <p:cNvSpPr/>
          <p:nvPr/>
        </p:nvSpPr>
        <p:spPr bwMode="auto">
          <a:xfrm>
            <a:off x="971550" y="1009650"/>
            <a:ext cx="16687800" cy="28575"/>
          </a:xfrm>
          <a:prstGeom prst="rect">
            <a:avLst/>
          </a:prstGeom>
          <a:solidFill>
            <a:srgbClr val="002060">
              <a:alpha val="15999"/>
            </a:srgbClr>
          </a:solidFill>
          <a:ln/>
        </p:spPr>
      </p:sp>
      <p:pic>
        <p:nvPicPr>
          <p:cNvPr id="778774349" name="Image 0" descr="preencoded.png"/>
          <p:cNvPicPr>
            <a:picLocks noChangeAspect="1"/>
          </p:cNvPicPr>
          <p:nvPr/>
        </p:nvPicPr>
        <p:blipFill rotWithShape="1">
          <a:blip r:embed="rId3"/>
          <a:stretch/>
        </p:blipFill>
        <p:spPr bwMode="auto">
          <a:xfrm>
            <a:off x="1257300" y="209550"/>
            <a:ext cx="779621" cy="647700"/>
          </a:xfrm>
          <a:prstGeom prst="rect">
            <a:avLst/>
          </a:prstGeom>
        </p:spPr>
      </p:pic>
      <p:sp>
        <p:nvSpPr>
          <p:cNvPr id="1417733095" name="Text 2"/>
          <p:cNvSpPr/>
          <p:nvPr/>
        </p:nvSpPr>
        <p:spPr bwMode="auto">
          <a:xfrm>
            <a:off x="14455616" y="400050"/>
            <a:ext cx="3524107" cy="393700"/>
          </a:xfrm>
          <a:prstGeom prst="rect">
            <a:avLst/>
          </a:prstGeom>
          <a:noFill/>
          <a:ln/>
        </p:spPr>
        <p:txBody>
          <a:bodyPr wrap="square" lIns="25400" tIns="25400" rIns="25400" bIns="25400" rtlCol="0" anchor="t">
            <a:normAutofit/>
          </a:bodyPr>
          <a:lstStyle/>
          <a:p>
            <a:pPr marL="0" indent="0" algn="l">
              <a:buNone/>
              <a:defRPr/>
            </a:pPr>
            <a:r>
              <a:rPr lang="en-US" sz="1900" spc="75">
                <a:solidFill>
                  <a:srgbClr val="DB5817"/>
                </a:solidFill>
                <a:latin typeface="Arial"/>
                <a:ea typeface="Arial"/>
                <a:cs typeface="Arial"/>
              </a:rPr>
              <a:t>www.centex-sarawak.my</a:t>
            </a:r>
            <a:endParaRPr lang="en-US" sz="1900"/>
          </a:p>
        </p:txBody>
      </p:sp>
      <p:sp>
        <p:nvSpPr>
          <p:cNvPr id="369455564" name="Text 3"/>
          <p:cNvSpPr/>
          <p:nvPr/>
        </p:nvSpPr>
        <p:spPr bwMode="auto">
          <a:xfrm>
            <a:off x="1257300" y="1905000"/>
            <a:ext cx="17665065" cy="410369"/>
          </a:xfrm>
          <a:prstGeom prst="rect">
            <a:avLst/>
          </a:prstGeom>
          <a:noFill/>
          <a:ln/>
        </p:spPr>
        <p:txBody>
          <a:bodyPr wrap="square" lIns="25400" tIns="25400" rIns="25400" bIns="25400" rtlCol="0" anchor="t">
            <a:normAutofit/>
          </a:bodyPr>
          <a:lstStyle/>
          <a:p>
            <a:pPr marL="0" indent="0" algn="l">
              <a:buNone/>
              <a:defRPr/>
            </a:pPr>
            <a:r>
              <a:rPr lang="en-US" sz="1950" b="1" spc="311">
                <a:solidFill>
                  <a:srgbClr val="DB5817"/>
                </a:solidFill>
                <a:latin typeface="Arial"/>
                <a:ea typeface="Arial"/>
                <a:cs typeface="Arial"/>
              </a:rPr>
              <a:t>NAMING</a:t>
            </a:r>
            <a:endParaRPr lang="en-US" sz="1950"/>
          </a:p>
        </p:txBody>
      </p:sp>
      <p:sp>
        <p:nvSpPr>
          <p:cNvPr id="1951712973" name="Text 4"/>
          <p:cNvSpPr/>
          <p:nvPr/>
        </p:nvSpPr>
        <p:spPr bwMode="auto">
          <a:xfrm>
            <a:off x="1257300" y="2486819"/>
            <a:ext cx="17665065" cy="805497"/>
          </a:xfrm>
          <a:prstGeom prst="rect">
            <a:avLst/>
          </a:prstGeom>
          <a:noFill/>
          <a:ln/>
        </p:spPr>
        <p:txBody>
          <a:bodyPr wrap="square" lIns="25400" tIns="25400" rIns="25400" bIns="25400" rtlCol="0" anchor="t">
            <a:normAutofit/>
          </a:bodyPr>
          <a:lstStyle/>
          <a:p>
            <a:pPr marL="0" indent="0" algn="l">
              <a:lnSpc>
                <a:spcPct val="94599"/>
              </a:lnSpc>
              <a:buNone/>
              <a:defRPr/>
            </a:pPr>
            <a:r>
              <a:rPr lang="en-US" sz="5700" b="1" spc="-57">
                <a:solidFill>
                  <a:srgbClr val="002060"/>
                </a:solidFill>
                <a:latin typeface="Arial"/>
                <a:ea typeface="Arial"/>
                <a:cs typeface="Arial"/>
              </a:rPr>
              <a:t>Every robot has a number</a:t>
            </a:r>
            <a:endParaRPr lang="en-US" sz="5700"/>
          </a:p>
        </p:txBody>
      </p:sp>
      <p:sp>
        <p:nvSpPr>
          <p:cNvPr id="897719528" name="Shape 5"/>
          <p:cNvSpPr/>
          <p:nvPr/>
        </p:nvSpPr>
        <p:spPr bwMode="auto">
          <a:xfrm>
            <a:off x="1257300" y="3578066"/>
            <a:ext cx="16059150" cy="5238750"/>
          </a:xfrm>
          <a:prstGeom prst="roundRect">
            <a:avLst>
              <a:gd name="adj" fmla="val 2182"/>
            </a:avLst>
          </a:prstGeom>
          <a:ln/>
          <a:effectLst>
            <a:outerShdw blurRad="266700" dist="95250" dir="5400000" sx="100000" sy="100000" kx="0" ky="0" algn="bl" rotWithShape="0">
              <a:srgbClr val="002060">
                <a:alpha val="12000"/>
              </a:srgbClr>
            </a:outerShdw>
          </a:effectLst>
        </p:spPr>
      </p:sp>
      <p:sp>
        <p:nvSpPr>
          <p:cNvPr id="2132115494" name="Shape 6"/>
          <p:cNvSpPr/>
          <p:nvPr/>
        </p:nvSpPr>
        <p:spPr bwMode="auto">
          <a:xfrm>
            <a:off x="1257300" y="3578066"/>
            <a:ext cx="5873115" cy="677069"/>
          </a:xfrm>
          <a:prstGeom prst="rect">
            <a:avLst/>
          </a:prstGeom>
          <a:solidFill>
            <a:srgbClr val="002060"/>
          </a:solidFill>
          <a:ln/>
        </p:spPr>
      </p:sp>
      <p:sp>
        <p:nvSpPr>
          <p:cNvPr id="476987029" name="Text 7"/>
          <p:cNvSpPr/>
          <p:nvPr/>
        </p:nvSpPr>
        <p:spPr bwMode="auto">
          <a:xfrm>
            <a:off x="1543050" y="3730466"/>
            <a:ext cx="5477808" cy="410369"/>
          </a:xfrm>
          <a:prstGeom prst="rect">
            <a:avLst/>
          </a:prstGeom>
          <a:noFill/>
          <a:ln/>
        </p:spPr>
        <p:txBody>
          <a:bodyPr wrap="square" lIns="25400" tIns="25400" rIns="25400" bIns="25400" rtlCol="0" anchor="ctr">
            <a:normAutofit/>
          </a:bodyPr>
          <a:lstStyle/>
          <a:p>
            <a:pPr marL="0" indent="0" algn="l">
              <a:buNone/>
              <a:defRPr/>
            </a:pPr>
            <a:r>
              <a:rPr lang="en-US" sz="1950" b="1" spc="117">
                <a:solidFill>
                  <a:srgbClr val="FFFFFF"/>
                </a:solidFill>
                <a:latin typeface="Arial"/>
                <a:ea typeface="Arial"/>
                <a:cs typeface="Arial"/>
              </a:rPr>
              <a:t>IDENTIFIER</a:t>
            </a:r>
            <a:endParaRPr lang="en-US" sz="1950"/>
          </a:p>
        </p:txBody>
      </p:sp>
      <p:sp>
        <p:nvSpPr>
          <p:cNvPr id="862463109" name="Shape 8"/>
          <p:cNvSpPr/>
          <p:nvPr/>
        </p:nvSpPr>
        <p:spPr bwMode="auto">
          <a:xfrm>
            <a:off x="7130415" y="3578066"/>
            <a:ext cx="5093018" cy="677069"/>
          </a:xfrm>
          <a:prstGeom prst="rect">
            <a:avLst/>
          </a:prstGeom>
          <a:solidFill>
            <a:srgbClr val="002060"/>
          </a:solidFill>
          <a:ln/>
        </p:spPr>
      </p:sp>
      <p:sp>
        <p:nvSpPr>
          <p:cNvPr id="1990422275" name="Text 9"/>
          <p:cNvSpPr/>
          <p:nvPr/>
        </p:nvSpPr>
        <p:spPr bwMode="auto">
          <a:xfrm>
            <a:off x="7416165" y="3730466"/>
            <a:ext cx="4674308" cy="410369"/>
          </a:xfrm>
          <a:prstGeom prst="rect">
            <a:avLst/>
          </a:prstGeom>
          <a:noFill/>
          <a:ln/>
        </p:spPr>
        <p:txBody>
          <a:bodyPr wrap="square" lIns="25400" tIns="25400" rIns="25400" bIns="25400" rtlCol="0" anchor="ctr">
            <a:normAutofit/>
          </a:bodyPr>
          <a:lstStyle/>
          <a:p>
            <a:pPr marL="0" indent="0" algn="l">
              <a:buNone/>
              <a:defRPr/>
            </a:pPr>
            <a:r>
              <a:rPr lang="en-US" sz="1950" b="1" spc="117">
                <a:solidFill>
                  <a:srgbClr val="FFFFFF"/>
                </a:solidFill>
                <a:latin typeface="Arial"/>
                <a:ea typeface="Arial"/>
                <a:cs typeface="Arial"/>
              </a:rPr>
              <a:t>PATTERN</a:t>
            </a:r>
            <a:endParaRPr lang="en-US" sz="1950"/>
          </a:p>
        </p:txBody>
      </p:sp>
      <p:sp>
        <p:nvSpPr>
          <p:cNvPr id="1560403808" name="Shape 10"/>
          <p:cNvSpPr/>
          <p:nvPr/>
        </p:nvSpPr>
        <p:spPr bwMode="auto">
          <a:xfrm>
            <a:off x="12223433" y="3578066"/>
            <a:ext cx="5093018" cy="677069"/>
          </a:xfrm>
          <a:prstGeom prst="rect">
            <a:avLst/>
          </a:prstGeom>
          <a:solidFill>
            <a:srgbClr val="002060"/>
          </a:solidFill>
          <a:ln/>
        </p:spPr>
      </p:sp>
      <p:sp>
        <p:nvSpPr>
          <p:cNvPr id="539224142" name="Text 11"/>
          <p:cNvSpPr/>
          <p:nvPr/>
        </p:nvSpPr>
        <p:spPr bwMode="auto">
          <a:xfrm>
            <a:off x="12509183" y="3730466"/>
            <a:ext cx="4674308" cy="410369"/>
          </a:xfrm>
          <a:prstGeom prst="rect">
            <a:avLst/>
          </a:prstGeom>
          <a:noFill/>
          <a:ln/>
        </p:spPr>
        <p:txBody>
          <a:bodyPr wrap="square" lIns="25400" tIns="25400" rIns="25400" bIns="25400" rtlCol="0" anchor="ctr">
            <a:normAutofit/>
          </a:bodyPr>
          <a:lstStyle/>
          <a:p>
            <a:pPr marL="0" indent="0" algn="l">
              <a:buNone/>
              <a:defRPr/>
            </a:pPr>
            <a:r>
              <a:rPr lang="en-US" sz="1950" b="1" spc="117">
                <a:solidFill>
                  <a:srgbClr val="FFFFFF"/>
                </a:solidFill>
                <a:latin typeface="Arial"/>
                <a:ea typeface="Arial"/>
                <a:cs typeface="Arial"/>
              </a:rPr>
              <a:t>IF YOU HAVE A2BOT5</a:t>
            </a:r>
            <a:endParaRPr lang="en-US" sz="1950"/>
          </a:p>
        </p:txBody>
      </p:sp>
      <p:sp>
        <p:nvSpPr>
          <p:cNvPr id="447581677" name="Shape 12"/>
          <p:cNvSpPr/>
          <p:nvPr/>
        </p:nvSpPr>
        <p:spPr bwMode="auto">
          <a:xfrm>
            <a:off x="1257300" y="4884261"/>
            <a:ext cx="5873115" cy="16669"/>
          </a:xfrm>
          <a:prstGeom prst="rect">
            <a:avLst/>
          </a:prstGeom>
          <a:solidFill>
            <a:srgbClr val="002060">
              <a:alpha val="10000"/>
            </a:srgbClr>
          </a:solidFill>
          <a:ln/>
        </p:spPr>
      </p:sp>
      <p:sp>
        <p:nvSpPr>
          <p:cNvPr id="322905988" name="Text 13"/>
          <p:cNvSpPr/>
          <p:nvPr/>
        </p:nvSpPr>
        <p:spPr bwMode="auto">
          <a:xfrm>
            <a:off x="1543050" y="4359910"/>
            <a:ext cx="5477808" cy="457676"/>
          </a:xfrm>
          <a:prstGeom prst="rect">
            <a:avLst/>
          </a:prstGeom>
          <a:noFill/>
          <a:ln/>
        </p:spPr>
        <p:txBody>
          <a:bodyPr wrap="square" lIns="25400" tIns="25400" rIns="25400" bIns="25400" rtlCol="0" anchor="ctr">
            <a:normAutofit/>
          </a:bodyPr>
          <a:lstStyle/>
          <a:p>
            <a:pPr marL="0" indent="0" algn="l">
              <a:buNone/>
              <a:defRPr/>
            </a:pPr>
            <a:r>
              <a:rPr lang="en-US" sz="2250">
                <a:solidFill>
                  <a:srgbClr val="002060"/>
                </a:solidFill>
                <a:latin typeface="Arial"/>
                <a:ea typeface="Arial"/>
                <a:cs typeface="Arial"/>
              </a:rPr>
              <a:t>Hostname</a:t>
            </a:r>
            <a:endParaRPr lang="en-US" sz="2250"/>
          </a:p>
        </p:txBody>
      </p:sp>
      <p:sp>
        <p:nvSpPr>
          <p:cNvPr id="1758705577" name="Shape 14"/>
          <p:cNvSpPr/>
          <p:nvPr/>
        </p:nvSpPr>
        <p:spPr bwMode="auto">
          <a:xfrm>
            <a:off x="7130415" y="4884261"/>
            <a:ext cx="5093018" cy="16669"/>
          </a:xfrm>
          <a:prstGeom prst="rect">
            <a:avLst/>
          </a:prstGeom>
          <a:solidFill>
            <a:srgbClr val="002060">
              <a:alpha val="10000"/>
            </a:srgbClr>
          </a:solidFill>
          <a:ln/>
        </p:spPr>
      </p:sp>
      <p:sp>
        <p:nvSpPr>
          <p:cNvPr id="1195505071" name="Text 15"/>
          <p:cNvSpPr/>
          <p:nvPr/>
        </p:nvSpPr>
        <p:spPr bwMode="auto">
          <a:xfrm>
            <a:off x="7416165" y="4359910"/>
            <a:ext cx="4674308" cy="457676"/>
          </a:xfrm>
          <a:prstGeom prst="rect">
            <a:avLst/>
          </a:prstGeom>
          <a:noFill/>
          <a:ln/>
        </p:spPr>
        <p:txBody>
          <a:bodyPr wrap="square" lIns="25400" tIns="25400" rIns="25400" bIns="25400" rtlCol="0" anchor="ctr">
            <a:normAutofit/>
          </a:bodyPr>
          <a:lstStyle/>
          <a:p>
            <a:pPr marL="0" indent="0" algn="l">
              <a:buNone/>
              <a:defRPr/>
            </a:pPr>
            <a:r>
              <a:rPr lang="en-US" sz="2250">
                <a:solidFill>
                  <a:srgbClr val="14161C"/>
                </a:solidFill>
                <a:latin typeface="Courier New"/>
                <a:ea typeface="Courier New"/>
                <a:cs typeface="Courier New"/>
              </a:rPr>
              <a:t>a2botX-host.local</a:t>
            </a:r>
            <a:endParaRPr lang="en-US" sz="2250"/>
          </a:p>
        </p:txBody>
      </p:sp>
      <p:sp>
        <p:nvSpPr>
          <p:cNvPr id="141593031" name="Shape 16"/>
          <p:cNvSpPr/>
          <p:nvPr/>
        </p:nvSpPr>
        <p:spPr bwMode="auto">
          <a:xfrm>
            <a:off x="12223433" y="4884261"/>
            <a:ext cx="5093018" cy="16669"/>
          </a:xfrm>
          <a:prstGeom prst="rect">
            <a:avLst/>
          </a:prstGeom>
          <a:solidFill>
            <a:srgbClr val="002060">
              <a:alpha val="10000"/>
            </a:srgbClr>
          </a:solidFill>
          <a:ln/>
        </p:spPr>
      </p:sp>
      <p:sp>
        <p:nvSpPr>
          <p:cNvPr id="752031037" name="Text 17"/>
          <p:cNvSpPr/>
          <p:nvPr/>
        </p:nvSpPr>
        <p:spPr bwMode="auto">
          <a:xfrm>
            <a:off x="12509183" y="4359910"/>
            <a:ext cx="4674308" cy="457676"/>
          </a:xfrm>
          <a:prstGeom prst="rect">
            <a:avLst/>
          </a:prstGeom>
          <a:noFill/>
          <a:ln/>
        </p:spPr>
        <p:txBody>
          <a:bodyPr wrap="square" lIns="25400" tIns="25400" rIns="25400" bIns="25400" rtlCol="0" anchor="ctr">
            <a:normAutofit/>
          </a:bodyPr>
          <a:lstStyle/>
          <a:p>
            <a:pPr marL="0" indent="0" algn="l">
              <a:buNone/>
              <a:defRPr/>
            </a:pPr>
            <a:r>
              <a:rPr lang="en-US" sz="2250">
                <a:solidFill>
                  <a:srgbClr val="DB5817"/>
                </a:solidFill>
                <a:latin typeface="Courier New"/>
                <a:ea typeface="Courier New"/>
                <a:cs typeface="Courier New"/>
              </a:rPr>
              <a:t>a2bot5-host.local</a:t>
            </a:r>
            <a:endParaRPr lang="en-US" sz="2250"/>
          </a:p>
        </p:txBody>
      </p:sp>
      <p:sp>
        <p:nvSpPr>
          <p:cNvPr id="1412963854" name="Shape 18"/>
          <p:cNvSpPr/>
          <p:nvPr/>
        </p:nvSpPr>
        <p:spPr bwMode="auto">
          <a:xfrm>
            <a:off x="1257300" y="4900930"/>
            <a:ext cx="16059150" cy="654050"/>
          </a:xfrm>
          <a:prstGeom prst="rect">
            <a:avLst/>
          </a:prstGeom>
          <a:solidFill>
            <a:srgbClr val="F6F3EE"/>
          </a:solidFill>
          <a:ln/>
        </p:spPr>
      </p:sp>
      <p:sp>
        <p:nvSpPr>
          <p:cNvPr id="1561119616" name="Shape 19"/>
          <p:cNvSpPr/>
          <p:nvPr/>
        </p:nvSpPr>
        <p:spPr bwMode="auto">
          <a:xfrm>
            <a:off x="1257300" y="5538311"/>
            <a:ext cx="5873115" cy="16669"/>
          </a:xfrm>
          <a:prstGeom prst="rect">
            <a:avLst/>
          </a:prstGeom>
          <a:solidFill>
            <a:srgbClr val="002060">
              <a:alpha val="10000"/>
            </a:srgbClr>
          </a:solidFill>
          <a:ln/>
        </p:spPr>
      </p:sp>
      <p:sp>
        <p:nvSpPr>
          <p:cNvPr id="443512729" name="Text 20"/>
          <p:cNvSpPr/>
          <p:nvPr/>
        </p:nvSpPr>
        <p:spPr bwMode="auto">
          <a:xfrm>
            <a:off x="1543050" y="5005705"/>
            <a:ext cx="5477808" cy="465931"/>
          </a:xfrm>
          <a:prstGeom prst="rect">
            <a:avLst/>
          </a:prstGeom>
          <a:noFill/>
          <a:ln/>
        </p:spPr>
        <p:txBody>
          <a:bodyPr wrap="square" lIns="25400" tIns="25400" rIns="25400" bIns="25400" rtlCol="0" anchor="ctr">
            <a:normAutofit/>
          </a:bodyPr>
          <a:lstStyle/>
          <a:p>
            <a:pPr marL="0" indent="0" algn="l">
              <a:buNone/>
              <a:defRPr/>
            </a:pPr>
            <a:r>
              <a:rPr lang="en-US" sz="2250">
                <a:solidFill>
                  <a:srgbClr val="002060"/>
                </a:solidFill>
                <a:latin typeface="Arial"/>
                <a:ea typeface="Arial"/>
                <a:cs typeface="Arial"/>
              </a:rPr>
              <a:t>SSH login</a:t>
            </a:r>
            <a:endParaRPr lang="en-US" sz="2250"/>
          </a:p>
        </p:txBody>
      </p:sp>
      <p:sp>
        <p:nvSpPr>
          <p:cNvPr id="1579044075" name="Shape 21"/>
          <p:cNvSpPr/>
          <p:nvPr/>
        </p:nvSpPr>
        <p:spPr bwMode="auto">
          <a:xfrm>
            <a:off x="7130415" y="5538311"/>
            <a:ext cx="5093018" cy="16669"/>
          </a:xfrm>
          <a:prstGeom prst="rect">
            <a:avLst/>
          </a:prstGeom>
          <a:solidFill>
            <a:srgbClr val="002060">
              <a:alpha val="10000"/>
            </a:srgbClr>
          </a:solidFill>
          <a:ln/>
        </p:spPr>
      </p:sp>
      <p:sp>
        <p:nvSpPr>
          <p:cNvPr id="1093795185" name="Text 22"/>
          <p:cNvSpPr/>
          <p:nvPr/>
        </p:nvSpPr>
        <p:spPr bwMode="auto">
          <a:xfrm>
            <a:off x="7416165" y="5005705"/>
            <a:ext cx="4674308" cy="465931"/>
          </a:xfrm>
          <a:prstGeom prst="rect">
            <a:avLst/>
          </a:prstGeom>
          <a:noFill/>
          <a:ln/>
        </p:spPr>
        <p:txBody>
          <a:bodyPr wrap="square" lIns="25400" tIns="25400" rIns="25400" bIns="25400" rtlCol="0" anchor="ctr">
            <a:normAutofit/>
          </a:bodyPr>
          <a:lstStyle/>
          <a:p>
            <a:pPr marL="0" indent="0" algn="l">
              <a:buNone/>
              <a:defRPr/>
            </a:pPr>
            <a:r>
              <a:rPr lang="en-US" sz="2250">
                <a:solidFill>
                  <a:srgbClr val="14161C"/>
                </a:solidFill>
                <a:latin typeface="Courier New"/>
                <a:ea typeface="Courier New"/>
                <a:cs typeface="Courier New"/>
              </a:rPr>
              <a:t>a2botX@a2botX-host</a:t>
            </a:r>
            <a:endParaRPr lang="en-US" sz="2250"/>
          </a:p>
        </p:txBody>
      </p:sp>
      <p:sp>
        <p:nvSpPr>
          <p:cNvPr id="1566860411" name="Shape 23"/>
          <p:cNvSpPr/>
          <p:nvPr/>
        </p:nvSpPr>
        <p:spPr bwMode="auto">
          <a:xfrm>
            <a:off x="12223433" y="5538311"/>
            <a:ext cx="5093018" cy="16669"/>
          </a:xfrm>
          <a:prstGeom prst="rect">
            <a:avLst/>
          </a:prstGeom>
          <a:solidFill>
            <a:srgbClr val="002060">
              <a:alpha val="10000"/>
            </a:srgbClr>
          </a:solidFill>
          <a:ln/>
        </p:spPr>
      </p:sp>
      <p:sp>
        <p:nvSpPr>
          <p:cNvPr id="672930264" name="Text 24"/>
          <p:cNvSpPr/>
          <p:nvPr/>
        </p:nvSpPr>
        <p:spPr bwMode="auto">
          <a:xfrm>
            <a:off x="12509183" y="5005705"/>
            <a:ext cx="4674308" cy="465931"/>
          </a:xfrm>
          <a:prstGeom prst="rect">
            <a:avLst/>
          </a:prstGeom>
          <a:noFill/>
          <a:ln/>
        </p:spPr>
        <p:txBody>
          <a:bodyPr wrap="square" lIns="25400" tIns="25400" rIns="25400" bIns="25400" rtlCol="0" anchor="ctr">
            <a:normAutofit/>
          </a:bodyPr>
          <a:lstStyle/>
          <a:p>
            <a:pPr marL="0" indent="0" algn="l">
              <a:buNone/>
              <a:defRPr/>
            </a:pPr>
            <a:r>
              <a:rPr lang="en-US" sz="2250">
                <a:solidFill>
                  <a:srgbClr val="DB5817"/>
                </a:solidFill>
                <a:latin typeface="Courier New"/>
                <a:ea typeface="Courier New"/>
                <a:cs typeface="Courier New"/>
              </a:rPr>
              <a:t>a2bot5@a2bot5-host</a:t>
            </a:r>
            <a:endParaRPr lang="en-US" sz="2250"/>
          </a:p>
        </p:txBody>
      </p:sp>
      <p:sp>
        <p:nvSpPr>
          <p:cNvPr id="437650829" name="Shape 25"/>
          <p:cNvSpPr/>
          <p:nvPr/>
        </p:nvSpPr>
        <p:spPr bwMode="auto">
          <a:xfrm>
            <a:off x="1257300" y="6192361"/>
            <a:ext cx="5873115" cy="16669"/>
          </a:xfrm>
          <a:prstGeom prst="rect">
            <a:avLst/>
          </a:prstGeom>
          <a:solidFill>
            <a:srgbClr val="002060">
              <a:alpha val="10000"/>
            </a:srgbClr>
          </a:solidFill>
          <a:ln/>
        </p:spPr>
      </p:sp>
      <p:sp>
        <p:nvSpPr>
          <p:cNvPr id="1982864001" name="Text 26"/>
          <p:cNvSpPr/>
          <p:nvPr/>
        </p:nvSpPr>
        <p:spPr bwMode="auto">
          <a:xfrm>
            <a:off x="1543050" y="5659755"/>
            <a:ext cx="5477808" cy="465931"/>
          </a:xfrm>
          <a:prstGeom prst="rect">
            <a:avLst/>
          </a:prstGeom>
          <a:noFill/>
          <a:ln/>
        </p:spPr>
        <p:txBody>
          <a:bodyPr wrap="square" lIns="25400" tIns="25400" rIns="25400" bIns="25400" rtlCol="0" anchor="ctr">
            <a:normAutofit/>
          </a:bodyPr>
          <a:lstStyle/>
          <a:p>
            <a:pPr marL="0" indent="0" algn="l">
              <a:buNone/>
              <a:defRPr/>
            </a:pPr>
            <a:r>
              <a:rPr lang="en-US" sz="2250">
                <a:solidFill>
                  <a:srgbClr val="002060"/>
                </a:solidFill>
                <a:latin typeface="Arial"/>
                <a:ea typeface="Arial"/>
                <a:cs typeface="Arial"/>
              </a:rPr>
              <a:t>Setup hotspot</a:t>
            </a:r>
            <a:endParaRPr lang="en-US" sz="2250"/>
          </a:p>
        </p:txBody>
      </p:sp>
      <p:sp>
        <p:nvSpPr>
          <p:cNvPr id="217639669" name="Shape 27"/>
          <p:cNvSpPr/>
          <p:nvPr/>
        </p:nvSpPr>
        <p:spPr bwMode="auto">
          <a:xfrm>
            <a:off x="7130415" y="6192361"/>
            <a:ext cx="5093018" cy="16669"/>
          </a:xfrm>
          <a:prstGeom prst="rect">
            <a:avLst/>
          </a:prstGeom>
          <a:solidFill>
            <a:srgbClr val="002060">
              <a:alpha val="10000"/>
            </a:srgbClr>
          </a:solidFill>
          <a:ln/>
        </p:spPr>
      </p:sp>
      <p:sp>
        <p:nvSpPr>
          <p:cNvPr id="1350142260" name="Text 28"/>
          <p:cNvSpPr/>
          <p:nvPr/>
        </p:nvSpPr>
        <p:spPr bwMode="auto">
          <a:xfrm>
            <a:off x="7416165" y="5659755"/>
            <a:ext cx="4674308" cy="465931"/>
          </a:xfrm>
          <a:prstGeom prst="rect">
            <a:avLst/>
          </a:prstGeom>
          <a:noFill/>
          <a:ln/>
        </p:spPr>
        <p:txBody>
          <a:bodyPr wrap="square" lIns="25400" tIns="25400" rIns="25400" bIns="25400" rtlCol="0" anchor="ctr">
            <a:normAutofit/>
          </a:bodyPr>
          <a:lstStyle/>
          <a:p>
            <a:pPr marL="0" indent="0" algn="l">
              <a:buNone/>
              <a:defRPr/>
            </a:pPr>
            <a:r>
              <a:rPr lang="en-US" sz="2250">
                <a:solidFill>
                  <a:srgbClr val="14161C"/>
                </a:solidFill>
                <a:latin typeface="Courier New"/>
                <a:ea typeface="Courier New"/>
                <a:cs typeface="Courier New"/>
              </a:rPr>
              <a:t>a2botX-setup</a:t>
            </a:r>
            <a:endParaRPr lang="en-US" sz="2250"/>
          </a:p>
        </p:txBody>
      </p:sp>
      <p:sp>
        <p:nvSpPr>
          <p:cNvPr id="275935691" name="Shape 29"/>
          <p:cNvSpPr/>
          <p:nvPr/>
        </p:nvSpPr>
        <p:spPr bwMode="auto">
          <a:xfrm>
            <a:off x="12223433" y="6192361"/>
            <a:ext cx="5093018" cy="16669"/>
          </a:xfrm>
          <a:prstGeom prst="rect">
            <a:avLst/>
          </a:prstGeom>
          <a:solidFill>
            <a:srgbClr val="002060">
              <a:alpha val="10000"/>
            </a:srgbClr>
          </a:solidFill>
          <a:ln/>
        </p:spPr>
      </p:sp>
      <p:sp>
        <p:nvSpPr>
          <p:cNvPr id="737582414" name="Text 30"/>
          <p:cNvSpPr/>
          <p:nvPr/>
        </p:nvSpPr>
        <p:spPr bwMode="auto">
          <a:xfrm>
            <a:off x="12509183" y="5659755"/>
            <a:ext cx="4674308" cy="465931"/>
          </a:xfrm>
          <a:prstGeom prst="rect">
            <a:avLst/>
          </a:prstGeom>
          <a:noFill/>
          <a:ln/>
        </p:spPr>
        <p:txBody>
          <a:bodyPr wrap="square" lIns="25400" tIns="25400" rIns="25400" bIns="25400" rtlCol="0" anchor="ctr">
            <a:normAutofit/>
          </a:bodyPr>
          <a:lstStyle/>
          <a:p>
            <a:pPr marL="0" indent="0" algn="l">
              <a:buNone/>
              <a:defRPr/>
            </a:pPr>
            <a:r>
              <a:rPr lang="en-US" sz="2250">
                <a:solidFill>
                  <a:srgbClr val="DB5817"/>
                </a:solidFill>
                <a:latin typeface="Courier New"/>
                <a:ea typeface="Courier New"/>
                <a:cs typeface="Courier New"/>
              </a:rPr>
              <a:t>a2bot5-setup</a:t>
            </a:r>
            <a:endParaRPr lang="en-US" sz="2250"/>
          </a:p>
        </p:txBody>
      </p:sp>
      <p:sp>
        <p:nvSpPr>
          <p:cNvPr id="1523823915" name="Shape 31"/>
          <p:cNvSpPr/>
          <p:nvPr/>
        </p:nvSpPr>
        <p:spPr bwMode="auto">
          <a:xfrm>
            <a:off x="1257300" y="6209030"/>
            <a:ext cx="16059150" cy="654050"/>
          </a:xfrm>
          <a:prstGeom prst="rect">
            <a:avLst/>
          </a:prstGeom>
          <a:solidFill>
            <a:srgbClr val="F6F3EE"/>
          </a:solidFill>
          <a:ln/>
        </p:spPr>
      </p:sp>
      <p:sp>
        <p:nvSpPr>
          <p:cNvPr id="322722995" name="Shape 32"/>
          <p:cNvSpPr/>
          <p:nvPr/>
        </p:nvSpPr>
        <p:spPr bwMode="auto">
          <a:xfrm>
            <a:off x="1257300" y="6846412"/>
            <a:ext cx="5873115" cy="16669"/>
          </a:xfrm>
          <a:prstGeom prst="rect">
            <a:avLst/>
          </a:prstGeom>
          <a:solidFill>
            <a:srgbClr val="002060">
              <a:alpha val="10000"/>
            </a:srgbClr>
          </a:solidFill>
          <a:ln/>
        </p:spPr>
      </p:sp>
      <p:sp>
        <p:nvSpPr>
          <p:cNvPr id="332988390" name="Text 33"/>
          <p:cNvSpPr/>
          <p:nvPr/>
        </p:nvSpPr>
        <p:spPr bwMode="auto">
          <a:xfrm>
            <a:off x="1543050" y="6313805"/>
            <a:ext cx="5477808" cy="465931"/>
          </a:xfrm>
          <a:prstGeom prst="rect">
            <a:avLst/>
          </a:prstGeom>
          <a:noFill/>
          <a:ln/>
        </p:spPr>
        <p:txBody>
          <a:bodyPr wrap="square" lIns="25400" tIns="25400" rIns="25400" bIns="25400" rtlCol="0" anchor="ctr">
            <a:normAutofit/>
          </a:bodyPr>
          <a:lstStyle/>
          <a:p>
            <a:pPr marL="0" indent="0" algn="l">
              <a:buNone/>
              <a:defRPr/>
            </a:pPr>
            <a:r>
              <a:rPr lang="en-US" sz="2250">
                <a:solidFill>
                  <a:srgbClr val="002060"/>
                </a:solidFill>
                <a:latin typeface="Arial"/>
                <a:ea typeface="Arial"/>
                <a:cs typeface="Arial"/>
              </a:rPr>
              <a:t>Robot IP on its hotspot</a:t>
            </a:r>
            <a:endParaRPr lang="en-US" sz="2250"/>
          </a:p>
        </p:txBody>
      </p:sp>
      <p:sp>
        <p:nvSpPr>
          <p:cNvPr id="2134231239" name="Shape 34"/>
          <p:cNvSpPr/>
          <p:nvPr/>
        </p:nvSpPr>
        <p:spPr bwMode="auto">
          <a:xfrm>
            <a:off x="7130415" y="6846412"/>
            <a:ext cx="5093018" cy="16669"/>
          </a:xfrm>
          <a:prstGeom prst="rect">
            <a:avLst/>
          </a:prstGeom>
          <a:solidFill>
            <a:srgbClr val="002060">
              <a:alpha val="10000"/>
            </a:srgbClr>
          </a:solidFill>
          <a:ln/>
        </p:spPr>
      </p:sp>
      <p:sp>
        <p:nvSpPr>
          <p:cNvPr id="302042487" name="Text 35"/>
          <p:cNvSpPr/>
          <p:nvPr/>
        </p:nvSpPr>
        <p:spPr bwMode="auto">
          <a:xfrm>
            <a:off x="7416165" y="6313805"/>
            <a:ext cx="4674308" cy="465931"/>
          </a:xfrm>
          <a:prstGeom prst="rect">
            <a:avLst/>
          </a:prstGeom>
          <a:noFill/>
          <a:ln/>
        </p:spPr>
        <p:txBody>
          <a:bodyPr wrap="square" lIns="25400" tIns="25400" rIns="25400" bIns="25400" rtlCol="0" anchor="ctr">
            <a:normAutofit/>
          </a:bodyPr>
          <a:lstStyle/>
          <a:p>
            <a:pPr marL="0" indent="0" algn="l">
              <a:buNone/>
              <a:defRPr/>
            </a:pPr>
            <a:r>
              <a:rPr lang="en-US" sz="2250">
                <a:solidFill>
                  <a:srgbClr val="14161C"/>
                </a:solidFill>
                <a:latin typeface="Courier New"/>
                <a:ea typeface="Courier New"/>
                <a:cs typeface="Courier New"/>
              </a:rPr>
              <a:t>10.42.0.X</a:t>
            </a:r>
            <a:endParaRPr lang="en-US" sz="2250"/>
          </a:p>
        </p:txBody>
      </p:sp>
      <p:sp>
        <p:nvSpPr>
          <p:cNvPr id="541326469" name="Shape 36"/>
          <p:cNvSpPr/>
          <p:nvPr/>
        </p:nvSpPr>
        <p:spPr bwMode="auto">
          <a:xfrm>
            <a:off x="12223433" y="6846412"/>
            <a:ext cx="5093018" cy="16669"/>
          </a:xfrm>
          <a:prstGeom prst="rect">
            <a:avLst/>
          </a:prstGeom>
          <a:solidFill>
            <a:srgbClr val="002060">
              <a:alpha val="10000"/>
            </a:srgbClr>
          </a:solidFill>
          <a:ln/>
        </p:spPr>
      </p:sp>
      <p:sp>
        <p:nvSpPr>
          <p:cNvPr id="1169844618" name="Text 37"/>
          <p:cNvSpPr/>
          <p:nvPr/>
        </p:nvSpPr>
        <p:spPr bwMode="auto">
          <a:xfrm>
            <a:off x="12509183" y="6313805"/>
            <a:ext cx="4674308" cy="465931"/>
          </a:xfrm>
          <a:prstGeom prst="rect">
            <a:avLst/>
          </a:prstGeom>
          <a:noFill/>
          <a:ln/>
        </p:spPr>
        <p:txBody>
          <a:bodyPr wrap="square" lIns="25400" tIns="25400" rIns="25400" bIns="25400" rtlCol="0" anchor="ctr">
            <a:normAutofit/>
          </a:bodyPr>
          <a:lstStyle/>
          <a:p>
            <a:pPr marL="0" indent="0" algn="l">
              <a:buNone/>
              <a:defRPr/>
            </a:pPr>
            <a:r>
              <a:rPr lang="en-US" sz="2250">
                <a:solidFill>
                  <a:srgbClr val="DB5817"/>
                </a:solidFill>
                <a:latin typeface="Courier New"/>
                <a:ea typeface="Courier New"/>
                <a:cs typeface="Courier New"/>
              </a:rPr>
              <a:t>10.42.0.5</a:t>
            </a:r>
            <a:endParaRPr lang="en-US" sz="2250"/>
          </a:p>
        </p:txBody>
      </p:sp>
      <p:sp>
        <p:nvSpPr>
          <p:cNvPr id="508959988" name="Shape 38"/>
          <p:cNvSpPr/>
          <p:nvPr/>
        </p:nvSpPr>
        <p:spPr bwMode="auto">
          <a:xfrm>
            <a:off x="1257300" y="7500461"/>
            <a:ext cx="5873115" cy="16669"/>
          </a:xfrm>
          <a:prstGeom prst="rect">
            <a:avLst/>
          </a:prstGeom>
          <a:solidFill>
            <a:srgbClr val="002060">
              <a:alpha val="10000"/>
            </a:srgbClr>
          </a:solidFill>
          <a:ln/>
        </p:spPr>
      </p:sp>
      <p:sp>
        <p:nvSpPr>
          <p:cNvPr id="1870452940" name="Text 39"/>
          <p:cNvSpPr/>
          <p:nvPr/>
        </p:nvSpPr>
        <p:spPr bwMode="auto">
          <a:xfrm>
            <a:off x="1543050" y="6967855"/>
            <a:ext cx="5477808" cy="465931"/>
          </a:xfrm>
          <a:prstGeom prst="rect">
            <a:avLst/>
          </a:prstGeom>
          <a:noFill/>
          <a:ln/>
        </p:spPr>
        <p:txBody>
          <a:bodyPr wrap="square" lIns="25400" tIns="25400" rIns="25400" bIns="25400" rtlCol="0" anchor="ctr">
            <a:normAutofit/>
          </a:bodyPr>
          <a:lstStyle/>
          <a:p>
            <a:pPr marL="0" indent="0" algn="l">
              <a:buNone/>
              <a:defRPr/>
            </a:pPr>
            <a:r>
              <a:rPr lang="en-US" sz="2250">
                <a:solidFill>
                  <a:srgbClr val="002060"/>
                </a:solidFill>
                <a:latin typeface="Arial"/>
                <a:ea typeface="Arial"/>
                <a:cs typeface="Arial"/>
              </a:rPr>
              <a:t>Robot IP over Ethernet</a:t>
            </a:r>
            <a:endParaRPr lang="en-US" sz="2250"/>
          </a:p>
        </p:txBody>
      </p:sp>
      <p:sp>
        <p:nvSpPr>
          <p:cNvPr id="1016986843" name="Shape 40"/>
          <p:cNvSpPr/>
          <p:nvPr/>
        </p:nvSpPr>
        <p:spPr bwMode="auto">
          <a:xfrm>
            <a:off x="7130415" y="7500461"/>
            <a:ext cx="5093018" cy="16669"/>
          </a:xfrm>
          <a:prstGeom prst="rect">
            <a:avLst/>
          </a:prstGeom>
          <a:solidFill>
            <a:srgbClr val="002060">
              <a:alpha val="10000"/>
            </a:srgbClr>
          </a:solidFill>
          <a:ln/>
        </p:spPr>
      </p:sp>
      <p:sp>
        <p:nvSpPr>
          <p:cNvPr id="838737385" name="Text 41"/>
          <p:cNvSpPr/>
          <p:nvPr/>
        </p:nvSpPr>
        <p:spPr bwMode="auto">
          <a:xfrm>
            <a:off x="7416165" y="6967855"/>
            <a:ext cx="4674308" cy="465931"/>
          </a:xfrm>
          <a:prstGeom prst="rect">
            <a:avLst/>
          </a:prstGeom>
          <a:noFill/>
          <a:ln/>
        </p:spPr>
        <p:txBody>
          <a:bodyPr wrap="square" lIns="25400" tIns="25400" rIns="25400" bIns="25400" rtlCol="0" anchor="ctr">
            <a:normAutofit/>
          </a:bodyPr>
          <a:lstStyle/>
          <a:p>
            <a:pPr marL="0" indent="0" algn="l">
              <a:buNone/>
              <a:defRPr/>
            </a:pPr>
            <a:r>
              <a:rPr lang="en-US" sz="2250">
                <a:solidFill>
                  <a:srgbClr val="14161C"/>
                </a:solidFill>
                <a:latin typeface="Courier New"/>
                <a:ea typeface="Courier New"/>
                <a:cs typeface="Courier New"/>
              </a:rPr>
              <a:t>10.0.0.10X</a:t>
            </a:r>
            <a:endParaRPr lang="en-US" sz="2250"/>
          </a:p>
        </p:txBody>
      </p:sp>
      <p:sp>
        <p:nvSpPr>
          <p:cNvPr id="549810114" name="Shape 42"/>
          <p:cNvSpPr/>
          <p:nvPr/>
        </p:nvSpPr>
        <p:spPr bwMode="auto">
          <a:xfrm>
            <a:off x="12223433" y="7500461"/>
            <a:ext cx="5093018" cy="16669"/>
          </a:xfrm>
          <a:prstGeom prst="rect">
            <a:avLst/>
          </a:prstGeom>
          <a:solidFill>
            <a:srgbClr val="002060">
              <a:alpha val="10000"/>
            </a:srgbClr>
          </a:solidFill>
          <a:ln/>
        </p:spPr>
      </p:sp>
      <p:sp>
        <p:nvSpPr>
          <p:cNvPr id="1731163707" name="Text 43"/>
          <p:cNvSpPr/>
          <p:nvPr/>
        </p:nvSpPr>
        <p:spPr bwMode="auto">
          <a:xfrm>
            <a:off x="12509183" y="6967855"/>
            <a:ext cx="4674308" cy="465931"/>
          </a:xfrm>
          <a:prstGeom prst="rect">
            <a:avLst/>
          </a:prstGeom>
          <a:noFill/>
          <a:ln/>
        </p:spPr>
        <p:txBody>
          <a:bodyPr wrap="square" lIns="25400" tIns="25400" rIns="25400" bIns="25400" rtlCol="0" anchor="ctr">
            <a:normAutofit/>
          </a:bodyPr>
          <a:lstStyle/>
          <a:p>
            <a:pPr marL="0" indent="0" algn="l">
              <a:buNone/>
              <a:defRPr/>
            </a:pPr>
            <a:r>
              <a:rPr lang="en-US" sz="2250">
                <a:solidFill>
                  <a:srgbClr val="DB5817"/>
                </a:solidFill>
                <a:latin typeface="Courier New"/>
                <a:ea typeface="Courier New"/>
                <a:cs typeface="Courier New"/>
              </a:rPr>
              <a:t>10.0.0.105</a:t>
            </a:r>
            <a:endParaRPr lang="en-US" sz="2250"/>
          </a:p>
        </p:txBody>
      </p:sp>
      <p:sp>
        <p:nvSpPr>
          <p:cNvPr id="698518862" name="Shape 44"/>
          <p:cNvSpPr/>
          <p:nvPr/>
        </p:nvSpPr>
        <p:spPr bwMode="auto">
          <a:xfrm>
            <a:off x="1257300" y="7517130"/>
            <a:ext cx="16059150" cy="654050"/>
          </a:xfrm>
          <a:prstGeom prst="rect">
            <a:avLst/>
          </a:prstGeom>
          <a:solidFill>
            <a:srgbClr val="F6F3EE"/>
          </a:solidFill>
          <a:ln/>
        </p:spPr>
      </p:sp>
      <p:sp>
        <p:nvSpPr>
          <p:cNvPr id="2111077015" name="Shape 45"/>
          <p:cNvSpPr/>
          <p:nvPr/>
        </p:nvSpPr>
        <p:spPr bwMode="auto">
          <a:xfrm>
            <a:off x="1257300" y="8154511"/>
            <a:ext cx="5873115" cy="16669"/>
          </a:xfrm>
          <a:prstGeom prst="rect">
            <a:avLst/>
          </a:prstGeom>
          <a:solidFill>
            <a:srgbClr val="002060">
              <a:alpha val="10000"/>
            </a:srgbClr>
          </a:solidFill>
          <a:ln/>
        </p:spPr>
      </p:sp>
      <p:sp>
        <p:nvSpPr>
          <p:cNvPr id="1281656425" name="Text 46"/>
          <p:cNvSpPr/>
          <p:nvPr/>
        </p:nvSpPr>
        <p:spPr bwMode="auto">
          <a:xfrm>
            <a:off x="1543050" y="7621905"/>
            <a:ext cx="5477808" cy="465931"/>
          </a:xfrm>
          <a:prstGeom prst="rect">
            <a:avLst/>
          </a:prstGeom>
          <a:noFill/>
          <a:ln/>
        </p:spPr>
        <p:txBody>
          <a:bodyPr wrap="square" lIns="25400" tIns="25400" rIns="25400" bIns="25400" rtlCol="0" anchor="ctr">
            <a:normAutofit/>
          </a:bodyPr>
          <a:lstStyle/>
          <a:p>
            <a:pPr marL="0" indent="0" algn="l">
              <a:buNone/>
              <a:defRPr/>
            </a:pPr>
            <a:r>
              <a:rPr lang="en-US" sz="2250">
                <a:solidFill>
                  <a:srgbClr val="002060"/>
                </a:solidFill>
                <a:latin typeface="Arial"/>
                <a:ea typeface="Arial"/>
                <a:cs typeface="Arial"/>
              </a:rPr>
              <a:t>Your laptop over Ethernet</a:t>
            </a:r>
            <a:endParaRPr lang="en-US" sz="2250"/>
          </a:p>
        </p:txBody>
      </p:sp>
      <p:sp>
        <p:nvSpPr>
          <p:cNvPr id="706233492" name="Shape 47"/>
          <p:cNvSpPr/>
          <p:nvPr/>
        </p:nvSpPr>
        <p:spPr bwMode="auto">
          <a:xfrm>
            <a:off x="7130415" y="8154511"/>
            <a:ext cx="5093018" cy="16669"/>
          </a:xfrm>
          <a:prstGeom prst="rect">
            <a:avLst/>
          </a:prstGeom>
          <a:solidFill>
            <a:srgbClr val="002060">
              <a:alpha val="10000"/>
            </a:srgbClr>
          </a:solidFill>
          <a:ln/>
        </p:spPr>
      </p:sp>
      <p:sp>
        <p:nvSpPr>
          <p:cNvPr id="2134715697" name="Text 48"/>
          <p:cNvSpPr/>
          <p:nvPr/>
        </p:nvSpPr>
        <p:spPr bwMode="auto">
          <a:xfrm>
            <a:off x="7416165" y="7621905"/>
            <a:ext cx="4674308" cy="465931"/>
          </a:xfrm>
          <a:prstGeom prst="rect">
            <a:avLst/>
          </a:prstGeom>
          <a:noFill/>
          <a:ln/>
        </p:spPr>
        <p:txBody>
          <a:bodyPr wrap="square" lIns="25400" tIns="25400" rIns="25400" bIns="25400" rtlCol="0" anchor="ctr">
            <a:normAutofit/>
          </a:bodyPr>
          <a:lstStyle/>
          <a:p>
            <a:pPr marL="0" indent="0" algn="l">
              <a:buNone/>
              <a:defRPr/>
            </a:pPr>
            <a:r>
              <a:rPr lang="en-US" sz="2250">
                <a:solidFill>
                  <a:srgbClr val="14161C"/>
                </a:solidFill>
                <a:latin typeface="Courier New"/>
                <a:ea typeface="Courier New"/>
                <a:cs typeface="Courier New"/>
              </a:rPr>
              <a:t>10.0.0.250</a:t>
            </a:r>
            <a:endParaRPr lang="en-US" sz="2250"/>
          </a:p>
        </p:txBody>
      </p:sp>
      <p:sp>
        <p:nvSpPr>
          <p:cNvPr id="1747553944" name="Shape 49"/>
          <p:cNvSpPr/>
          <p:nvPr/>
        </p:nvSpPr>
        <p:spPr bwMode="auto">
          <a:xfrm>
            <a:off x="12223433" y="8154511"/>
            <a:ext cx="5093018" cy="16669"/>
          </a:xfrm>
          <a:prstGeom prst="rect">
            <a:avLst/>
          </a:prstGeom>
          <a:solidFill>
            <a:srgbClr val="002060">
              <a:alpha val="10000"/>
            </a:srgbClr>
          </a:solidFill>
          <a:ln/>
        </p:spPr>
      </p:sp>
      <p:sp>
        <p:nvSpPr>
          <p:cNvPr id="361139078" name="Text 50"/>
          <p:cNvSpPr/>
          <p:nvPr/>
        </p:nvSpPr>
        <p:spPr bwMode="auto">
          <a:xfrm>
            <a:off x="12509183" y="7621905"/>
            <a:ext cx="4674308" cy="465931"/>
          </a:xfrm>
          <a:prstGeom prst="rect">
            <a:avLst/>
          </a:prstGeom>
          <a:noFill/>
          <a:ln/>
        </p:spPr>
        <p:txBody>
          <a:bodyPr wrap="square" lIns="25400" tIns="25400" rIns="25400" bIns="25400" rtlCol="0" anchor="ctr">
            <a:normAutofit/>
          </a:bodyPr>
          <a:lstStyle/>
          <a:p>
            <a:pPr marL="0" indent="0" algn="l">
              <a:buNone/>
              <a:defRPr/>
            </a:pPr>
            <a:r>
              <a:rPr lang="en-US" sz="2250">
                <a:solidFill>
                  <a:srgbClr val="DB5817"/>
                </a:solidFill>
                <a:latin typeface="Courier New"/>
                <a:ea typeface="Courier New"/>
                <a:cs typeface="Courier New"/>
              </a:rPr>
              <a:t>10.0.0.250</a:t>
            </a:r>
            <a:endParaRPr lang="en-US" sz="2250"/>
          </a:p>
        </p:txBody>
      </p:sp>
      <p:sp>
        <p:nvSpPr>
          <p:cNvPr id="135338449" name="Text 51"/>
          <p:cNvSpPr/>
          <p:nvPr/>
        </p:nvSpPr>
        <p:spPr bwMode="auto">
          <a:xfrm>
            <a:off x="1543050" y="8275955"/>
            <a:ext cx="5477808" cy="474186"/>
          </a:xfrm>
          <a:prstGeom prst="rect">
            <a:avLst/>
          </a:prstGeom>
          <a:noFill/>
          <a:ln/>
        </p:spPr>
        <p:txBody>
          <a:bodyPr wrap="square" lIns="25400" tIns="25400" rIns="25400" bIns="25400" rtlCol="0" anchor="ctr">
            <a:normAutofit/>
          </a:bodyPr>
          <a:lstStyle/>
          <a:p>
            <a:pPr marL="0" indent="0" algn="l">
              <a:buNone/>
              <a:defRPr/>
            </a:pPr>
            <a:r>
              <a:rPr lang="en-US" sz="2250">
                <a:solidFill>
                  <a:srgbClr val="002060"/>
                </a:solidFill>
                <a:latin typeface="Arial"/>
                <a:ea typeface="Arial"/>
                <a:cs typeface="Arial"/>
              </a:rPr>
              <a:t>ROS_DOMAIN_ID</a:t>
            </a:r>
            <a:endParaRPr lang="en-US" sz="2250"/>
          </a:p>
        </p:txBody>
      </p:sp>
      <p:sp>
        <p:nvSpPr>
          <p:cNvPr id="601512097" name="Text 52"/>
          <p:cNvSpPr/>
          <p:nvPr/>
        </p:nvSpPr>
        <p:spPr bwMode="auto">
          <a:xfrm>
            <a:off x="7416165" y="8275955"/>
            <a:ext cx="4674308" cy="474186"/>
          </a:xfrm>
          <a:prstGeom prst="rect">
            <a:avLst/>
          </a:prstGeom>
          <a:noFill/>
          <a:ln/>
        </p:spPr>
        <p:txBody>
          <a:bodyPr wrap="square" lIns="25400" tIns="25400" rIns="25400" bIns="25400" rtlCol="0" anchor="ctr">
            <a:normAutofit/>
          </a:bodyPr>
          <a:lstStyle/>
          <a:p>
            <a:pPr marL="0" indent="0" algn="l">
              <a:buNone/>
              <a:defRPr/>
            </a:pPr>
            <a:r>
              <a:rPr lang="en-US" sz="2250">
                <a:solidFill>
                  <a:srgbClr val="14161C"/>
                </a:solidFill>
                <a:latin typeface="Courier New"/>
                <a:ea typeface="Courier New"/>
                <a:cs typeface="Courier New"/>
              </a:rPr>
              <a:t>X</a:t>
            </a:r>
            <a:endParaRPr lang="en-US" sz="2250"/>
          </a:p>
        </p:txBody>
      </p:sp>
      <p:sp>
        <p:nvSpPr>
          <p:cNvPr id="1893521973" name="Text 53"/>
          <p:cNvSpPr/>
          <p:nvPr/>
        </p:nvSpPr>
        <p:spPr bwMode="auto">
          <a:xfrm>
            <a:off x="12509183" y="8275955"/>
            <a:ext cx="4674308" cy="474186"/>
          </a:xfrm>
          <a:prstGeom prst="rect">
            <a:avLst/>
          </a:prstGeom>
          <a:noFill/>
          <a:ln/>
        </p:spPr>
        <p:txBody>
          <a:bodyPr wrap="square" lIns="25400" tIns="25400" rIns="25400" bIns="25400" rtlCol="0" anchor="ctr">
            <a:normAutofit/>
          </a:bodyPr>
          <a:lstStyle/>
          <a:p>
            <a:pPr marL="0" indent="0" algn="l">
              <a:buNone/>
              <a:defRPr/>
            </a:pPr>
            <a:r>
              <a:rPr lang="en-US" sz="2250">
                <a:solidFill>
                  <a:srgbClr val="DB5817"/>
                </a:solidFill>
                <a:latin typeface="Courier New"/>
                <a:ea typeface="Courier New"/>
                <a:cs typeface="Courier New"/>
              </a:rPr>
              <a:t>5</a:t>
            </a:r>
            <a:endParaRPr lang="en-US" sz="2250"/>
          </a:p>
        </p:txBody>
      </p:sp>
      <p:sp>
        <p:nvSpPr>
          <p:cNvPr id="1820215660" name="Shape 54"/>
          <p:cNvSpPr/>
          <p:nvPr/>
        </p:nvSpPr>
        <p:spPr bwMode="auto">
          <a:xfrm>
            <a:off x="1257300" y="9323387"/>
            <a:ext cx="10986929" cy="601663"/>
          </a:xfrm>
          <a:prstGeom prst="roundRect">
            <a:avLst>
              <a:gd name="adj" fmla="val 50000"/>
            </a:avLst>
          </a:prstGeom>
          <a:ln w="27781">
            <a:solidFill>
              <a:srgbClr val="002060">
                <a:alpha val="15999"/>
              </a:srgbClr>
            </a:solidFill>
            <a:prstDash val="solid"/>
          </a:ln>
        </p:spPr>
      </p:sp>
      <p:sp>
        <p:nvSpPr>
          <p:cNvPr id="1486891049" name="Text 55"/>
          <p:cNvSpPr/>
          <p:nvPr/>
        </p:nvSpPr>
        <p:spPr bwMode="auto">
          <a:xfrm>
            <a:off x="1532731" y="9446419"/>
            <a:ext cx="672147" cy="393700"/>
          </a:xfrm>
          <a:prstGeom prst="rect">
            <a:avLst/>
          </a:prstGeom>
          <a:noFill/>
          <a:ln/>
        </p:spPr>
        <p:txBody>
          <a:bodyPr wrap="square" lIns="25400" tIns="25400" rIns="25400" bIns="25400" rtlCol="0" anchor="t">
            <a:normAutofit/>
          </a:bodyPr>
          <a:lstStyle/>
          <a:p>
            <a:pPr marL="0" indent="0" algn="l">
              <a:buNone/>
              <a:defRPr/>
            </a:pPr>
            <a:r>
              <a:rPr lang="en-US" sz="1900" b="1">
                <a:solidFill>
                  <a:srgbClr val="DB5817"/>
                </a:solidFill>
                <a:latin typeface="Arial"/>
                <a:ea typeface="Arial"/>
                <a:cs typeface="Arial"/>
              </a:rPr>
              <a:t>Docs</a:t>
            </a:r>
            <a:endParaRPr lang="en-US" sz="1900"/>
          </a:p>
        </p:txBody>
      </p:sp>
      <p:sp>
        <p:nvSpPr>
          <p:cNvPr id="461823977" name="Text 56"/>
          <p:cNvSpPr/>
          <p:nvPr/>
        </p:nvSpPr>
        <p:spPr bwMode="auto">
          <a:xfrm>
            <a:off x="2262029" y="9457531"/>
            <a:ext cx="9997972" cy="371475"/>
          </a:xfrm>
          <a:prstGeom prst="rect">
            <a:avLst/>
          </a:prstGeom>
          <a:noFill/>
          <a:ln/>
        </p:spPr>
        <p:txBody>
          <a:bodyPr wrap="square" lIns="0" tIns="0" rIns="0" bIns="0" rtlCol="0" anchor="t">
            <a:normAutofit/>
          </a:bodyPr>
          <a:lstStyle/>
          <a:p>
            <a:pPr marL="0" indent="0" algn="l">
              <a:buNone/>
              <a:defRPr/>
            </a:pPr>
            <a:r>
              <a:rPr lang="en-US" sz="1900">
                <a:solidFill>
                  <a:srgbClr val="002060"/>
                </a:solidFill>
                <a:latin typeface="Arial"/>
                <a:ea typeface="Arial"/>
                <a:cs typeface="Arial"/>
              </a:rPr>
              <a:t>Part 0 — Discovering and Controlling A2Bot · Toolkit — IP Addresses &amp; Your Network</a:t>
            </a:r>
            <a:endParaRPr lang="en-US" sz="1900"/>
          </a:p>
        </p:txBody>
      </p:sp>
      <p:pic>
        <p:nvPicPr>
          <p:cNvPr id="213255377" name="Image 1" descr="preencoded.png"/>
          <p:cNvPicPr>
            <a:picLocks noChangeAspect="1"/>
          </p:cNvPicPr>
          <p:nvPr/>
        </p:nvPicPr>
        <p:blipFill rotWithShape="1">
          <a:blip r:embed="rId4"/>
          <a:stretch/>
        </p:blipFill>
        <p:spPr bwMode="auto">
          <a:xfrm>
            <a:off x="17515840" y="9561512"/>
            <a:ext cx="143510" cy="34448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
    <p:bg>
      <p:bgPr shadeToTitle="0">
        <a:solidFill>
          <a:srgbClr val="FFFFFF"/>
        </a:solidFill>
      </p:bgPr>
    </p:bg>
    <p:spTree>
      <p:nvGrpSpPr>
        <p:cNvPr id="1" name=""/>
        <p:cNvGrpSpPr/>
        <p:nvPr/>
      </p:nvGrpSpPr>
      <p:grpSpPr bwMode="auto">
        <a:xfrm>
          <a:off x="0" y="0"/>
          <a:ext cx="0" cy="0"/>
          <a:chOff x="0" y="0"/>
          <a:chExt cx="0" cy="0"/>
        </a:xfrm>
      </p:grpSpPr>
      <p:sp>
        <p:nvSpPr>
          <p:cNvPr id="1676216758" name="Shape 0"/>
          <p:cNvSpPr/>
          <p:nvPr/>
        </p:nvSpPr>
        <p:spPr bwMode="auto">
          <a:xfrm>
            <a:off x="971550" y="0"/>
            <a:ext cx="28575" cy="10287000"/>
          </a:xfrm>
          <a:prstGeom prst="rect">
            <a:avLst/>
          </a:prstGeom>
          <a:solidFill>
            <a:srgbClr val="002060">
              <a:alpha val="15999"/>
            </a:srgbClr>
          </a:solidFill>
          <a:ln/>
        </p:spPr>
      </p:sp>
      <p:sp>
        <p:nvSpPr>
          <p:cNvPr id="1326234190" name="Shape 1"/>
          <p:cNvSpPr/>
          <p:nvPr/>
        </p:nvSpPr>
        <p:spPr bwMode="auto">
          <a:xfrm>
            <a:off x="971550" y="1009650"/>
            <a:ext cx="16687800" cy="28575"/>
          </a:xfrm>
          <a:prstGeom prst="rect">
            <a:avLst/>
          </a:prstGeom>
          <a:solidFill>
            <a:srgbClr val="002060">
              <a:alpha val="15999"/>
            </a:srgbClr>
          </a:solidFill>
          <a:ln/>
        </p:spPr>
      </p:sp>
      <p:pic>
        <p:nvPicPr>
          <p:cNvPr id="1202986623" name="Image 0" descr="preencoded.png"/>
          <p:cNvPicPr>
            <a:picLocks noChangeAspect="1"/>
          </p:cNvPicPr>
          <p:nvPr/>
        </p:nvPicPr>
        <p:blipFill rotWithShape="1">
          <a:blip r:embed="rId3"/>
          <a:stretch/>
        </p:blipFill>
        <p:spPr bwMode="auto">
          <a:xfrm>
            <a:off x="1257300" y="209550"/>
            <a:ext cx="779621" cy="647700"/>
          </a:xfrm>
          <a:prstGeom prst="rect">
            <a:avLst/>
          </a:prstGeom>
        </p:spPr>
      </p:pic>
      <p:sp>
        <p:nvSpPr>
          <p:cNvPr id="1956740367" name="Text 2"/>
          <p:cNvSpPr/>
          <p:nvPr/>
        </p:nvSpPr>
        <p:spPr bwMode="auto">
          <a:xfrm>
            <a:off x="14455616" y="400050"/>
            <a:ext cx="3524107" cy="393700"/>
          </a:xfrm>
          <a:prstGeom prst="rect">
            <a:avLst/>
          </a:prstGeom>
          <a:noFill/>
          <a:ln/>
        </p:spPr>
        <p:txBody>
          <a:bodyPr wrap="square" lIns="25400" tIns="25400" rIns="25400" bIns="25400" rtlCol="0" anchor="t">
            <a:normAutofit/>
          </a:bodyPr>
          <a:lstStyle/>
          <a:p>
            <a:pPr marL="0" indent="0" algn="l">
              <a:buNone/>
              <a:defRPr/>
            </a:pPr>
            <a:r>
              <a:rPr lang="en-US" sz="1900" spc="75">
                <a:solidFill>
                  <a:srgbClr val="DB5817"/>
                </a:solidFill>
                <a:latin typeface="Arial"/>
                <a:ea typeface="Arial"/>
                <a:cs typeface="Arial"/>
              </a:rPr>
              <a:t>www.centex-sarawak.my</a:t>
            </a:r>
            <a:endParaRPr lang="en-US" sz="1900"/>
          </a:p>
        </p:txBody>
      </p:sp>
      <p:sp>
        <p:nvSpPr>
          <p:cNvPr id="2123996642" name="Text 3"/>
          <p:cNvSpPr/>
          <p:nvPr/>
        </p:nvSpPr>
        <p:spPr bwMode="auto">
          <a:xfrm>
            <a:off x="1257300" y="1905000"/>
            <a:ext cx="17665065" cy="410369"/>
          </a:xfrm>
          <a:prstGeom prst="rect">
            <a:avLst/>
          </a:prstGeom>
          <a:noFill/>
          <a:ln/>
        </p:spPr>
        <p:txBody>
          <a:bodyPr wrap="square" lIns="25400" tIns="25400" rIns="25400" bIns="25400" rtlCol="0" anchor="t">
            <a:normAutofit/>
          </a:bodyPr>
          <a:lstStyle/>
          <a:p>
            <a:pPr marL="0" indent="0" algn="l">
              <a:buNone/>
              <a:defRPr/>
            </a:pPr>
            <a:r>
              <a:rPr lang="en-US" sz="1950" b="1" spc="311">
                <a:solidFill>
                  <a:srgbClr val="DB5817"/>
                </a:solidFill>
                <a:latin typeface="Arial"/>
                <a:ea typeface="Arial"/>
                <a:cs typeface="Arial"/>
              </a:rPr>
              <a:t>READ THE BADGES</a:t>
            </a:r>
            <a:endParaRPr lang="en-US" sz="1950"/>
          </a:p>
        </p:txBody>
      </p:sp>
      <p:sp>
        <p:nvSpPr>
          <p:cNvPr id="291284733" name="Text 4"/>
          <p:cNvSpPr/>
          <p:nvPr/>
        </p:nvSpPr>
        <p:spPr bwMode="auto">
          <a:xfrm>
            <a:off x="1257300" y="2486819"/>
            <a:ext cx="17665065" cy="805497"/>
          </a:xfrm>
          <a:prstGeom prst="rect">
            <a:avLst/>
          </a:prstGeom>
          <a:noFill/>
          <a:ln/>
        </p:spPr>
        <p:txBody>
          <a:bodyPr wrap="square" lIns="25400" tIns="25400" rIns="25400" bIns="25400" rtlCol="0" anchor="t">
            <a:normAutofit/>
          </a:bodyPr>
          <a:lstStyle/>
          <a:p>
            <a:pPr marL="0" indent="0" algn="l">
              <a:lnSpc>
                <a:spcPct val="94599"/>
              </a:lnSpc>
              <a:buNone/>
              <a:defRPr/>
            </a:pPr>
            <a:r>
              <a:rPr lang="en-US" sz="5700" b="1" spc="-57">
                <a:solidFill>
                  <a:srgbClr val="002060"/>
                </a:solidFill>
                <a:latin typeface="Arial"/>
                <a:ea typeface="Arial"/>
                <a:cs typeface="Arial"/>
              </a:rPr>
              <a:t>Two machines, two terminals</a:t>
            </a:r>
            <a:endParaRPr lang="en-US" sz="5700"/>
          </a:p>
        </p:txBody>
      </p:sp>
      <p:sp>
        <p:nvSpPr>
          <p:cNvPr id="1516733685" name="Text 5"/>
          <p:cNvSpPr/>
          <p:nvPr/>
        </p:nvSpPr>
        <p:spPr bwMode="auto">
          <a:xfrm>
            <a:off x="1257300" y="3520916"/>
            <a:ext cx="9528201" cy="998220"/>
          </a:xfrm>
          <a:prstGeom prst="rect">
            <a:avLst/>
          </a:prstGeom>
          <a:noFill/>
          <a:ln/>
        </p:spPr>
        <p:txBody>
          <a:bodyPr wrap="square" lIns="25400" tIns="25400" rIns="25400" bIns="25400" rtlCol="0" anchor="t">
            <a:normAutofit/>
          </a:bodyPr>
          <a:lstStyle/>
          <a:p>
            <a:pPr marL="0" indent="0" algn="l">
              <a:lnSpc>
                <a:spcPct val="123429"/>
              </a:lnSpc>
              <a:buNone/>
              <a:defRPr/>
            </a:pPr>
            <a:r>
              <a:rPr lang="en-US" sz="2700">
                <a:solidFill>
                  <a:srgbClr val="2A3040"/>
                </a:solidFill>
                <a:latin typeface="Arial"/>
                <a:ea typeface="Arial"/>
                <a:cs typeface="Arial"/>
              </a:rPr>
              <a:t>Every command today runs on one of two computers. The badge above each block tells you which.</a:t>
            </a:r>
            <a:endParaRPr lang="en-US" sz="2700"/>
          </a:p>
        </p:txBody>
      </p:sp>
      <p:sp>
        <p:nvSpPr>
          <p:cNvPr id="1948361587" name="Shape 6"/>
          <p:cNvSpPr/>
          <p:nvPr/>
        </p:nvSpPr>
        <p:spPr bwMode="auto">
          <a:xfrm>
            <a:off x="1257300" y="4881086"/>
            <a:ext cx="7820025" cy="3219133"/>
          </a:xfrm>
          <a:prstGeom prst="roundRect">
            <a:avLst>
              <a:gd name="adj" fmla="val 3551"/>
            </a:avLst>
          </a:prstGeom>
          <a:solidFill>
            <a:srgbClr val="F0E4EC"/>
          </a:solidFill>
          <a:ln/>
        </p:spPr>
      </p:sp>
      <p:sp>
        <p:nvSpPr>
          <p:cNvPr id="579409655" name="Shape 7"/>
          <p:cNvSpPr/>
          <p:nvPr/>
        </p:nvSpPr>
        <p:spPr bwMode="auto">
          <a:xfrm>
            <a:off x="1257300" y="4881086"/>
            <a:ext cx="7820025" cy="111125"/>
          </a:xfrm>
          <a:prstGeom prst="rect">
            <a:avLst/>
          </a:prstGeom>
          <a:solidFill>
            <a:srgbClr val="772953"/>
          </a:solidFill>
          <a:ln/>
        </p:spPr>
      </p:sp>
      <p:sp>
        <p:nvSpPr>
          <p:cNvPr id="1231146426" name="Shape 8"/>
          <p:cNvSpPr/>
          <p:nvPr/>
        </p:nvSpPr>
        <p:spPr bwMode="auto">
          <a:xfrm>
            <a:off x="1638300" y="5316062"/>
            <a:ext cx="2126298" cy="476250"/>
          </a:xfrm>
          <a:prstGeom prst="roundRect">
            <a:avLst>
              <a:gd name="adj" fmla="val 12000"/>
            </a:avLst>
          </a:prstGeom>
          <a:solidFill>
            <a:srgbClr val="772953"/>
          </a:solidFill>
          <a:ln/>
        </p:spPr>
      </p:sp>
      <p:sp>
        <p:nvSpPr>
          <p:cNvPr id="1696962256" name="Shape 9"/>
          <p:cNvSpPr/>
          <p:nvPr/>
        </p:nvSpPr>
        <p:spPr bwMode="auto">
          <a:xfrm>
            <a:off x="1866900" y="5487512"/>
            <a:ext cx="133350" cy="133350"/>
          </a:xfrm>
          <a:prstGeom prst="ellipse">
            <a:avLst/>
          </a:prstGeom>
          <a:solidFill>
            <a:srgbClr val="E95420"/>
          </a:solidFill>
          <a:ln/>
        </p:spPr>
      </p:sp>
      <p:sp>
        <p:nvSpPr>
          <p:cNvPr id="998827015" name="Text 10"/>
          <p:cNvSpPr/>
          <p:nvPr/>
        </p:nvSpPr>
        <p:spPr bwMode="auto">
          <a:xfrm>
            <a:off x="2114550" y="5387499"/>
            <a:ext cx="1497648" cy="371475"/>
          </a:xfrm>
          <a:prstGeom prst="rect">
            <a:avLst/>
          </a:prstGeom>
          <a:noFill/>
          <a:ln/>
        </p:spPr>
        <p:txBody>
          <a:bodyPr wrap="none" lIns="0" tIns="0" rIns="0" bIns="0" rtlCol="0" anchor="t">
            <a:normAutofit/>
          </a:bodyPr>
          <a:lstStyle/>
          <a:p>
            <a:pPr marL="0" indent="0" algn="l">
              <a:lnSpc>
                <a:spcPct val="104956"/>
              </a:lnSpc>
              <a:buNone/>
              <a:defRPr/>
            </a:pPr>
            <a:r>
              <a:rPr lang="en-US" sz="1900" b="1">
                <a:solidFill>
                  <a:srgbClr val="FFFFFF"/>
                </a:solidFill>
                <a:latin typeface="Arial"/>
                <a:ea typeface="Arial"/>
                <a:cs typeface="Arial"/>
              </a:rPr>
              <a:t>Your device</a:t>
            </a:r>
            <a:endParaRPr lang="en-US" sz="1900"/>
          </a:p>
        </p:txBody>
      </p:sp>
      <p:sp>
        <p:nvSpPr>
          <p:cNvPr id="1026956236" name="Text 11"/>
          <p:cNvSpPr/>
          <p:nvPr/>
        </p:nvSpPr>
        <p:spPr bwMode="auto">
          <a:xfrm>
            <a:off x="1638300" y="6001862"/>
            <a:ext cx="7763828" cy="521494"/>
          </a:xfrm>
          <a:prstGeom prst="rect">
            <a:avLst/>
          </a:prstGeom>
          <a:noFill/>
          <a:ln/>
        </p:spPr>
        <p:txBody>
          <a:bodyPr wrap="square" lIns="25400" tIns="25400" rIns="25400" bIns="25400" rtlCol="0" anchor="t">
            <a:normAutofit/>
          </a:bodyPr>
          <a:lstStyle/>
          <a:p>
            <a:pPr marL="0" indent="0" algn="l">
              <a:buNone/>
              <a:defRPr/>
            </a:pPr>
            <a:r>
              <a:rPr lang="en-US" sz="2550" b="1">
                <a:solidFill>
                  <a:srgbClr val="002060"/>
                </a:solidFill>
                <a:latin typeface="Arial"/>
                <a:ea typeface="Arial"/>
                <a:cs typeface="Arial"/>
              </a:rPr>
              <a:t>Your Ubuntu laptop</a:t>
            </a:r>
            <a:endParaRPr lang="en-US" sz="2550"/>
          </a:p>
        </p:txBody>
      </p:sp>
      <p:sp>
        <p:nvSpPr>
          <p:cNvPr id="236388708" name="Text 12"/>
          <p:cNvSpPr/>
          <p:nvPr/>
        </p:nvSpPr>
        <p:spPr bwMode="auto">
          <a:xfrm>
            <a:off x="1638300" y="6599555"/>
            <a:ext cx="7269766" cy="822643"/>
          </a:xfrm>
          <a:prstGeom prst="rect">
            <a:avLst/>
          </a:prstGeom>
          <a:noFill/>
          <a:ln/>
        </p:spPr>
        <p:txBody>
          <a:bodyPr wrap="square" lIns="25400" tIns="25400" rIns="25400" bIns="25400" rtlCol="0" anchor="t">
            <a:normAutofit/>
          </a:bodyPr>
          <a:lstStyle/>
          <a:p>
            <a:pPr marL="0" indent="0" algn="l">
              <a:lnSpc>
                <a:spcPct val="123859"/>
              </a:lnSpc>
              <a:buNone/>
              <a:defRPr/>
            </a:pPr>
            <a:r>
              <a:rPr lang="en-US" sz="2200">
                <a:solidFill>
                  <a:srgbClr val="2A3040"/>
                </a:solidFill>
                <a:latin typeface="Arial"/>
                <a:ea typeface="Arial"/>
                <a:cs typeface="Arial"/>
              </a:rPr>
              <a:t>Where you write code, run RViz2 and Gazebo, and drive the robot. Its prompt looks like </a:t>
            </a:r>
            <a:r>
              <a:rPr lang="en-US" sz="2050">
                <a:solidFill>
                  <a:srgbClr val="2A3040"/>
                </a:solidFill>
                <a:latin typeface="Courier New"/>
                <a:ea typeface="Courier New"/>
                <a:cs typeface="Courier New"/>
              </a:rPr>
              <a:t>&lt;you&gt;@&lt;laptop&gt;:~$</a:t>
            </a:r>
            <a:r>
              <a:rPr lang="en-US" sz="2200">
                <a:solidFill>
                  <a:srgbClr val="2A3040"/>
                </a:solidFill>
                <a:latin typeface="Arial"/>
                <a:ea typeface="Arial"/>
                <a:cs typeface="Arial"/>
              </a:rPr>
              <a:t>.</a:t>
            </a:r>
            <a:endParaRPr lang="en-US" sz="2200"/>
          </a:p>
        </p:txBody>
      </p:sp>
      <p:sp>
        <p:nvSpPr>
          <p:cNvPr id="2014556402" name="Shape 13"/>
          <p:cNvSpPr/>
          <p:nvPr/>
        </p:nvSpPr>
        <p:spPr bwMode="auto">
          <a:xfrm>
            <a:off x="9496425" y="4881086"/>
            <a:ext cx="7820025" cy="3219133"/>
          </a:xfrm>
          <a:prstGeom prst="roundRect">
            <a:avLst>
              <a:gd name="adj" fmla="val 3551"/>
            </a:avLst>
          </a:prstGeom>
          <a:solidFill>
            <a:srgbClr val="E7E9EE"/>
          </a:solidFill>
          <a:ln/>
        </p:spPr>
      </p:sp>
      <p:sp>
        <p:nvSpPr>
          <p:cNvPr id="462462308" name="Shape 14"/>
          <p:cNvSpPr/>
          <p:nvPr/>
        </p:nvSpPr>
        <p:spPr bwMode="auto">
          <a:xfrm>
            <a:off x="9496425" y="4881086"/>
            <a:ext cx="7820025" cy="111125"/>
          </a:xfrm>
          <a:prstGeom prst="rect">
            <a:avLst/>
          </a:prstGeom>
          <a:solidFill>
            <a:srgbClr val="16181D"/>
          </a:solidFill>
          <a:ln/>
        </p:spPr>
      </p:sp>
      <p:sp>
        <p:nvSpPr>
          <p:cNvPr id="1044025057" name="Shape 15"/>
          <p:cNvSpPr/>
          <p:nvPr/>
        </p:nvSpPr>
        <p:spPr bwMode="auto">
          <a:xfrm>
            <a:off x="9877424" y="5316062"/>
            <a:ext cx="3261836" cy="476250"/>
          </a:xfrm>
          <a:prstGeom prst="roundRect">
            <a:avLst>
              <a:gd name="adj" fmla="val 12000"/>
            </a:avLst>
          </a:prstGeom>
          <a:solidFill>
            <a:srgbClr val="16181D"/>
          </a:solidFill>
          <a:ln/>
        </p:spPr>
      </p:sp>
      <p:sp>
        <p:nvSpPr>
          <p:cNvPr id="911163826" name="Shape 16"/>
          <p:cNvSpPr/>
          <p:nvPr/>
        </p:nvSpPr>
        <p:spPr bwMode="auto">
          <a:xfrm>
            <a:off x="10106025" y="5487512"/>
            <a:ext cx="133350" cy="133350"/>
          </a:xfrm>
          <a:prstGeom prst="ellipse">
            <a:avLst/>
          </a:prstGeom>
          <a:solidFill>
            <a:srgbClr val="C51A4A"/>
          </a:solidFill>
          <a:ln/>
        </p:spPr>
      </p:sp>
      <p:sp>
        <p:nvSpPr>
          <p:cNvPr id="1432149112" name="Text 17"/>
          <p:cNvSpPr/>
          <p:nvPr/>
        </p:nvSpPr>
        <p:spPr bwMode="auto">
          <a:xfrm>
            <a:off x="10353675" y="5387499"/>
            <a:ext cx="2633696" cy="371475"/>
          </a:xfrm>
          <a:prstGeom prst="rect">
            <a:avLst/>
          </a:prstGeom>
          <a:noFill/>
          <a:ln/>
        </p:spPr>
        <p:txBody>
          <a:bodyPr wrap="none" lIns="0" tIns="0" rIns="0" bIns="0" rtlCol="0" anchor="t">
            <a:normAutofit/>
          </a:bodyPr>
          <a:lstStyle/>
          <a:p>
            <a:pPr marL="0" indent="0" algn="l">
              <a:lnSpc>
                <a:spcPct val="104956"/>
              </a:lnSpc>
              <a:buNone/>
              <a:defRPr/>
            </a:pPr>
            <a:r>
              <a:rPr lang="en-US" sz="1900" b="1">
                <a:solidFill>
                  <a:srgbClr val="FFFFFF"/>
                </a:solidFill>
                <a:latin typeface="Arial"/>
                <a:ea typeface="Arial"/>
                <a:cs typeface="Arial"/>
              </a:rPr>
              <a:t>A2Bot — Raspberry Pi</a:t>
            </a:r>
            <a:endParaRPr lang="en-US" sz="1900"/>
          </a:p>
        </p:txBody>
      </p:sp>
      <p:sp>
        <p:nvSpPr>
          <p:cNvPr id="1267075736" name="Text 18"/>
          <p:cNvSpPr/>
          <p:nvPr/>
        </p:nvSpPr>
        <p:spPr bwMode="auto">
          <a:xfrm>
            <a:off x="9877424" y="6001862"/>
            <a:ext cx="7763828" cy="521494"/>
          </a:xfrm>
          <a:prstGeom prst="rect">
            <a:avLst/>
          </a:prstGeom>
          <a:noFill/>
          <a:ln/>
        </p:spPr>
        <p:txBody>
          <a:bodyPr wrap="square" lIns="25400" tIns="25400" rIns="25400" bIns="25400" rtlCol="0" anchor="t">
            <a:normAutofit/>
          </a:bodyPr>
          <a:lstStyle/>
          <a:p>
            <a:pPr marL="0" indent="0" algn="l">
              <a:buNone/>
              <a:defRPr/>
            </a:pPr>
            <a:r>
              <a:rPr lang="en-US" sz="2550" b="1">
                <a:solidFill>
                  <a:srgbClr val="002060"/>
                </a:solidFill>
                <a:latin typeface="Arial"/>
                <a:ea typeface="Arial"/>
                <a:cs typeface="Arial"/>
              </a:rPr>
              <a:t>The robot's Raspberry Pi</a:t>
            </a:r>
            <a:endParaRPr lang="en-US" sz="2550"/>
          </a:p>
        </p:txBody>
      </p:sp>
      <p:sp>
        <p:nvSpPr>
          <p:cNvPr id="1775606638" name="Text 19"/>
          <p:cNvSpPr/>
          <p:nvPr/>
        </p:nvSpPr>
        <p:spPr bwMode="auto">
          <a:xfrm>
            <a:off x="9877424" y="6599555"/>
            <a:ext cx="7269766" cy="1214914"/>
          </a:xfrm>
          <a:prstGeom prst="rect">
            <a:avLst/>
          </a:prstGeom>
          <a:noFill/>
          <a:ln/>
        </p:spPr>
        <p:txBody>
          <a:bodyPr wrap="square" lIns="25400" tIns="25400" rIns="25400" bIns="25400" rtlCol="0" anchor="t">
            <a:normAutofit/>
          </a:bodyPr>
          <a:lstStyle/>
          <a:p>
            <a:pPr marL="0" indent="0" algn="l">
              <a:lnSpc>
                <a:spcPct val="123859"/>
              </a:lnSpc>
              <a:buNone/>
              <a:defRPr/>
            </a:pPr>
            <a:r>
              <a:rPr lang="en-US" sz="2200">
                <a:solidFill>
                  <a:srgbClr val="2A3040"/>
                </a:solidFill>
                <a:latin typeface="Arial"/>
                <a:ea typeface="Arial"/>
                <a:cs typeface="Arial"/>
              </a:rPr>
              <a:t>Reached over SSH. Runs the drivers, the lidar and the dashboard in the background. Its prompt looks like </a:t>
            </a:r>
            <a:r>
              <a:rPr lang="en-US" sz="2050">
                <a:solidFill>
                  <a:srgbClr val="2A3040"/>
                </a:solidFill>
                <a:latin typeface="Courier New"/>
                <a:ea typeface="Courier New"/>
                <a:cs typeface="Courier New"/>
              </a:rPr>
              <a:t>a2botX@a2botX-host:~$</a:t>
            </a:r>
            <a:r>
              <a:rPr lang="en-US" sz="2200">
                <a:solidFill>
                  <a:srgbClr val="2A3040"/>
                </a:solidFill>
                <a:latin typeface="Arial"/>
                <a:ea typeface="Arial"/>
                <a:cs typeface="Arial"/>
              </a:rPr>
              <a:t>.</a:t>
            </a:r>
            <a:endParaRPr lang="en-US" sz="2200"/>
          </a:p>
        </p:txBody>
      </p:sp>
      <p:pic>
        <p:nvPicPr>
          <p:cNvPr id="851552216" name="Image 1" descr="preencoded.png"/>
          <p:cNvPicPr>
            <a:picLocks noChangeAspect="1"/>
          </p:cNvPicPr>
          <p:nvPr/>
        </p:nvPicPr>
        <p:blipFill rotWithShape="1">
          <a:blip r:embed="rId4"/>
          <a:stretch/>
        </p:blipFill>
        <p:spPr bwMode="auto">
          <a:xfrm>
            <a:off x="17514252" y="9561512"/>
            <a:ext cx="145098" cy="34448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
    <p:bg>
      <p:bgPr shadeToTitle="0">
        <a:solidFill>
          <a:srgbClr val="FFFFFF"/>
        </a:solidFill>
      </p:bgPr>
    </p:bg>
    <p:spTree>
      <p:nvGrpSpPr>
        <p:cNvPr id="1" name=""/>
        <p:cNvGrpSpPr/>
        <p:nvPr/>
      </p:nvGrpSpPr>
      <p:grpSpPr bwMode="auto">
        <a:xfrm>
          <a:off x="0" y="0"/>
          <a:ext cx="0" cy="0"/>
          <a:chOff x="0" y="0"/>
          <a:chExt cx="0" cy="0"/>
        </a:xfrm>
      </p:grpSpPr>
      <p:sp>
        <p:nvSpPr>
          <p:cNvPr id="1334706060" name="Shape 0"/>
          <p:cNvSpPr/>
          <p:nvPr/>
        </p:nvSpPr>
        <p:spPr bwMode="auto">
          <a:xfrm>
            <a:off x="971550" y="0"/>
            <a:ext cx="28575" cy="10287000"/>
          </a:xfrm>
          <a:prstGeom prst="rect">
            <a:avLst/>
          </a:prstGeom>
          <a:solidFill>
            <a:srgbClr val="002060">
              <a:alpha val="15999"/>
            </a:srgbClr>
          </a:solidFill>
          <a:ln/>
        </p:spPr>
      </p:sp>
      <p:sp>
        <p:nvSpPr>
          <p:cNvPr id="1301476603" name="Shape 1"/>
          <p:cNvSpPr/>
          <p:nvPr/>
        </p:nvSpPr>
        <p:spPr bwMode="auto">
          <a:xfrm>
            <a:off x="971550" y="1009650"/>
            <a:ext cx="16687800" cy="28575"/>
          </a:xfrm>
          <a:prstGeom prst="rect">
            <a:avLst/>
          </a:prstGeom>
          <a:solidFill>
            <a:srgbClr val="002060">
              <a:alpha val="15999"/>
            </a:srgbClr>
          </a:solidFill>
          <a:ln/>
        </p:spPr>
      </p:sp>
      <p:pic>
        <p:nvPicPr>
          <p:cNvPr id="1606917380" name="Image 0" descr="preencoded.png"/>
          <p:cNvPicPr>
            <a:picLocks noChangeAspect="1"/>
          </p:cNvPicPr>
          <p:nvPr/>
        </p:nvPicPr>
        <p:blipFill rotWithShape="1">
          <a:blip r:embed="rId3"/>
          <a:stretch/>
        </p:blipFill>
        <p:spPr bwMode="auto">
          <a:xfrm>
            <a:off x="1257300" y="209550"/>
            <a:ext cx="779621" cy="647700"/>
          </a:xfrm>
          <a:prstGeom prst="rect">
            <a:avLst/>
          </a:prstGeom>
        </p:spPr>
      </p:pic>
      <p:sp>
        <p:nvSpPr>
          <p:cNvPr id="859067067" name="Text 2"/>
          <p:cNvSpPr/>
          <p:nvPr/>
        </p:nvSpPr>
        <p:spPr bwMode="auto">
          <a:xfrm>
            <a:off x="14455616" y="400050"/>
            <a:ext cx="3524107" cy="393700"/>
          </a:xfrm>
          <a:prstGeom prst="rect">
            <a:avLst/>
          </a:prstGeom>
          <a:noFill/>
          <a:ln/>
        </p:spPr>
        <p:txBody>
          <a:bodyPr wrap="square" lIns="25400" tIns="25400" rIns="25400" bIns="25400" rtlCol="0" anchor="t">
            <a:normAutofit/>
          </a:bodyPr>
          <a:lstStyle/>
          <a:p>
            <a:pPr marL="0" indent="0" algn="l">
              <a:buNone/>
              <a:defRPr/>
            </a:pPr>
            <a:r>
              <a:rPr lang="en-US" sz="1900" spc="75">
                <a:solidFill>
                  <a:srgbClr val="DB5817"/>
                </a:solidFill>
                <a:latin typeface="Arial"/>
                <a:ea typeface="Arial"/>
                <a:cs typeface="Arial"/>
              </a:rPr>
              <a:t>www.centex-sarawak.my</a:t>
            </a:r>
            <a:endParaRPr lang="en-US" sz="1900"/>
          </a:p>
        </p:txBody>
      </p:sp>
      <p:sp>
        <p:nvSpPr>
          <p:cNvPr id="883720677" name="Text 3"/>
          <p:cNvSpPr/>
          <p:nvPr/>
        </p:nvSpPr>
        <p:spPr bwMode="auto">
          <a:xfrm>
            <a:off x="1257300" y="1905000"/>
            <a:ext cx="17665065" cy="410369"/>
          </a:xfrm>
          <a:prstGeom prst="rect">
            <a:avLst/>
          </a:prstGeom>
          <a:noFill/>
          <a:ln/>
        </p:spPr>
        <p:txBody>
          <a:bodyPr wrap="square" lIns="25400" tIns="25400" rIns="25400" bIns="25400" rtlCol="0" anchor="t">
            <a:normAutofit/>
          </a:bodyPr>
          <a:lstStyle/>
          <a:p>
            <a:pPr marL="0" indent="0" algn="l">
              <a:buNone/>
              <a:defRPr/>
            </a:pPr>
            <a:r>
              <a:rPr lang="en-US" sz="1950" b="1" spc="311">
                <a:solidFill>
                  <a:srgbClr val="DB5817"/>
                </a:solidFill>
                <a:latin typeface="Arial"/>
                <a:ea typeface="Arial"/>
                <a:cs typeface="Arial"/>
              </a:rPr>
              <a:t>STEP 1 · PREPARE YOUR LAPTOP</a:t>
            </a:r>
            <a:endParaRPr lang="en-US" sz="1950"/>
          </a:p>
        </p:txBody>
      </p:sp>
      <p:sp>
        <p:nvSpPr>
          <p:cNvPr id="1611498605" name="Text 4"/>
          <p:cNvSpPr/>
          <p:nvPr/>
        </p:nvSpPr>
        <p:spPr bwMode="auto">
          <a:xfrm>
            <a:off x="1257300" y="2486819"/>
            <a:ext cx="17665065" cy="805497"/>
          </a:xfrm>
          <a:prstGeom prst="rect">
            <a:avLst/>
          </a:prstGeom>
          <a:noFill/>
          <a:ln/>
        </p:spPr>
        <p:txBody>
          <a:bodyPr wrap="square" lIns="25400" tIns="25400" rIns="25400" bIns="25400" rtlCol="0" anchor="t">
            <a:normAutofit/>
          </a:bodyPr>
          <a:lstStyle/>
          <a:p>
            <a:pPr marL="0" indent="0" algn="l">
              <a:lnSpc>
                <a:spcPct val="94599"/>
              </a:lnSpc>
              <a:buNone/>
              <a:defRPr/>
            </a:pPr>
            <a:r>
              <a:rPr lang="en-US" sz="5700" b="1" spc="-57">
                <a:solidFill>
                  <a:srgbClr val="002060"/>
                </a:solidFill>
                <a:latin typeface="Arial"/>
                <a:ea typeface="Arial"/>
                <a:cs typeface="Arial"/>
              </a:rPr>
              <a:t>Install the SSH client</a:t>
            </a:r>
            <a:endParaRPr lang="en-US" sz="5700"/>
          </a:p>
        </p:txBody>
      </p:sp>
      <p:sp>
        <p:nvSpPr>
          <p:cNvPr id="1161582111" name="Text 5"/>
          <p:cNvSpPr/>
          <p:nvPr/>
        </p:nvSpPr>
        <p:spPr bwMode="auto">
          <a:xfrm>
            <a:off x="1257300" y="3520916"/>
            <a:ext cx="9528201" cy="998220"/>
          </a:xfrm>
          <a:prstGeom prst="rect">
            <a:avLst/>
          </a:prstGeom>
          <a:noFill/>
          <a:ln/>
        </p:spPr>
        <p:txBody>
          <a:bodyPr wrap="square" lIns="25400" tIns="25400" rIns="25400" bIns="25400" rtlCol="0" anchor="t">
            <a:normAutofit/>
          </a:bodyPr>
          <a:lstStyle/>
          <a:p>
            <a:pPr marL="0" indent="0" algn="l">
              <a:lnSpc>
                <a:spcPct val="123429"/>
              </a:lnSpc>
              <a:buNone/>
              <a:defRPr/>
            </a:pPr>
            <a:r>
              <a:rPr lang="en-US" sz="2700">
                <a:solidFill>
                  <a:srgbClr val="2A3040"/>
                </a:solidFill>
                <a:latin typeface="Arial"/>
                <a:ea typeface="Arial"/>
                <a:cs typeface="Arial"/>
              </a:rPr>
              <a:t>SSH gives you a terminal on the robot. You need the client; the robot already runs the server.</a:t>
            </a:r>
            <a:endParaRPr lang="en-US" sz="2700"/>
          </a:p>
        </p:txBody>
      </p:sp>
      <p:sp>
        <p:nvSpPr>
          <p:cNvPr id="1324002628" name="Shape 6"/>
          <p:cNvSpPr/>
          <p:nvPr/>
        </p:nvSpPr>
        <p:spPr bwMode="auto">
          <a:xfrm>
            <a:off x="1257300" y="4823936"/>
            <a:ext cx="16059150" cy="1565910"/>
          </a:xfrm>
          <a:prstGeom prst="roundRect">
            <a:avLst>
              <a:gd name="adj" fmla="val 6083"/>
            </a:avLst>
          </a:prstGeom>
          <a:ln/>
          <a:effectLst>
            <a:outerShdw blurRad="323850" dist="114300" dir="5400000" sx="100000" sy="100000" kx="0" ky="0" algn="bl" rotWithShape="0">
              <a:srgbClr val="002060">
                <a:alpha val="18000"/>
              </a:srgbClr>
            </a:outerShdw>
          </a:effectLst>
        </p:spPr>
      </p:sp>
      <p:sp>
        <p:nvSpPr>
          <p:cNvPr id="1031939106" name="Shape 7"/>
          <p:cNvSpPr/>
          <p:nvPr/>
        </p:nvSpPr>
        <p:spPr bwMode="auto">
          <a:xfrm>
            <a:off x="1257300" y="4823936"/>
            <a:ext cx="16059150" cy="666750"/>
          </a:xfrm>
          <a:prstGeom prst="rect">
            <a:avLst/>
          </a:prstGeom>
          <a:solidFill>
            <a:srgbClr val="5E2750"/>
          </a:solidFill>
          <a:ln/>
        </p:spPr>
      </p:sp>
      <p:sp>
        <p:nvSpPr>
          <p:cNvPr id="737941572" name="Shape 8"/>
          <p:cNvSpPr/>
          <p:nvPr/>
        </p:nvSpPr>
        <p:spPr bwMode="auto">
          <a:xfrm>
            <a:off x="1524000" y="4957286"/>
            <a:ext cx="1802448" cy="400050"/>
          </a:xfrm>
          <a:prstGeom prst="roundRect">
            <a:avLst>
              <a:gd name="adj" fmla="val 14286"/>
            </a:avLst>
          </a:prstGeom>
          <a:solidFill>
            <a:srgbClr val="FFFFFF"/>
          </a:solidFill>
          <a:ln/>
        </p:spPr>
      </p:sp>
      <p:sp>
        <p:nvSpPr>
          <p:cNvPr id="464439122" name="Text 9"/>
          <p:cNvSpPr/>
          <p:nvPr/>
        </p:nvSpPr>
        <p:spPr bwMode="auto">
          <a:xfrm>
            <a:off x="1714500" y="5014436"/>
            <a:ext cx="1497648" cy="323850"/>
          </a:xfrm>
          <a:prstGeom prst="rect">
            <a:avLst/>
          </a:prstGeom>
          <a:noFill/>
          <a:ln/>
        </p:spPr>
        <p:txBody>
          <a:bodyPr wrap="none" lIns="25400" tIns="25400" rIns="25400" bIns="25400" rtlCol="0" anchor="ctr">
            <a:normAutofit/>
          </a:bodyPr>
          <a:lstStyle/>
          <a:p>
            <a:pPr marL="0" indent="0" algn="l">
              <a:lnSpc>
                <a:spcPct val="104956"/>
              </a:lnSpc>
              <a:buNone/>
              <a:defRPr/>
            </a:pPr>
            <a:r>
              <a:rPr lang="en-US" sz="1900" b="1">
                <a:solidFill>
                  <a:srgbClr val="772953"/>
                </a:solidFill>
                <a:latin typeface="Arial"/>
                <a:ea typeface="Arial"/>
                <a:cs typeface="Arial"/>
              </a:rPr>
              <a:t>Your device</a:t>
            </a:r>
            <a:endParaRPr lang="en-US" sz="1900"/>
          </a:p>
        </p:txBody>
      </p:sp>
      <p:sp>
        <p:nvSpPr>
          <p:cNvPr id="811712129" name="Text 10"/>
          <p:cNvSpPr/>
          <p:nvPr/>
        </p:nvSpPr>
        <p:spPr bwMode="auto">
          <a:xfrm>
            <a:off x="3535998" y="4985068"/>
            <a:ext cx="4822793" cy="382588"/>
          </a:xfrm>
          <a:prstGeom prst="rect">
            <a:avLst/>
          </a:prstGeom>
          <a:noFill/>
          <a:ln/>
        </p:spPr>
        <p:txBody>
          <a:bodyPr wrap="square" lIns="25400" tIns="25400" rIns="25400" bIns="25400" rtlCol="0" anchor="t">
            <a:normAutofit/>
          </a:bodyPr>
          <a:lstStyle/>
          <a:p>
            <a:pPr marL="0" indent="0" algn="l">
              <a:buNone/>
              <a:defRPr/>
            </a:pPr>
            <a:r>
              <a:rPr lang="en-US" sz="1800">
                <a:solidFill>
                  <a:srgbClr val="FFFFFF">
                    <a:alpha val="82000"/>
                  </a:srgbClr>
                </a:solidFill>
                <a:latin typeface="Arial"/>
                <a:ea typeface="Arial"/>
                <a:cs typeface="Arial"/>
              </a:rPr>
              <a:t>Already installed? This prints a version.</a:t>
            </a:r>
            <a:endParaRPr lang="en-US" sz="1800"/>
          </a:p>
        </p:txBody>
      </p:sp>
      <p:sp>
        <p:nvSpPr>
          <p:cNvPr id="155038744" name="Shape 11"/>
          <p:cNvSpPr/>
          <p:nvPr/>
        </p:nvSpPr>
        <p:spPr bwMode="auto">
          <a:xfrm>
            <a:off x="1257300" y="5490686"/>
            <a:ext cx="16059150" cy="899160"/>
          </a:xfrm>
          <a:prstGeom prst="rect">
            <a:avLst/>
          </a:prstGeom>
          <a:solidFill>
            <a:srgbClr val="0E1013"/>
          </a:solidFill>
          <a:ln/>
        </p:spPr>
      </p:sp>
      <p:sp>
        <p:nvSpPr>
          <p:cNvPr id="765900862" name="Shape 12"/>
          <p:cNvSpPr/>
          <p:nvPr/>
        </p:nvSpPr>
        <p:spPr bwMode="auto">
          <a:xfrm>
            <a:off x="1257300" y="5490686"/>
            <a:ext cx="111125" cy="899160"/>
          </a:xfrm>
          <a:prstGeom prst="rect">
            <a:avLst/>
          </a:prstGeom>
          <a:solidFill>
            <a:srgbClr val="772953"/>
          </a:solidFill>
          <a:ln/>
        </p:spPr>
      </p:sp>
      <p:sp>
        <p:nvSpPr>
          <p:cNvPr id="642102474" name="Text 13"/>
          <p:cNvSpPr/>
          <p:nvPr/>
        </p:nvSpPr>
        <p:spPr bwMode="auto">
          <a:xfrm>
            <a:off x="1654175" y="5719286"/>
            <a:ext cx="15858299" cy="480060"/>
          </a:xfrm>
          <a:prstGeom prst="rect">
            <a:avLst/>
          </a:prstGeom>
          <a:noFill/>
          <a:ln/>
        </p:spPr>
        <p:txBody>
          <a:bodyPr wrap="square" lIns="25400" tIns="25400" rIns="25400" bIns="25400" rtlCol="0" anchor="t">
            <a:normAutofit/>
          </a:bodyPr>
          <a:lstStyle/>
          <a:p>
            <a:pPr marL="0" indent="0" algn="l">
              <a:lnSpc>
                <a:spcPct val="126259"/>
              </a:lnSpc>
              <a:buNone/>
              <a:defRPr/>
            </a:pPr>
            <a:r>
              <a:rPr lang="en-US" sz="2400">
                <a:solidFill>
                  <a:srgbClr val="7FD1A6"/>
                </a:solidFill>
                <a:latin typeface="Courier New"/>
                <a:ea typeface="Courier New"/>
                <a:cs typeface="Courier New"/>
              </a:rPr>
              <a:t>$</a:t>
            </a:r>
            <a:r>
              <a:rPr lang="en-US" sz="2400">
                <a:solidFill>
                  <a:srgbClr val="F2F4F7"/>
                </a:solidFill>
                <a:highlight>
                  <a:srgbClr val="0E1013"/>
                </a:highlight>
                <a:latin typeface="Courier New"/>
                <a:ea typeface="Courier New"/>
                <a:cs typeface="Courier New"/>
              </a:rPr>
              <a:t> ssh -V</a:t>
            </a:r>
            <a:endParaRPr lang="en-US" sz="2400"/>
          </a:p>
        </p:txBody>
      </p:sp>
      <p:sp>
        <p:nvSpPr>
          <p:cNvPr id="1523050139" name="Shape 14"/>
          <p:cNvSpPr/>
          <p:nvPr/>
        </p:nvSpPr>
        <p:spPr bwMode="auto">
          <a:xfrm>
            <a:off x="1257300" y="6637495"/>
            <a:ext cx="16059150" cy="2007870"/>
          </a:xfrm>
          <a:prstGeom prst="roundRect">
            <a:avLst>
              <a:gd name="adj" fmla="val 4744"/>
            </a:avLst>
          </a:prstGeom>
          <a:ln/>
          <a:effectLst>
            <a:outerShdw blurRad="323850" dist="114300" dir="5400000" sx="100000" sy="100000" kx="0" ky="0" algn="bl" rotWithShape="0">
              <a:srgbClr val="002060">
                <a:alpha val="18000"/>
              </a:srgbClr>
            </a:outerShdw>
          </a:effectLst>
        </p:spPr>
      </p:sp>
      <p:sp>
        <p:nvSpPr>
          <p:cNvPr id="1738421369" name="Shape 15"/>
          <p:cNvSpPr/>
          <p:nvPr/>
        </p:nvSpPr>
        <p:spPr bwMode="auto">
          <a:xfrm>
            <a:off x="1257300" y="6637495"/>
            <a:ext cx="16059150" cy="666750"/>
          </a:xfrm>
          <a:prstGeom prst="rect">
            <a:avLst/>
          </a:prstGeom>
          <a:solidFill>
            <a:srgbClr val="5E2750"/>
          </a:solidFill>
          <a:ln/>
        </p:spPr>
      </p:sp>
      <p:sp>
        <p:nvSpPr>
          <p:cNvPr id="765958533" name="Shape 16"/>
          <p:cNvSpPr/>
          <p:nvPr/>
        </p:nvSpPr>
        <p:spPr bwMode="auto">
          <a:xfrm>
            <a:off x="1524000" y="6770846"/>
            <a:ext cx="1802448" cy="400050"/>
          </a:xfrm>
          <a:prstGeom prst="roundRect">
            <a:avLst>
              <a:gd name="adj" fmla="val 14286"/>
            </a:avLst>
          </a:prstGeom>
          <a:solidFill>
            <a:srgbClr val="FFFFFF"/>
          </a:solidFill>
          <a:ln/>
        </p:spPr>
      </p:sp>
      <p:sp>
        <p:nvSpPr>
          <p:cNvPr id="1842389634" name="Text 17"/>
          <p:cNvSpPr/>
          <p:nvPr/>
        </p:nvSpPr>
        <p:spPr bwMode="auto">
          <a:xfrm>
            <a:off x="1714500" y="6827996"/>
            <a:ext cx="1497648" cy="323850"/>
          </a:xfrm>
          <a:prstGeom prst="rect">
            <a:avLst/>
          </a:prstGeom>
          <a:noFill/>
          <a:ln/>
        </p:spPr>
        <p:txBody>
          <a:bodyPr wrap="none" lIns="25400" tIns="25400" rIns="25400" bIns="25400" rtlCol="0" anchor="ctr">
            <a:normAutofit/>
          </a:bodyPr>
          <a:lstStyle/>
          <a:p>
            <a:pPr marL="0" indent="0" algn="l">
              <a:lnSpc>
                <a:spcPct val="104956"/>
              </a:lnSpc>
              <a:buNone/>
              <a:defRPr/>
            </a:pPr>
            <a:r>
              <a:rPr lang="en-US" sz="1900" b="1">
                <a:solidFill>
                  <a:srgbClr val="772953"/>
                </a:solidFill>
                <a:latin typeface="Arial"/>
                <a:ea typeface="Arial"/>
                <a:cs typeface="Arial"/>
              </a:rPr>
              <a:t>Your device</a:t>
            </a:r>
            <a:endParaRPr lang="en-US" sz="1900"/>
          </a:p>
        </p:txBody>
      </p:sp>
      <p:sp>
        <p:nvSpPr>
          <p:cNvPr id="1253967254" name="Text 18"/>
          <p:cNvSpPr/>
          <p:nvPr/>
        </p:nvSpPr>
        <p:spPr bwMode="auto">
          <a:xfrm>
            <a:off x="3535998" y="6798627"/>
            <a:ext cx="3359960" cy="382588"/>
          </a:xfrm>
          <a:prstGeom prst="rect">
            <a:avLst/>
          </a:prstGeom>
          <a:noFill/>
          <a:ln/>
        </p:spPr>
        <p:txBody>
          <a:bodyPr wrap="square" lIns="25400" tIns="25400" rIns="25400" bIns="25400" rtlCol="0" anchor="t">
            <a:normAutofit/>
          </a:bodyPr>
          <a:lstStyle/>
          <a:p>
            <a:pPr marL="0" indent="0" algn="l">
              <a:buNone/>
              <a:defRPr/>
            </a:pPr>
            <a:r>
              <a:rPr lang="en-US" sz="1800">
                <a:solidFill>
                  <a:srgbClr val="FFFFFF">
                    <a:alpha val="82000"/>
                  </a:srgbClr>
                </a:solidFill>
                <a:latin typeface="Arial"/>
                <a:ea typeface="Arial"/>
                <a:cs typeface="Arial"/>
              </a:rPr>
              <a:t>Only if that printed nothing</a:t>
            </a:r>
            <a:endParaRPr lang="en-US" sz="1800"/>
          </a:p>
        </p:txBody>
      </p:sp>
      <p:sp>
        <p:nvSpPr>
          <p:cNvPr id="981128580" name="Shape 19"/>
          <p:cNvSpPr/>
          <p:nvPr/>
        </p:nvSpPr>
        <p:spPr bwMode="auto">
          <a:xfrm>
            <a:off x="1257300" y="7304246"/>
            <a:ext cx="16059150" cy="1341120"/>
          </a:xfrm>
          <a:prstGeom prst="rect">
            <a:avLst/>
          </a:prstGeom>
          <a:solidFill>
            <a:srgbClr val="0E1013"/>
          </a:solidFill>
          <a:ln/>
        </p:spPr>
      </p:sp>
      <p:sp>
        <p:nvSpPr>
          <p:cNvPr id="501759523" name="Shape 20"/>
          <p:cNvSpPr/>
          <p:nvPr/>
        </p:nvSpPr>
        <p:spPr bwMode="auto">
          <a:xfrm>
            <a:off x="1257300" y="7304246"/>
            <a:ext cx="111125" cy="1341120"/>
          </a:xfrm>
          <a:prstGeom prst="rect">
            <a:avLst/>
          </a:prstGeom>
          <a:solidFill>
            <a:srgbClr val="772953"/>
          </a:solidFill>
          <a:ln/>
        </p:spPr>
      </p:sp>
      <p:sp>
        <p:nvSpPr>
          <p:cNvPr id="1816723440" name="Text 21"/>
          <p:cNvSpPr/>
          <p:nvPr/>
        </p:nvSpPr>
        <p:spPr bwMode="auto">
          <a:xfrm>
            <a:off x="1654175" y="7532846"/>
            <a:ext cx="15858299" cy="922020"/>
          </a:xfrm>
          <a:prstGeom prst="rect">
            <a:avLst/>
          </a:prstGeom>
          <a:noFill/>
          <a:ln/>
        </p:spPr>
        <p:txBody>
          <a:bodyPr wrap="square" lIns="25400" tIns="25400" rIns="25400" bIns="25400" rtlCol="0" anchor="t">
            <a:normAutofit/>
          </a:bodyPr>
          <a:lstStyle/>
          <a:p>
            <a:pPr marL="0" indent="0" algn="l">
              <a:lnSpc>
                <a:spcPct val="126259"/>
              </a:lnSpc>
              <a:buNone/>
              <a:defRPr/>
            </a:pPr>
            <a:r>
              <a:rPr lang="en-US" sz="2400">
                <a:solidFill>
                  <a:srgbClr val="7FD1A6"/>
                </a:solidFill>
                <a:latin typeface="Courier New"/>
                <a:ea typeface="Courier New"/>
                <a:cs typeface="Courier New"/>
              </a:rPr>
              <a:t>$</a:t>
            </a:r>
            <a:r>
              <a:rPr lang="en-US" sz="2400">
                <a:solidFill>
                  <a:srgbClr val="F2F4F7"/>
                </a:solidFill>
                <a:highlight>
                  <a:srgbClr val="0E1013"/>
                </a:highlight>
                <a:latin typeface="Courier New"/>
                <a:ea typeface="Courier New"/>
                <a:cs typeface="Courier New"/>
              </a:rPr>
              <a:t> sudo apt update </a:t>
            </a:r>
            <a:endParaRPr lang="en-US" sz="2400">
              <a:solidFill>
                <a:srgbClr val="7FD1A6"/>
              </a:solidFill>
              <a:latin typeface="Courier New"/>
              <a:ea typeface="Courier New"/>
              <a:cs typeface="Courier New"/>
            </a:endParaRPr>
          </a:p>
          <a:p>
            <a:pPr marL="0" indent="0" algn="l">
              <a:lnSpc>
                <a:spcPct val="126259"/>
              </a:lnSpc>
              <a:buNone/>
              <a:defRPr/>
            </a:pPr>
            <a:r>
              <a:rPr lang="en-US" sz="2400">
                <a:solidFill>
                  <a:srgbClr val="7FD1A6"/>
                </a:solidFill>
                <a:latin typeface="Courier New"/>
                <a:ea typeface="Courier New"/>
                <a:cs typeface="Courier New"/>
              </a:rPr>
              <a:t>$</a:t>
            </a:r>
            <a:r>
              <a:rPr lang="en-US" sz="2400">
                <a:solidFill>
                  <a:srgbClr val="F2F4F7"/>
                </a:solidFill>
                <a:highlight>
                  <a:srgbClr val="0E1013"/>
                </a:highlight>
                <a:latin typeface="Courier New"/>
                <a:ea typeface="Courier New"/>
                <a:cs typeface="Courier New"/>
              </a:rPr>
              <a:t> sudo apt install openssh-client</a:t>
            </a:r>
            <a:endParaRPr lang="en-US" sz="2400"/>
          </a:p>
        </p:txBody>
      </p:sp>
      <p:sp>
        <p:nvSpPr>
          <p:cNvPr id="872449021" name="Shape 22"/>
          <p:cNvSpPr/>
          <p:nvPr/>
        </p:nvSpPr>
        <p:spPr bwMode="auto">
          <a:xfrm>
            <a:off x="1257300" y="9323387"/>
            <a:ext cx="4960461" cy="601663"/>
          </a:xfrm>
          <a:prstGeom prst="roundRect">
            <a:avLst>
              <a:gd name="adj" fmla="val 50000"/>
            </a:avLst>
          </a:prstGeom>
          <a:ln w="27781">
            <a:solidFill>
              <a:srgbClr val="002060">
                <a:alpha val="15999"/>
              </a:srgbClr>
            </a:solidFill>
            <a:prstDash val="solid"/>
          </a:ln>
        </p:spPr>
      </p:sp>
      <p:sp>
        <p:nvSpPr>
          <p:cNvPr id="869435121" name="Text 23"/>
          <p:cNvSpPr/>
          <p:nvPr/>
        </p:nvSpPr>
        <p:spPr bwMode="auto">
          <a:xfrm>
            <a:off x="1532731" y="9446419"/>
            <a:ext cx="672147" cy="393700"/>
          </a:xfrm>
          <a:prstGeom prst="rect">
            <a:avLst/>
          </a:prstGeom>
          <a:noFill/>
          <a:ln/>
        </p:spPr>
        <p:txBody>
          <a:bodyPr wrap="square" lIns="25400" tIns="25400" rIns="25400" bIns="25400" rtlCol="0" anchor="t">
            <a:normAutofit/>
          </a:bodyPr>
          <a:lstStyle/>
          <a:p>
            <a:pPr marL="0" indent="0" algn="l">
              <a:buNone/>
              <a:defRPr/>
            </a:pPr>
            <a:r>
              <a:rPr lang="en-US" sz="1900" b="1">
                <a:solidFill>
                  <a:srgbClr val="DB5817"/>
                </a:solidFill>
                <a:latin typeface="Arial"/>
                <a:ea typeface="Arial"/>
                <a:cs typeface="Arial"/>
              </a:rPr>
              <a:t>Docs</a:t>
            </a:r>
            <a:endParaRPr lang="en-US" sz="1900"/>
          </a:p>
        </p:txBody>
      </p:sp>
      <p:sp>
        <p:nvSpPr>
          <p:cNvPr id="1270395590" name="Text 24"/>
          <p:cNvSpPr/>
          <p:nvPr/>
        </p:nvSpPr>
        <p:spPr bwMode="auto">
          <a:xfrm>
            <a:off x="2262029" y="9457531"/>
            <a:ext cx="3790710" cy="371475"/>
          </a:xfrm>
          <a:prstGeom prst="rect">
            <a:avLst/>
          </a:prstGeom>
          <a:noFill/>
          <a:ln/>
        </p:spPr>
        <p:txBody>
          <a:bodyPr wrap="square" lIns="0" tIns="0" rIns="0" bIns="0" rtlCol="0" anchor="t">
            <a:normAutofit/>
          </a:bodyPr>
          <a:lstStyle/>
          <a:p>
            <a:pPr marL="0" indent="0" algn="l">
              <a:buNone/>
              <a:defRPr/>
            </a:pPr>
            <a:r>
              <a:rPr lang="en-US" sz="1900">
                <a:solidFill>
                  <a:srgbClr val="002060"/>
                </a:solidFill>
                <a:latin typeface="Arial"/>
                <a:ea typeface="Arial"/>
                <a:cs typeface="Arial"/>
              </a:rPr>
              <a:t>Toolkit — SSH &amp; Remote Access</a:t>
            </a:r>
            <a:endParaRPr lang="en-US" sz="1900"/>
          </a:p>
        </p:txBody>
      </p:sp>
      <p:pic>
        <p:nvPicPr>
          <p:cNvPr id="1818339985" name="Image 1" descr="preencoded.png"/>
          <p:cNvPicPr>
            <a:picLocks noChangeAspect="1"/>
          </p:cNvPicPr>
          <p:nvPr/>
        </p:nvPicPr>
        <p:blipFill rotWithShape="1">
          <a:blip r:embed="rId4"/>
          <a:stretch/>
        </p:blipFill>
        <p:spPr bwMode="auto">
          <a:xfrm>
            <a:off x="17534573" y="9561512"/>
            <a:ext cx="124778" cy="34448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8">
    <p:bg>
      <p:bgPr shadeToTitle="0">
        <a:solidFill>
          <a:srgbClr val="FFFFFF"/>
        </a:solidFill>
      </p:bgPr>
    </p:bg>
    <p:spTree>
      <p:nvGrpSpPr>
        <p:cNvPr id="1" name=""/>
        <p:cNvGrpSpPr/>
        <p:nvPr/>
      </p:nvGrpSpPr>
      <p:grpSpPr bwMode="auto">
        <a:xfrm>
          <a:off x="0" y="0"/>
          <a:ext cx="0" cy="0"/>
          <a:chOff x="0" y="0"/>
          <a:chExt cx="0" cy="0"/>
        </a:xfrm>
      </p:grpSpPr>
      <p:sp>
        <p:nvSpPr>
          <p:cNvPr id="72574524" name="Shape 0"/>
          <p:cNvSpPr/>
          <p:nvPr/>
        </p:nvSpPr>
        <p:spPr bwMode="auto">
          <a:xfrm>
            <a:off x="971550" y="0"/>
            <a:ext cx="28575" cy="10287000"/>
          </a:xfrm>
          <a:prstGeom prst="rect">
            <a:avLst/>
          </a:prstGeom>
          <a:solidFill>
            <a:srgbClr val="002060">
              <a:alpha val="15999"/>
            </a:srgbClr>
          </a:solidFill>
          <a:ln/>
        </p:spPr>
      </p:sp>
      <p:sp>
        <p:nvSpPr>
          <p:cNvPr id="634404837" name="Shape 1"/>
          <p:cNvSpPr/>
          <p:nvPr/>
        </p:nvSpPr>
        <p:spPr bwMode="auto">
          <a:xfrm>
            <a:off x="971550" y="1009650"/>
            <a:ext cx="16687800" cy="28575"/>
          </a:xfrm>
          <a:prstGeom prst="rect">
            <a:avLst/>
          </a:prstGeom>
          <a:solidFill>
            <a:srgbClr val="002060">
              <a:alpha val="15999"/>
            </a:srgbClr>
          </a:solidFill>
          <a:ln/>
        </p:spPr>
      </p:sp>
      <p:pic>
        <p:nvPicPr>
          <p:cNvPr id="97158661" name="Image 0" descr="preencoded.png"/>
          <p:cNvPicPr>
            <a:picLocks noChangeAspect="1"/>
          </p:cNvPicPr>
          <p:nvPr/>
        </p:nvPicPr>
        <p:blipFill rotWithShape="1">
          <a:blip r:embed="rId3"/>
          <a:stretch/>
        </p:blipFill>
        <p:spPr bwMode="auto">
          <a:xfrm>
            <a:off x="1257300" y="209550"/>
            <a:ext cx="779621" cy="647700"/>
          </a:xfrm>
          <a:prstGeom prst="rect">
            <a:avLst/>
          </a:prstGeom>
        </p:spPr>
      </p:pic>
      <p:sp>
        <p:nvSpPr>
          <p:cNvPr id="583848595" name="Text 2"/>
          <p:cNvSpPr/>
          <p:nvPr/>
        </p:nvSpPr>
        <p:spPr bwMode="auto">
          <a:xfrm>
            <a:off x="14455616" y="400050"/>
            <a:ext cx="3524107" cy="393700"/>
          </a:xfrm>
          <a:prstGeom prst="rect">
            <a:avLst/>
          </a:prstGeom>
          <a:noFill/>
          <a:ln/>
        </p:spPr>
        <p:txBody>
          <a:bodyPr wrap="square" lIns="25400" tIns="25400" rIns="25400" bIns="25400" rtlCol="0" anchor="t">
            <a:normAutofit/>
          </a:bodyPr>
          <a:lstStyle/>
          <a:p>
            <a:pPr marL="0" indent="0" algn="l">
              <a:buNone/>
              <a:defRPr/>
            </a:pPr>
            <a:r>
              <a:rPr lang="en-US" sz="1900" spc="75">
                <a:solidFill>
                  <a:srgbClr val="DB5817"/>
                </a:solidFill>
                <a:latin typeface="Arial"/>
                <a:ea typeface="Arial"/>
                <a:cs typeface="Arial"/>
              </a:rPr>
              <a:t>www.centex-sarawak.my</a:t>
            </a:r>
            <a:endParaRPr lang="en-US" sz="1900"/>
          </a:p>
        </p:txBody>
      </p:sp>
      <p:sp>
        <p:nvSpPr>
          <p:cNvPr id="1825761224" name="Text 3"/>
          <p:cNvSpPr/>
          <p:nvPr/>
        </p:nvSpPr>
        <p:spPr bwMode="auto">
          <a:xfrm>
            <a:off x="1257300" y="1905000"/>
            <a:ext cx="17665065" cy="410369"/>
          </a:xfrm>
          <a:prstGeom prst="rect">
            <a:avLst/>
          </a:prstGeom>
          <a:noFill/>
          <a:ln/>
        </p:spPr>
        <p:txBody>
          <a:bodyPr wrap="square" lIns="25400" tIns="25400" rIns="25400" bIns="25400" rtlCol="0" anchor="t">
            <a:normAutofit/>
          </a:bodyPr>
          <a:lstStyle/>
          <a:p>
            <a:pPr marL="0" indent="0" algn="l">
              <a:buNone/>
              <a:defRPr/>
            </a:pPr>
            <a:r>
              <a:rPr lang="en-US" sz="1950" b="1" spc="311">
                <a:solidFill>
                  <a:srgbClr val="DB5817"/>
                </a:solidFill>
                <a:latin typeface="Arial"/>
                <a:ea typeface="Arial"/>
                <a:cs typeface="Arial"/>
              </a:rPr>
              <a:t>STEP 1 · PREPARE YOUR LAPTOP</a:t>
            </a:r>
            <a:endParaRPr lang="en-US" sz="1950"/>
          </a:p>
        </p:txBody>
      </p:sp>
      <p:sp>
        <p:nvSpPr>
          <p:cNvPr id="1489152007" name="Text 4"/>
          <p:cNvSpPr/>
          <p:nvPr/>
        </p:nvSpPr>
        <p:spPr bwMode="auto">
          <a:xfrm>
            <a:off x="1257300" y="2486819"/>
            <a:ext cx="17665065" cy="805497"/>
          </a:xfrm>
          <a:prstGeom prst="rect">
            <a:avLst/>
          </a:prstGeom>
          <a:noFill/>
          <a:ln/>
        </p:spPr>
        <p:txBody>
          <a:bodyPr wrap="square" lIns="25400" tIns="25400" rIns="25400" bIns="25400" rtlCol="0" anchor="t">
            <a:normAutofit/>
          </a:bodyPr>
          <a:lstStyle/>
          <a:p>
            <a:pPr marL="0" indent="0" algn="l">
              <a:lnSpc>
                <a:spcPct val="94599"/>
              </a:lnSpc>
              <a:buNone/>
              <a:defRPr/>
            </a:pPr>
            <a:r>
              <a:rPr lang="en-US" sz="5700" b="1" spc="-57">
                <a:solidFill>
                  <a:srgbClr val="002060"/>
                </a:solidFill>
                <a:latin typeface="Arial"/>
                <a:ea typeface="Arial"/>
                <a:cs typeface="Arial"/>
              </a:rPr>
              <a:t>Install Cyclone DDS</a:t>
            </a:r>
            <a:endParaRPr lang="en-US" sz="5700"/>
          </a:p>
        </p:txBody>
      </p:sp>
      <p:sp>
        <p:nvSpPr>
          <p:cNvPr id="120299437" name="Text 5"/>
          <p:cNvSpPr/>
          <p:nvPr/>
        </p:nvSpPr>
        <p:spPr bwMode="auto">
          <a:xfrm>
            <a:off x="1257300" y="3520916"/>
            <a:ext cx="9528201" cy="998220"/>
          </a:xfrm>
          <a:prstGeom prst="rect">
            <a:avLst/>
          </a:prstGeom>
          <a:noFill/>
          <a:ln/>
        </p:spPr>
        <p:txBody>
          <a:bodyPr wrap="square" lIns="25400" tIns="25400" rIns="25400" bIns="25400" rtlCol="0" anchor="t">
            <a:normAutofit/>
          </a:bodyPr>
          <a:lstStyle/>
          <a:p>
            <a:pPr marL="0" indent="0" algn="l">
              <a:lnSpc>
                <a:spcPct val="123429"/>
              </a:lnSpc>
              <a:buNone/>
              <a:defRPr/>
            </a:pPr>
            <a:r>
              <a:rPr lang="en-US" sz="2700">
                <a:solidFill>
                  <a:srgbClr val="2A3040"/>
                </a:solidFill>
                <a:latin typeface="Arial"/>
                <a:ea typeface="Arial"/>
                <a:cs typeface="Arial"/>
              </a:rPr>
              <a:t>Both machines must use the same DDS implementation to find each other, and the robots already use Cyclone.</a:t>
            </a:r>
            <a:endParaRPr lang="en-US" sz="2700"/>
          </a:p>
        </p:txBody>
      </p:sp>
      <p:sp>
        <p:nvSpPr>
          <p:cNvPr id="654777560" name="Shape 6"/>
          <p:cNvSpPr/>
          <p:nvPr/>
        </p:nvSpPr>
        <p:spPr bwMode="auto">
          <a:xfrm>
            <a:off x="1257300" y="4766786"/>
            <a:ext cx="16059150" cy="2615565"/>
          </a:xfrm>
          <a:prstGeom prst="roundRect">
            <a:avLst>
              <a:gd name="adj" fmla="val 3642"/>
            </a:avLst>
          </a:prstGeom>
          <a:ln/>
          <a:effectLst>
            <a:outerShdw blurRad="323850" dist="114300" dir="5400000" sx="100000" sy="100000" kx="0" ky="0" algn="bl" rotWithShape="0">
              <a:srgbClr val="002060">
                <a:alpha val="18000"/>
              </a:srgbClr>
            </a:outerShdw>
          </a:effectLst>
        </p:spPr>
      </p:sp>
      <p:sp>
        <p:nvSpPr>
          <p:cNvPr id="2056036856" name="Shape 7"/>
          <p:cNvSpPr/>
          <p:nvPr/>
        </p:nvSpPr>
        <p:spPr bwMode="auto">
          <a:xfrm>
            <a:off x="1257300" y="4766786"/>
            <a:ext cx="16059150" cy="666750"/>
          </a:xfrm>
          <a:prstGeom prst="rect">
            <a:avLst/>
          </a:prstGeom>
          <a:solidFill>
            <a:srgbClr val="5E2750"/>
          </a:solidFill>
          <a:ln/>
        </p:spPr>
      </p:sp>
      <p:sp>
        <p:nvSpPr>
          <p:cNvPr id="1217833737" name="Shape 8"/>
          <p:cNvSpPr/>
          <p:nvPr/>
        </p:nvSpPr>
        <p:spPr bwMode="auto">
          <a:xfrm>
            <a:off x="1524000" y="4900136"/>
            <a:ext cx="1802448" cy="400050"/>
          </a:xfrm>
          <a:prstGeom prst="roundRect">
            <a:avLst>
              <a:gd name="adj" fmla="val 14286"/>
            </a:avLst>
          </a:prstGeom>
          <a:solidFill>
            <a:srgbClr val="FFFFFF"/>
          </a:solidFill>
          <a:ln/>
        </p:spPr>
      </p:sp>
      <p:sp>
        <p:nvSpPr>
          <p:cNvPr id="539375149" name="Text 9"/>
          <p:cNvSpPr/>
          <p:nvPr/>
        </p:nvSpPr>
        <p:spPr bwMode="auto">
          <a:xfrm>
            <a:off x="1714500" y="4957286"/>
            <a:ext cx="1497648" cy="323850"/>
          </a:xfrm>
          <a:prstGeom prst="rect">
            <a:avLst/>
          </a:prstGeom>
          <a:noFill/>
          <a:ln/>
        </p:spPr>
        <p:txBody>
          <a:bodyPr wrap="none" lIns="25400" tIns="25400" rIns="25400" bIns="25400" rtlCol="0" anchor="ctr">
            <a:normAutofit/>
          </a:bodyPr>
          <a:lstStyle/>
          <a:p>
            <a:pPr marL="0" indent="0" algn="l">
              <a:lnSpc>
                <a:spcPct val="104956"/>
              </a:lnSpc>
              <a:buNone/>
              <a:defRPr/>
            </a:pPr>
            <a:r>
              <a:rPr lang="en-US" sz="1900" b="1">
                <a:solidFill>
                  <a:srgbClr val="772953"/>
                </a:solidFill>
                <a:latin typeface="Arial"/>
                <a:ea typeface="Arial"/>
                <a:cs typeface="Arial"/>
              </a:rPr>
              <a:t>Your device</a:t>
            </a:r>
            <a:endParaRPr lang="en-US" sz="1900"/>
          </a:p>
        </p:txBody>
      </p:sp>
      <p:sp>
        <p:nvSpPr>
          <p:cNvPr id="90753408" name="Text 10"/>
          <p:cNvSpPr/>
          <p:nvPr/>
        </p:nvSpPr>
        <p:spPr bwMode="auto">
          <a:xfrm>
            <a:off x="3535998" y="4927918"/>
            <a:ext cx="6044644" cy="382588"/>
          </a:xfrm>
          <a:prstGeom prst="rect">
            <a:avLst/>
          </a:prstGeom>
          <a:noFill/>
          <a:ln/>
        </p:spPr>
        <p:txBody>
          <a:bodyPr wrap="square" lIns="25400" tIns="25400" rIns="25400" bIns="25400" rtlCol="0" anchor="t">
            <a:normAutofit/>
          </a:bodyPr>
          <a:lstStyle/>
          <a:p>
            <a:pPr marL="0" indent="0" algn="l">
              <a:buNone/>
              <a:defRPr/>
            </a:pPr>
            <a:r>
              <a:rPr lang="en-US" sz="1800">
                <a:solidFill>
                  <a:srgbClr val="FFFFFF">
                    <a:alpha val="82000"/>
                  </a:srgbClr>
                </a:solidFill>
                <a:latin typeface="Arial"/>
                <a:ea typeface="Arial"/>
                <a:cs typeface="Arial"/>
              </a:rPr>
              <a:t>Install it, make it active permanently, then check</a:t>
            </a:r>
            <a:endParaRPr lang="en-US" sz="1800"/>
          </a:p>
        </p:txBody>
      </p:sp>
      <p:sp>
        <p:nvSpPr>
          <p:cNvPr id="1392203041" name="Shape 11"/>
          <p:cNvSpPr/>
          <p:nvPr/>
        </p:nvSpPr>
        <p:spPr bwMode="auto">
          <a:xfrm>
            <a:off x="1257300" y="5433536"/>
            <a:ext cx="16059150" cy="1948815"/>
          </a:xfrm>
          <a:prstGeom prst="rect">
            <a:avLst/>
          </a:prstGeom>
          <a:solidFill>
            <a:srgbClr val="0E1013"/>
          </a:solidFill>
          <a:ln/>
        </p:spPr>
      </p:sp>
      <p:sp>
        <p:nvSpPr>
          <p:cNvPr id="341947901" name="Shape 12"/>
          <p:cNvSpPr/>
          <p:nvPr/>
        </p:nvSpPr>
        <p:spPr bwMode="auto">
          <a:xfrm>
            <a:off x="1257300" y="5433536"/>
            <a:ext cx="111125" cy="1948815"/>
          </a:xfrm>
          <a:prstGeom prst="rect">
            <a:avLst/>
          </a:prstGeom>
          <a:solidFill>
            <a:srgbClr val="772953"/>
          </a:solidFill>
          <a:ln/>
        </p:spPr>
      </p:sp>
      <p:sp>
        <p:nvSpPr>
          <p:cNvPr id="1131301157" name="Text 13"/>
          <p:cNvSpPr/>
          <p:nvPr/>
        </p:nvSpPr>
        <p:spPr bwMode="auto">
          <a:xfrm>
            <a:off x="1654175" y="5662135"/>
            <a:ext cx="15858299" cy="1529715"/>
          </a:xfrm>
          <a:prstGeom prst="rect">
            <a:avLst/>
          </a:prstGeom>
          <a:noFill/>
          <a:ln/>
        </p:spPr>
        <p:txBody>
          <a:bodyPr vertOverflow="overflow" horzOverflow="overflow" vert="horz" wrap="square" lIns="25399" tIns="25399" rIns="25399" bIns="25399" numCol="1" spcCol="0" rtlCol="0" fromWordArt="0" anchor="t" anchorCtr="0" forceAA="0" upright="0" compatLnSpc="0">
            <a:normAutofit fontScale="95000" lnSpcReduction="1000"/>
          </a:bodyPr>
          <a:lstStyle/>
          <a:p>
            <a:pPr marL="0" indent="0" algn="l">
              <a:lnSpc>
                <a:spcPct val="126631"/>
              </a:lnSpc>
              <a:buNone/>
              <a:defRPr/>
            </a:pPr>
            <a:r>
              <a:rPr lang="en-US" sz="2050">
                <a:solidFill>
                  <a:srgbClr val="7FD1A6"/>
                </a:solidFill>
                <a:latin typeface="Courier New"/>
                <a:ea typeface="Courier New"/>
                <a:cs typeface="Courier New"/>
              </a:rPr>
              <a:t>$</a:t>
            </a:r>
            <a:r>
              <a:rPr lang="en-US" sz="2050">
                <a:solidFill>
                  <a:srgbClr val="F2F4F7"/>
                </a:solidFill>
                <a:highlight>
                  <a:srgbClr val="0E1013"/>
                </a:highlight>
                <a:latin typeface="Courier New"/>
                <a:ea typeface="Courier New"/>
                <a:cs typeface="Courier New"/>
              </a:rPr>
              <a:t> sudo apt install ros-humble-rmw-cyclonedds-cpp </a:t>
            </a:r>
            <a:endParaRPr lang="en-US" sz="2050">
              <a:solidFill>
                <a:srgbClr val="7FD1A6"/>
              </a:solidFill>
              <a:latin typeface="Courier New"/>
              <a:ea typeface="Courier New"/>
              <a:cs typeface="Courier New"/>
            </a:endParaRPr>
          </a:p>
          <a:p>
            <a:pPr marL="0" indent="0" algn="l">
              <a:lnSpc>
                <a:spcPct val="126631"/>
              </a:lnSpc>
              <a:buNone/>
              <a:defRPr/>
            </a:pPr>
            <a:r>
              <a:rPr lang="en-US" sz="2050">
                <a:solidFill>
                  <a:srgbClr val="7FD1A6"/>
                </a:solidFill>
                <a:latin typeface="Courier New"/>
                <a:ea typeface="Courier New"/>
                <a:cs typeface="Courier New"/>
              </a:rPr>
              <a:t>$</a:t>
            </a:r>
            <a:r>
              <a:rPr lang="en-US" sz="2050">
                <a:solidFill>
                  <a:srgbClr val="F2F4F7"/>
                </a:solidFill>
                <a:highlight>
                  <a:srgbClr val="0E1013"/>
                </a:highlight>
                <a:latin typeface="Courier New"/>
                <a:ea typeface="Courier New"/>
                <a:cs typeface="Courier New"/>
              </a:rPr>
              <a:t> echo "export RMW_IMPLEMENTATION=rmw_cyclonedds_cpp" &gt;&gt; ~/.bashrc </a:t>
            </a:r>
            <a:endParaRPr lang="en-US" sz="2050">
              <a:solidFill>
                <a:srgbClr val="F2F4F7"/>
              </a:solidFill>
              <a:highlight>
                <a:srgbClr val="0E1013"/>
              </a:highlight>
              <a:latin typeface="Courier New"/>
              <a:ea typeface="Courier New"/>
              <a:cs typeface="Courier New"/>
            </a:endParaRPr>
          </a:p>
          <a:p>
            <a:pPr marL="0" indent="0" algn="l">
              <a:lnSpc>
                <a:spcPct val="126631"/>
              </a:lnSpc>
              <a:buNone/>
              <a:defRPr/>
            </a:pPr>
            <a:r>
              <a:rPr lang="en-US" sz="2050">
                <a:solidFill>
                  <a:srgbClr val="7FD1A6"/>
                </a:solidFill>
                <a:latin typeface="Courier New"/>
                <a:ea typeface="Courier New"/>
                <a:cs typeface="Courier New"/>
              </a:rPr>
              <a:t>$</a:t>
            </a:r>
            <a:r>
              <a:rPr lang="en-US" sz="2050">
                <a:solidFill>
                  <a:srgbClr val="F2F4F7"/>
                </a:solidFill>
                <a:highlight>
                  <a:srgbClr val="0E1013"/>
                </a:highlight>
                <a:latin typeface="Courier New"/>
                <a:ea typeface="Courier New"/>
                <a:cs typeface="Courier New"/>
              </a:rPr>
              <a:t> source ~/.bashrc </a:t>
            </a:r>
            <a:endParaRPr lang="en-US" sz="2050">
              <a:solidFill>
                <a:srgbClr val="7FD1A6"/>
              </a:solidFill>
              <a:latin typeface="Courier New"/>
              <a:ea typeface="Courier New"/>
              <a:cs typeface="Courier New"/>
            </a:endParaRPr>
          </a:p>
          <a:p>
            <a:pPr marL="0" indent="0" algn="l">
              <a:lnSpc>
                <a:spcPct val="126631"/>
              </a:lnSpc>
              <a:buNone/>
              <a:defRPr/>
            </a:pPr>
            <a:r>
              <a:rPr lang="en-US" sz="2050">
                <a:solidFill>
                  <a:srgbClr val="7FD1A6"/>
                </a:solidFill>
                <a:latin typeface="Courier New"/>
                <a:ea typeface="Courier New"/>
                <a:cs typeface="Courier New"/>
              </a:rPr>
              <a:t>$</a:t>
            </a:r>
            <a:r>
              <a:rPr lang="en-US" sz="2050">
                <a:solidFill>
                  <a:srgbClr val="F2F4F7"/>
                </a:solidFill>
                <a:highlight>
                  <a:srgbClr val="0E1013"/>
                </a:highlight>
                <a:latin typeface="Courier New"/>
                <a:ea typeface="Courier New"/>
                <a:cs typeface="Courier New"/>
              </a:rPr>
              <a:t> ros2 pkg list | grep cyclonedds   </a:t>
            </a:r>
            <a:r>
              <a:rPr lang="en-US" sz="2050">
                <a:solidFill>
                  <a:srgbClr val="F5A97F"/>
                </a:solidFill>
                <a:latin typeface="Courier New"/>
                <a:ea typeface="Courier New"/>
                <a:cs typeface="Courier New"/>
              </a:rPr>
              <a:t># should print the package</a:t>
            </a:r>
            <a:endParaRPr lang="en-US" sz="2050"/>
          </a:p>
        </p:txBody>
      </p:sp>
      <p:sp>
        <p:nvSpPr>
          <p:cNvPr id="918608013" name="Shape 14"/>
          <p:cNvSpPr/>
          <p:nvPr/>
        </p:nvSpPr>
        <p:spPr bwMode="auto">
          <a:xfrm>
            <a:off x="1257300" y="7668101"/>
            <a:ext cx="15160625" cy="1230630"/>
          </a:xfrm>
          <a:prstGeom prst="roundRect">
            <a:avLst>
              <a:gd name="adj" fmla="val 6192"/>
            </a:avLst>
          </a:prstGeom>
          <a:solidFill>
            <a:srgbClr val="F3E2CD"/>
          </a:solidFill>
          <a:ln/>
        </p:spPr>
      </p:sp>
      <p:sp>
        <p:nvSpPr>
          <p:cNvPr id="543472066" name="Shape 15"/>
          <p:cNvSpPr/>
          <p:nvPr/>
        </p:nvSpPr>
        <p:spPr bwMode="auto">
          <a:xfrm>
            <a:off x="1257300" y="7668101"/>
            <a:ext cx="111125" cy="1230630"/>
          </a:xfrm>
          <a:prstGeom prst="rect">
            <a:avLst/>
          </a:prstGeom>
          <a:solidFill>
            <a:srgbClr val="DB5817"/>
          </a:solidFill>
          <a:ln/>
        </p:spPr>
      </p:sp>
      <p:sp>
        <p:nvSpPr>
          <p:cNvPr id="1598093377" name="Text 16"/>
          <p:cNvSpPr/>
          <p:nvPr/>
        </p:nvSpPr>
        <p:spPr bwMode="auto">
          <a:xfrm>
            <a:off x="1654175" y="7896701"/>
            <a:ext cx="166846" cy="426720"/>
          </a:xfrm>
          <a:prstGeom prst="rect">
            <a:avLst/>
          </a:prstGeom>
          <a:noFill/>
          <a:ln/>
        </p:spPr>
        <p:txBody>
          <a:bodyPr wrap="square" lIns="25400" tIns="25400" rIns="25400" bIns="25400" rtlCol="0" anchor="t">
            <a:normAutofit/>
          </a:bodyPr>
          <a:lstStyle/>
          <a:p>
            <a:pPr marL="0" indent="0" algn="l">
              <a:lnSpc>
                <a:spcPct val="105973"/>
              </a:lnSpc>
              <a:buNone/>
              <a:defRPr/>
            </a:pPr>
            <a:r>
              <a:rPr lang="en-US" sz="2550">
                <a:solidFill>
                  <a:srgbClr val="DB5817"/>
                </a:solidFill>
                <a:latin typeface="Arial"/>
                <a:ea typeface="Arial"/>
                <a:cs typeface="Arial"/>
              </a:rPr>
              <a:t>!</a:t>
            </a:r>
            <a:endParaRPr lang="en-US" sz="2550"/>
          </a:p>
        </p:txBody>
      </p:sp>
      <p:sp>
        <p:nvSpPr>
          <p:cNvPr id="863857066" name="Text 17"/>
          <p:cNvSpPr/>
          <p:nvPr/>
        </p:nvSpPr>
        <p:spPr bwMode="auto">
          <a:xfrm>
            <a:off x="1954371" y="7896701"/>
            <a:ext cx="14603139" cy="811530"/>
          </a:xfrm>
          <a:prstGeom prst="rect">
            <a:avLst/>
          </a:prstGeom>
          <a:noFill/>
          <a:ln/>
        </p:spPr>
        <p:txBody>
          <a:bodyPr wrap="square" lIns="25400" tIns="25400" rIns="25400" bIns="25400" rtlCol="0" anchor="t">
            <a:normAutofit/>
          </a:bodyPr>
          <a:lstStyle/>
          <a:p>
            <a:pPr marL="0" indent="0" algn="l">
              <a:lnSpc>
                <a:spcPct val="122105"/>
              </a:lnSpc>
              <a:buNone/>
              <a:defRPr/>
            </a:pPr>
            <a:r>
              <a:rPr lang="en-US" sz="2200">
                <a:solidFill>
                  <a:srgbClr val="14161C"/>
                </a:solidFill>
                <a:latin typeface="Arial"/>
                <a:ea typeface="Arial"/>
                <a:cs typeface="Arial"/>
              </a:rPr>
              <a:t>A mismatched DDS is a </a:t>
            </a:r>
            <a:r>
              <a:rPr lang="en-US" sz="2200" b="1">
                <a:solidFill>
                  <a:srgbClr val="002060"/>
                </a:solidFill>
                <a:latin typeface="Arial"/>
                <a:ea typeface="Arial"/>
                <a:cs typeface="Arial"/>
              </a:rPr>
              <a:t>silent </a:t>
            </a:r>
            <a:r>
              <a:rPr lang="en-US" sz="2200">
                <a:solidFill>
                  <a:srgbClr val="14161C"/>
                </a:solidFill>
                <a:latin typeface="Arial"/>
                <a:ea typeface="Arial"/>
                <a:cs typeface="Arial"/>
              </a:rPr>
              <a:t>failure — no error, just an empty topic list. If topics never appear later, come back here first.</a:t>
            </a:r>
            <a:endParaRPr lang="en-US" sz="2200"/>
          </a:p>
        </p:txBody>
      </p:sp>
      <p:sp>
        <p:nvSpPr>
          <p:cNvPr id="306158025" name="Shape 18"/>
          <p:cNvSpPr/>
          <p:nvPr/>
        </p:nvSpPr>
        <p:spPr bwMode="auto">
          <a:xfrm>
            <a:off x="1257300" y="9323387"/>
            <a:ext cx="5018723" cy="601663"/>
          </a:xfrm>
          <a:prstGeom prst="roundRect">
            <a:avLst>
              <a:gd name="adj" fmla="val 50000"/>
            </a:avLst>
          </a:prstGeom>
          <a:ln w="27781">
            <a:solidFill>
              <a:srgbClr val="002060">
                <a:alpha val="15999"/>
              </a:srgbClr>
            </a:solidFill>
            <a:prstDash val="solid"/>
          </a:ln>
        </p:spPr>
      </p:sp>
      <p:sp>
        <p:nvSpPr>
          <p:cNvPr id="1890084549" name="Text 19"/>
          <p:cNvSpPr/>
          <p:nvPr/>
        </p:nvSpPr>
        <p:spPr bwMode="auto">
          <a:xfrm>
            <a:off x="1532731" y="9446419"/>
            <a:ext cx="672147" cy="393700"/>
          </a:xfrm>
          <a:prstGeom prst="rect">
            <a:avLst/>
          </a:prstGeom>
          <a:noFill/>
          <a:ln/>
        </p:spPr>
        <p:txBody>
          <a:bodyPr wrap="square" lIns="25400" tIns="25400" rIns="25400" bIns="25400" rtlCol="0" anchor="t">
            <a:normAutofit/>
          </a:bodyPr>
          <a:lstStyle/>
          <a:p>
            <a:pPr marL="0" indent="0" algn="l">
              <a:buNone/>
              <a:defRPr/>
            </a:pPr>
            <a:r>
              <a:rPr lang="en-US" sz="1900" b="1">
                <a:solidFill>
                  <a:srgbClr val="DB5817"/>
                </a:solidFill>
                <a:latin typeface="Arial"/>
                <a:ea typeface="Arial"/>
                <a:cs typeface="Arial"/>
              </a:rPr>
              <a:t>Docs</a:t>
            </a:r>
            <a:endParaRPr lang="en-US" sz="1900"/>
          </a:p>
        </p:txBody>
      </p:sp>
      <p:sp>
        <p:nvSpPr>
          <p:cNvPr id="2034106067" name="Text 20"/>
          <p:cNvSpPr/>
          <p:nvPr/>
        </p:nvSpPr>
        <p:spPr bwMode="auto">
          <a:xfrm>
            <a:off x="2262029" y="9457531"/>
            <a:ext cx="3850719" cy="371475"/>
          </a:xfrm>
          <a:prstGeom prst="rect">
            <a:avLst/>
          </a:prstGeom>
          <a:noFill/>
          <a:ln/>
        </p:spPr>
        <p:txBody>
          <a:bodyPr wrap="square" lIns="0" tIns="0" rIns="0" bIns="0" rtlCol="0" anchor="t">
            <a:normAutofit/>
          </a:bodyPr>
          <a:lstStyle/>
          <a:p>
            <a:pPr marL="0" indent="0" algn="l">
              <a:buNone/>
              <a:defRPr/>
            </a:pPr>
            <a:r>
              <a:rPr lang="en-US" sz="1900">
                <a:solidFill>
                  <a:srgbClr val="002060"/>
                </a:solidFill>
                <a:latin typeface="Arial"/>
                <a:ea typeface="Arial"/>
                <a:cs typeface="Arial"/>
              </a:rPr>
              <a:t>Part 3 — Setup 2, Laptop · step 2</a:t>
            </a:r>
            <a:endParaRPr lang="en-US" sz="1900"/>
          </a:p>
        </p:txBody>
      </p:sp>
      <p:pic>
        <p:nvPicPr>
          <p:cNvPr id="1966057364" name="Image 1" descr="preencoded.png"/>
          <p:cNvPicPr>
            <a:picLocks noChangeAspect="1"/>
          </p:cNvPicPr>
          <p:nvPr/>
        </p:nvPicPr>
        <p:blipFill rotWithShape="1">
          <a:blip r:embed="rId4"/>
          <a:stretch/>
        </p:blipFill>
        <p:spPr bwMode="auto">
          <a:xfrm>
            <a:off x="17515046" y="9561512"/>
            <a:ext cx="144304" cy="34448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9">
    <p:bg>
      <p:bgPr shadeToTitle="0">
        <a:solidFill>
          <a:srgbClr val="FFFFFF"/>
        </a:solidFill>
      </p:bgPr>
    </p:bg>
    <p:spTree>
      <p:nvGrpSpPr>
        <p:cNvPr id="1" name=""/>
        <p:cNvGrpSpPr/>
        <p:nvPr/>
      </p:nvGrpSpPr>
      <p:grpSpPr bwMode="auto">
        <a:xfrm>
          <a:off x="0" y="0"/>
          <a:ext cx="0" cy="0"/>
          <a:chOff x="0" y="0"/>
          <a:chExt cx="0" cy="0"/>
        </a:xfrm>
      </p:grpSpPr>
      <p:sp>
        <p:nvSpPr>
          <p:cNvPr id="1376839693" name="Shape 0"/>
          <p:cNvSpPr/>
          <p:nvPr/>
        </p:nvSpPr>
        <p:spPr bwMode="auto">
          <a:xfrm>
            <a:off x="971550" y="0"/>
            <a:ext cx="28575" cy="10287000"/>
          </a:xfrm>
          <a:prstGeom prst="rect">
            <a:avLst/>
          </a:prstGeom>
          <a:solidFill>
            <a:srgbClr val="002060">
              <a:alpha val="15999"/>
            </a:srgbClr>
          </a:solidFill>
          <a:ln/>
        </p:spPr>
      </p:sp>
      <p:sp>
        <p:nvSpPr>
          <p:cNvPr id="1144735691" name="Shape 1"/>
          <p:cNvSpPr/>
          <p:nvPr/>
        </p:nvSpPr>
        <p:spPr bwMode="auto">
          <a:xfrm>
            <a:off x="971550" y="1009650"/>
            <a:ext cx="16687800" cy="28575"/>
          </a:xfrm>
          <a:prstGeom prst="rect">
            <a:avLst/>
          </a:prstGeom>
          <a:solidFill>
            <a:srgbClr val="002060">
              <a:alpha val="15999"/>
            </a:srgbClr>
          </a:solidFill>
          <a:ln/>
        </p:spPr>
      </p:sp>
      <p:pic>
        <p:nvPicPr>
          <p:cNvPr id="571088412" name="Image 0" descr="preencoded.png"/>
          <p:cNvPicPr>
            <a:picLocks noChangeAspect="1"/>
          </p:cNvPicPr>
          <p:nvPr/>
        </p:nvPicPr>
        <p:blipFill rotWithShape="1">
          <a:blip r:embed="rId3"/>
          <a:stretch/>
        </p:blipFill>
        <p:spPr bwMode="auto">
          <a:xfrm>
            <a:off x="1257300" y="209550"/>
            <a:ext cx="779621" cy="647700"/>
          </a:xfrm>
          <a:prstGeom prst="rect">
            <a:avLst/>
          </a:prstGeom>
        </p:spPr>
      </p:pic>
      <p:sp>
        <p:nvSpPr>
          <p:cNvPr id="302544987" name="Text 2"/>
          <p:cNvSpPr/>
          <p:nvPr/>
        </p:nvSpPr>
        <p:spPr bwMode="auto">
          <a:xfrm>
            <a:off x="14455616" y="400050"/>
            <a:ext cx="3524107" cy="393700"/>
          </a:xfrm>
          <a:prstGeom prst="rect">
            <a:avLst/>
          </a:prstGeom>
          <a:noFill/>
          <a:ln/>
        </p:spPr>
        <p:txBody>
          <a:bodyPr wrap="square" lIns="25400" tIns="25400" rIns="25400" bIns="25400" rtlCol="0" anchor="t">
            <a:normAutofit/>
          </a:bodyPr>
          <a:lstStyle/>
          <a:p>
            <a:pPr marL="0" indent="0" algn="l">
              <a:buNone/>
              <a:defRPr/>
            </a:pPr>
            <a:r>
              <a:rPr lang="en-US" sz="1900" spc="75">
                <a:solidFill>
                  <a:srgbClr val="DB5817"/>
                </a:solidFill>
                <a:latin typeface="Arial"/>
                <a:ea typeface="Arial"/>
                <a:cs typeface="Arial"/>
              </a:rPr>
              <a:t>www.centex-sarawak.my</a:t>
            </a:r>
            <a:endParaRPr lang="en-US" sz="1900"/>
          </a:p>
        </p:txBody>
      </p:sp>
      <p:sp>
        <p:nvSpPr>
          <p:cNvPr id="1728539116" name="Text 3"/>
          <p:cNvSpPr/>
          <p:nvPr/>
        </p:nvSpPr>
        <p:spPr bwMode="auto">
          <a:xfrm>
            <a:off x="1257300" y="1905000"/>
            <a:ext cx="17665065" cy="410369"/>
          </a:xfrm>
          <a:prstGeom prst="rect">
            <a:avLst/>
          </a:prstGeom>
          <a:noFill/>
          <a:ln/>
        </p:spPr>
        <p:txBody>
          <a:bodyPr wrap="square" lIns="25400" tIns="25400" rIns="25400" bIns="25400" rtlCol="0" anchor="t">
            <a:normAutofit/>
          </a:bodyPr>
          <a:lstStyle/>
          <a:p>
            <a:pPr marL="0" indent="0" algn="l">
              <a:buNone/>
              <a:defRPr/>
            </a:pPr>
            <a:r>
              <a:rPr lang="en-US" sz="1950" b="1" spc="311">
                <a:solidFill>
                  <a:srgbClr val="DB5817"/>
                </a:solidFill>
                <a:latin typeface="Arial"/>
                <a:ea typeface="Arial"/>
                <a:cs typeface="Arial"/>
              </a:rPr>
              <a:t>STEP 2 · GET ON THE SAME NETWORK</a:t>
            </a:r>
            <a:endParaRPr lang="en-US" sz="1950"/>
          </a:p>
        </p:txBody>
      </p:sp>
      <p:sp>
        <p:nvSpPr>
          <p:cNvPr id="1857364264" name="Text 4"/>
          <p:cNvSpPr/>
          <p:nvPr/>
        </p:nvSpPr>
        <p:spPr bwMode="auto">
          <a:xfrm>
            <a:off x="1257300" y="2486819"/>
            <a:ext cx="17665065" cy="805497"/>
          </a:xfrm>
          <a:prstGeom prst="rect">
            <a:avLst/>
          </a:prstGeom>
          <a:noFill/>
          <a:ln/>
        </p:spPr>
        <p:txBody>
          <a:bodyPr wrap="square" lIns="25400" tIns="25400" rIns="25400" bIns="25400" rtlCol="0" anchor="t">
            <a:normAutofit/>
          </a:bodyPr>
          <a:lstStyle/>
          <a:p>
            <a:pPr marL="0" indent="0" algn="l">
              <a:lnSpc>
                <a:spcPct val="94599"/>
              </a:lnSpc>
              <a:buNone/>
              <a:defRPr/>
            </a:pPr>
            <a:r>
              <a:rPr lang="en-US" sz="5700" b="1" spc="-57">
                <a:solidFill>
                  <a:srgbClr val="002060"/>
                </a:solidFill>
                <a:latin typeface="Arial"/>
                <a:ea typeface="Arial"/>
                <a:cs typeface="Arial"/>
              </a:rPr>
              <a:t>Two ways to reach the robot</a:t>
            </a:r>
            <a:endParaRPr lang="en-US" sz="5700"/>
          </a:p>
        </p:txBody>
      </p:sp>
      <p:sp>
        <p:nvSpPr>
          <p:cNvPr id="840795823" name="Text 5"/>
          <p:cNvSpPr/>
          <p:nvPr/>
        </p:nvSpPr>
        <p:spPr bwMode="auto">
          <a:xfrm>
            <a:off x="1257300" y="3520916"/>
            <a:ext cx="9528201" cy="1478280"/>
          </a:xfrm>
          <a:prstGeom prst="rect">
            <a:avLst/>
          </a:prstGeom>
          <a:noFill/>
          <a:ln/>
        </p:spPr>
        <p:txBody>
          <a:bodyPr wrap="square" lIns="25400" tIns="25400" rIns="25400" bIns="25400" rtlCol="0" anchor="t">
            <a:normAutofit/>
          </a:bodyPr>
          <a:lstStyle/>
          <a:p>
            <a:pPr marL="0" indent="0" algn="l">
              <a:lnSpc>
                <a:spcPct val="123429"/>
              </a:lnSpc>
              <a:buNone/>
              <a:defRPr/>
            </a:pPr>
            <a:r>
              <a:rPr lang="en-US" sz="2700">
                <a:solidFill>
                  <a:srgbClr val="2A3040"/>
                </a:solidFill>
                <a:latin typeface="Arial"/>
                <a:ea typeface="Arial"/>
                <a:cs typeface="Arial"/>
              </a:rPr>
              <a:t>ROS 2 only works when both machines are on the same network. Pick a route — everything after this point is identical either way.</a:t>
            </a:r>
            <a:endParaRPr lang="en-US" sz="2700"/>
          </a:p>
        </p:txBody>
      </p:sp>
      <p:sp>
        <p:nvSpPr>
          <p:cNvPr id="1158503987" name="Shape 6"/>
          <p:cNvSpPr/>
          <p:nvPr/>
        </p:nvSpPr>
        <p:spPr bwMode="auto">
          <a:xfrm>
            <a:off x="1257300" y="5361146"/>
            <a:ext cx="7820025" cy="3593306"/>
          </a:xfrm>
          <a:prstGeom prst="roundRect">
            <a:avLst>
              <a:gd name="adj" fmla="val 3181"/>
            </a:avLst>
          </a:prstGeom>
          <a:solidFill>
            <a:srgbClr val="EAEEF6"/>
          </a:solidFill>
          <a:ln/>
        </p:spPr>
      </p:sp>
      <p:sp>
        <p:nvSpPr>
          <p:cNvPr id="2087618734" name="Shape 7"/>
          <p:cNvSpPr/>
          <p:nvPr/>
        </p:nvSpPr>
        <p:spPr bwMode="auto">
          <a:xfrm>
            <a:off x="1257300" y="5361146"/>
            <a:ext cx="7820025" cy="111125"/>
          </a:xfrm>
          <a:prstGeom prst="rect">
            <a:avLst/>
          </a:prstGeom>
          <a:solidFill>
            <a:srgbClr val="002060"/>
          </a:solidFill>
          <a:ln/>
        </p:spPr>
      </p:sp>
      <p:sp>
        <p:nvSpPr>
          <p:cNvPr id="1610493033" name="Shape 8"/>
          <p:cNvSpPr/>
          <p:nvPr/>
        </p:nvSpPr>
        <p:spPr bwMode="auto">
          <a:xfrm>
            <a:off x="1638300" y="5796121"/>
            <a:ext cx="630238" cy="530225"/>
          </a:xfrm>
          <a:prstGeom prst="roundRect">
            <a:avLst>
              <a:gd name="adj" fmla="val 14371"/>
            </a:avLst>
          </a:prstGeom>
          <a:solidFill>
            <a:srgbClr val="002060"/>
          </a:solidFill>
          <a:ln/>
        </p:spPr>
      </p:sp>
      <p:sp>
        <p:nvSpPr>
          <p:cNvPr id="539772110" name="Text 9"/>
          <p:cNvSpPr/>
          <p:nvPr/>
        </p:nvSpPr>
        <p:spPr bwMode="auto">
          <a:xfrm>
            <a:off x="1847850" y="5872321"/>
            <a:ext cx="287338" cy="415925"/>
          </a:xfrm>
          <a:prstGeom prst="rect">
            <a:avLst/>
          </a:prstGeom>
          <a:noFill/>
          <a:ln/>
        </p:spPr>
        <p:txBody>
          <a:bodyPr wrap="square" lIns="25400" tIns="25400" rIns="25400" bIns="25400" rtlCol="0" anchor="t">
            <a:normAutofit/>
          </a:bodyPr>
          <a:lstStyle/>
          <a:p>
            <a:pPr marL="0" indent="0" algn="l">
              <a:buNone/>
              <a:defRPr/>
            </a:pPr>
            <a:r>
              <a:rPr lang="en-US" sz="2550">
                <a:solidFill>
                  <a:srgbClr val="FFFFFF"/>
                </a:solidFill>
                <a:latin typeface="Arial"/>
                <a:ea typeface="Arial"/>
                <a:cs typeface="Arial"/>
              </a:rPr>
              <a:t>A</a:t>
            </a:r>
            <a:endParaRPr lang="en-US" sz="2550"/>
          </a:p>
        </p:txBody>
      </p:sp>
      <p:sp>
        <p:nvSpPr>
          <p:cNvPr id="481585582" name="Text 10"/>
          <p:cNvSpPr/>
          <p:nvPr/>
        </p:nvSpPr>
        <p:spPr bwMode="auto">
          <a:xfrm>
            <a:off x="2478088" y="5819458"/>
            <a:ext cx="1692989" cy="521494"/>
          </a:xfrm>
          <a:prstGeom prst="rect">
            <a:avLst/>
          </a:prstGeom>
          <a:noFill/>
          <a:ln/>
        </p:spPr>
        <p:txBody>
          <a:bodyPr wrap="square" lIns="25400" tIns="25400" rIns="25400" bIns="25400" rtlCol="0" anchor="t">
            <a:normAutofit/>
          </a:bodyPr>
          <a:lstStyle/>
          <a:p>
            <a:pPr marL="0" indent="0" algn="l">
              <a:buNone/>
              <a:defRPr/>
            </a:pPr>
            <a:r>
              <a:rPr lang="en-US" sz="2550" b="1">
                <a:solidFill>
                  <a:srgbClr val="002060"/>
                </a:solidFill>
                <a:latin typeface="Arial"/>
                <a:ea typeface="Arial"/>
                <a:cs typeface="Arial"/>
              </a:rPr>
              <a:t>Over WiFi</a:t>
            </a:r>
            <a:endParaRPr lang="en-US" sz="2550"/>
          </a:p>
        </p:txBody>
      </p:sp>
      <p:sp>
        <p:nvSpPr>
          <p:cNvPr id="230259635" name="Text 11"/>
          <p:cNvSpPr/>
          <p:nvPr/>
        </p:nvSpPr>
        <p:spPr bwMode="auto">
          <a:xfrm>
            <a:off x="1638300" y="6497796"/>
            <a:ext cx="7269766" cy="1214914"/>
          </a:xfrm>
          <a:prstGeom prst="rect">
            <a:avLst/>
          </a:prstGeom>
          <a:noFill/>
          <a:ln/>
        </p:spPr>
        <p:txBody>
          <a:bodyPr wrap="square" lIns="25400" tIns="25400" rIns="25400" bIns="25400" rtlCol="0" anchor="t">
            <a:normAutofit/>
          </a:bodyPr>
          <a:lstStyle/>
          <a:p>
            <a:pPr marL="0" indent="0" algn="l">
              <a:lnSpc>
                <a:spcPct val="123859"/>
              </a:lnSpc>
              <a:buNone/>
              <a:defRPr/>
            </a:pPr>
            <a:r>
              <a:rPr lang="en-US" sz="2200">
                <a:solidFill>
                  <a:srgbClr val="2A3040"/>
                </a:solidFill>
                <a:latin typeface="Arial"/>
                <a:ea typeface="Arial"/>
                <a:cs typeface="Arial"/>
              </a:rPr>
              <a:t>Join the robot's own hotspot, open its dashboard, and use the dashboard to move the robot onto a real network — then join your laptop to that same network.</a:t>
            </a:r>
            <a:endParaRPr lang="en-US" sz="2200"/>
          </a:p>
        </p:txBody>
      </p:sp>
      <p:sp>
        <p:nvSpPr>
          <p:cNvPr id="1691927968" name="Text 12"/>
          <p:cNvSpPr/>
          <p:nvPr/>
        </p:nvSpPr>
        <p:spPr bwMode="auto">
          <a:xfrm>
            <a:off x="1638300" y="7846060"/>
            <a:ext cx="7269766" cy="822643"/>
          </a:xfrm>
          <a:prstGeom prst="rect">
            <a:avLst/>
          </a:prstGeom>
          <a:noFill/>
          <a:ln/>
        </p:spPr>
        <p:txBody>
          <a:bodyPr wrap="square" lIns="25400" tIns="25400" rIns="25400" bIns="25400" rtlCol="0" anchor="t">
            <a:normAutofit/>
          </a:bodyPr>
          <a:lstStyle/>
          <a:p>
            <a:pPr marL="0" indent="0" algn="l">
              <a:lnSpc>
                <a:spcPct val="123859"/>
              </a:lnSpc>
              <a:buNone/>
              <a:defRPr/>
            </a:pPr>
            <a:r>
              <a:rPr lang="en-US" sz="2200" b="1">
                <a:solidFill>
                  <a:srgbClr val="002060"/>
                </a:solidFill>
                <a:latin typeface="Arial"/>
                <a:ea typeface="Arial"/>
                <a:cs typeface="Arial"/>
              </a:rPr>
              <a:t>Nothing to configure on your laptop. Depends on the WiFi behaving.</a:t>
            </a:r>
            <a:endParaRPr lang="en-US" sz="2200"/>
          </a:p>
        </p:txBody>
      </p:sp>
      <p:sp>
        <p:nvSpPr>
          <p:cNvPr id="1516362065" name="Shape 13"/>
          <p:cNvSpPr/>
          <p:nvPr/>
        </p:nvSpPr>
        <p:spPr bwMode="auto">
          <a:xfrm>
            <a:off x="9496425" y="5361146"/>
            <a:ext cx="7820025" cy="3593306"/>
          </a:xfrm>
          <a:prstGeom prst="roundRect">
            <a:avLst>
              <a:gd name="adj" fmla="val 3181"/>
            </a:avLst>
          </a:prstGeom>
          <a:solidFill>
            <a:srgbClr val="F3E2CD"/>
          </a:solidFill>
          <a:ln/>
        </p:spPr>
      </p:sp>
      <p:sp>
        <p:nvSpPr>
          <p:cNvPr id="1184126762" name="Shape 14"/>
          <p:cNvSpPr/>
          <p:nvPr/>
        </p:nvSpPr>
        <p:spPr bwMode="auto">
          <a:xfrm>
            <a:off x="9496425" y="5361146"/>
            <a:ext cx="7820025" cy="111125"/>
          </a:xfrm>
          <a:prstGeom prst="rect">
            <a:avLst/>
          </a:prstGeom>
          <a:solidFill>
            <a:srgbClr val="DB5817"/>
          </a:solidFill>
          <a:ln/>
        </p:spPr>
      </p:sp>
      <p:sp>
        <p:nvSpPr>
          <p:cNvPr id="92072857" name="Shape 15"/>
          <p:cNvSpPr/>
          <p:nvPr/>
        </p:nvSpPr>
        <p:spPr bwMode="auto">
          <a:xfrm>
            <a:off x="9877424" y="5796121"/>
            <a:ext cx="617537" cy="530225"/>
          </a:xfrm>
          <a:prstGeom prst="roundRect">
            <a:avLst>
              <a:gd name="adj" fmla="val 14371"/>
            </a:avLst>
          </a:prstGeom>
          <a:solidFill>
            <a:srgbClr val="DB5817"/>
          </a:solidFill>
          <a:ln/>
        </p:spPr>
      </p:sp>
      <p:sp>
        <p:nvSpPr>
          <p:cNvPr id="1881251429" name="Text 16"/>
          <p:cNvSpPr/>
          <p:nvPr/>
        </p:nvSpPr>
        <p:spPr bwMode="auto">
          <a:xfrm>
            <a:off x="10086975" y="5872321"/>
            <a:ext cx="274637" cy="415925"/>
          </a:xfrm>
          <a:prstGeom prst="rect">
            <a:avLst/>
          </a:prstGeom>
          <a:noFill/>
          <a:ln/>
        </p:spPr>
        <p:txBody>
          <a:bodyPr wrap="square" lIns="25400" tIns="25400" rIns="25400" bIns="25400" rtlCol="0" anchor="t">
            <a:normAutofit/>
          </a:bodyPr>
          <a:lstStyle/>
          <a:p>
            <a:pPr marL="0" indent="0" algn="l">
              <a:buNone/>
              <a:defRPr/>
            </a:pPr>
            <a:r>
              <a:rPr lang="en-US" sz="2550">
                <a:solidFill>
                  <a:srgbClr val="FFFFFF"/>
                </a:solidFill>
                <a:latin typeface="Arial"/>
                <a:ea typeface="Arial"/>
                <a:cs typeface="Arial"/>
              </a:rPr>
              <a:t>B</a:t>
            </a:r>
            <a:endParaRPr lang="en-US" sz="2550"/>
          </a:p>
        </p:txBody>
      </p:sp>
      <p:sp>
        <p:nvSpPr>
          <p:cNvPr id="186834370" name="Text 17"/>
          <p:cNvSpPr/>
          <p:nvPr/>
        </p:nvSpPr>
        <p:spPr bwMode="auto">
          <a:xfrm>
            <a:off x="10704513" y="5819458"/>
            <a:ext cx="4124119" cy="521494"/>
          </a:xfrm>
          <a:prstGeom prst="rect">
            <a:avLst/>
          </a:prstGeom>
          <a:noFill/>
          <a:ln/>
        </p:spPr>
        <p:txBody>
          <a:bodyPr wrap="square" lIns="25400" tIns="25400" rIns="25400" bIns="25400" rtlCol="0" anchor="t">
            <a:normAutofit/>
          </a:bodyPr>
          <a:lstStyle/>
          <a:p>
            <a:pPr marL="0" indent="0" algn="l">
              <a:buNone/>
              <a:defRPr/>
            </a:pPr>
            <a:r>
              <a:rPr lang="en-US" sz="2550" b="1">
                <a:solidFill>
                  <a:srgbClr val="002060"/>
                </a:solidFill>
                <a:latin typeface="Arial"/>
                <a:ea typeface="Arial"/>
                <a:cs typeface="Arial"/>
              </a:rPr>
              <a:t>Over an Ethernet cable</a:t>
            </a:r>
            <a:endParaRPr lang="en-US" sz="2550"/>
          </a:p>
        </p:txBody>
      </p:sp>
      <p:sp>
        <p:nvSpPr>
          <p:cNvPr id="680434988" name="Text 18"/>
          <p:cNvSpPr/>
          <p:nvPr/>
        </p:nvSpPr>
        <p:spPr bwMode="auto">
          <a:xfrm>
            <a:off x="9877424" y="6497796"/>
            <a:ext cx="7269766" cy="1214914"/>
          </a:xfrm>
          <a:prstGeom prst="rect">
            <a:avLst/>
          </a:prstGeom>
          <a:noFill/>
          <a:ln/>
        </p:spPr>
        <p:txBody>
          <a:bodyPr wrap="square" lIns="25400" tIns="25400" rIns="25400" bIns="25400" rtlCol="0" anchor="t">
            <a:normAutofit/>
          </a:bodyPr>
          <a:lstStyle/>
          <a:p>
            <a:pPr marL="0" indent="0" algn="l">
              <a:lnSpc>
                <a:spcPct val="123859"/>
              </a:lnSpc>
              <a:buNone/>
              <a:defRPr/>
            </a:pPr>
            <a:r>
              <a:rPr lang="en-US" sz="2200">
                <a:solidFill>
                  <a:srgbClr val="2A3040"/>
                </a:solidFill>
                <a:latin typeface="Arial"/>
                <a:ea typeface="Arial"/>
                <a:cs typeface="Arial"/>
              </a:rPr>
              <a:t>Plug a cable straight between laptop and robot, and give both ends a fixed address on the same private network. No router, no WiFi involved.</a:t>
            </a:r>
            <a:endParaRPr lang="en-US" sz="2200"/>
          </a:p>
        </p:txBody>
      </p:sp>
      <p:sp>
        <p:nvSpPr>
          <p:cNvPr id="480753559" name="Text 19"/>
          <p:cNvSpPr/>
          <p:nvPr/>
        </p:nvSpPr>
        <p:spPr bwMode="auto">
          <a:xfrm>
            <a:off x="9877424" y="7846060"/>
            <a:ext cx="7269766" cy="822643"/>
          </a:xfrm>
          <a:prstGeom prst="rect">
            <a:avLst/>
          </a:prstGeom>
          <a:noFill/>
          <a:ln/>
        </p:spPr>
        <p:txBody>
          <a:bodyPr wrap="square" lIns="25400" tIns="25400" rIns="25400" bIns="25400" rtlCol="0" anchor="t">
            <a:normAutofit/>
          </a:bodyPr>
          <a:lstStyle/>
          <a:p>
            <a:pPr marL="0" indent="0" algn="l">
              <a:lnSpc>
                <a:spcPct val="123859"/>
              </a:lnSpc>
              <a:buNone/>
              <a:defRPr/>
            </a:pPr>
            <a:r>
              <a:rPr lang="en-US" sz="2200" b="1">
                <a:solidFill>
                  <a:srgbClr val="002060"/>
                </a:solidFill>
                <a:latin typeface="Arial"/>
                <a:ea typeface="Arial"/>
                <a:cs typeface="Arial"/>
              </a:rPr>
              <a:t>Ten minutes to set up once, then the most reliable option there is.</a:t>
            </a:r>
            <a:endParaRPr lang="en-US" sz="2200"/>
          </a:p>
        </p:txBody>
      </p:sp>
      <p:pic>
        <p:nvPicPr>
          <p:cNvPr id="495773096" name="Image 1" descr="preencoded.png"/>
          <p:cNvPicPr>
            <a:picLocks noChangeAspect="1"/>
          </p:cNvPicPr>
          <p:nvPr/>
        </p:nvPicPr>
        <p:blipFill rotWithShape="1">
          <a:blip r:embed="rId4"/>
          <a:stretch/>
        </p:blipFill>
        <p:spPr bwMode="auto">
          <a:xfrm>
            <a:off x="17515363" y="9561512"/>
            <a:ext cx="143986" cy="34448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0">
    <p:bg>
      <p:bgPr shadeToTitle="0">
        <a:solidFill>
          <a:srgbClr val="FFFFFF"/>
        </a:solidFill>
      </p:bgPr>
    </p:bg>
    <p:spTree>
      <p:nvGrpSpPr>
        <p:cNvPr id="1" name=""/>
        <p:cNvGrpSpPr/>
        <p:nvPr/>
      </p:nvGrpSpPr>
      <p:grpSpPr bwMode="auto">
        <a:xfrm>
          <a:off x="0" y="0"/>
          <a:ext cx="0" cy="0"/>
          <a:chOff x="0" y="0"/>
          <a:chExt cx="0" cy="0"/>
        </a:xfrm>
      </p:grpSpPr>
      <p:sp>
        <p:nvSpPr>
          <p:cNvPr id="223477925" name="Shape 0"/>
          <p:cNvSpPr/>
          <p:nvPr/>
        </p:nvSpPr>
        <p:spPr bwMode="auto">
          <a:xfrm>
            <a:off x="971550" y="0"/>
            <a:ext cx="28575" cy="10287000"/>
          </a:xfrm>
          <a:prstGeom prst="rect">
            <a:avLst/>
          </a:prstGeom>
          <a:solidFill>
            <a:srgbClr val="002060">
              <a:alpha val="15999"/>
            </a:srgbClr>
          </a:solidFill>
          <a:ln/>
        </p:spPr>
      </p:sp>
      <p:sp>
        <p:nvSpPr>
          <p:cNvPr id="460203829" name="Shape 1"/>
          <p:cNvSpPr/>
          <p:nvPr/>
        </p:nvSpPr>
        <p:spPr bwMode="auto">
          <a:xfrm>
            <a:off x="971550" y="1009650"/>
            <a:ext cx="16687800" cy="28575"/>
          </a:xfrm>
          <a:prstGeom prst="rect">
            <a:avLst/>
          </a:prstGeom>
          <a:solidFill>
            <a:srgbClr val="002060">
              <a:alpha val="15999"/>
            </a:srgbClr>
          </a:solidFill>
          <a:ln/>
        </p:spPr>
      </p:sp>
      <p:pic>
        <p:nvPicPr>
          <p:cNvPr id="987151162" name="Image 0" descr="preencoded.png"/>
          <p:cNvPicPr>
            <a:picLocks noChangeAspect="1"/>
          </p:cNvPicPr>
          <p:nvPr/>
        </p:nvPicPr>
        <p:blipFill rotWithShape="1">
          <a:blip r:embed="rId3"/>
          <a:stretch/>
        </p:blipFill>
        <p:spPr bwMode="auto">
          <a:xfrm>
            <a:off x="1257300" y="209550"/>
            <a:ext cx="779621" cy="647700"/>
          </a:xfrm>
          <a:prstGeom prst="rect">
            <a:avLst/>
          </a:prstGeom>
        </p:spPr>
      </p:pic>
      <p:sp>
        <p:nvSpPr>
          <p:cNvPr id="667433523" name="Text 2"/>
          <p:cNvSpPr/>
          <p:nvPr/>
        </p:nvSpPr>
        <p:spPr bwMode="auto">
          <a:xfrm>
            <a:off x="14455616" y="400050"/>
            <a:ext cx="3524107" cy="393700"/>
          </a:xfrm>
          <a:prstGeom prst="rect">
            <a:avLst/>
          </a:prstGeom>
          <a:noFill/>
          <a:ln/>
        </p:spPr>
        <p:txBody>
          <a:bodyPr wrap="square" lIns="25400" tIns="25400" rIns="25400" bIns="25400" rtlCol="0" anchor="t">
            <a:normAutofit/>
          </a:bodyPr>
          <a:lstStyle/>
          <a:p>
            <a:pPr marL="0" indent="0" algn="l">
              <a:buNone/>
              <a:defRPr/>
            </a:pPr>
            <a:r>
              <a:rPr lang="en-US" sz="1900" spc="75">
                <a:solidFill>
                  <a:srgbClr val="DB5817"/>
                </a:solidFill>
                <a:latin typeface="Arial"/>
                <a:ea typeface="Arial"/>
                <a:cs typeface="Arial"/>
              </a:rPr>
              <a:t>www.centex-sarawak.my</a:t>
            </a:r>
            <a:endParaRPr lang="en-US" sz="1900"/>
          </a:p>
        </p:txBody>
      </p:sp>
      <p:sp>
        <p:nvSpPr>
          <p:cNvPr id="318837030" name="Shape 3"/>
          <p:cNvSpPr/>
          <p:nvPr/>
        </p:nvSpPr>
        <p:spPr bwMode="auto">
          <a:xfrm>
            <a:off x="1257300" y="1905000"/>
            <a:ext cx="630238" cy="530225"/>
          </a:xfrm>
          <a:prstGeom prst="roundRect">
            <a:avLst>
              <a:gd name="adj" fmla="val 14371"/>
            </a:avLst>
          </a:prstGeom>
          <a:solidFill>
            <a:srgbClr val="002060"/>
          </a:solidFill>
          <a:ln/>
        </p:spPr>
      </p:sp>
      <p:sp>
        <p:nvSpPr>
          <p:cNvPr id="1152781890" name="Text 4"/>
          <p:cNvSpPr/>
          <p:nvPr/>
        </p:nvSpPr>
        <p:spPr bwMode="auto">
          <a:xfrm>
            <a:off x="1466849" y="1981200"/>
            <a:ext cx="287338" cy="415925"/>
          </a:xfrm>
          <a:prstGeom prst="rect">
            <a:avLst/>
          </a:prstGeom>
          <a:noFill/>
          <a:ln/>
        </p:spPr>
        <p:txBody>
          <a:bodyPr wrap="square" lIns="25400" tIns="25400" rIns="25400" bIns="25400" rtlCol="0" anchor="t">
            <a:normAutofit/>
          </a:bodyPr>
          <a:lstStyle/>
          <a:p>
            <a:pPr marL="0" indent="0" algn="l">
              <a:buNone/>
              <a:defRPr/>
            </a:pPr>
            <a:r>
              <a:rPr lang="en-US" sz="2550">
                <a:solidFill>
                  <a:srgbClr val="FFFFFF"/>
                </a:solidFill>
                <a:latin typeface="Arial"/>
                <a:ea typeface="Arial"/>
                <a:cs typeface="Arial"/>
              </a:rPr>
              <a:t>A</a:t>
            </a:r>
            <a:endParaRPr lang="en-US" sz="2550"/>
          </a:p>
        </p:txBody>
      </p:sp>
      <p:sp>
        <p:nvSpPr>
          <p:cNvPr id="1256499880" name="Text 5"/>
          <p:cNvSpPr/>
          <p:nvPr/>
        </p:nvSpPr>
        <p:spPr bwMode="auto">
          <a:xfrm>
            <a:off x="2097088" y="1983899"/>
            <a:ext cx="2716117" cy="410369"/>
          </a:xfrm>
          <a:prstGeom prst="rect">
            <a:avLst/>
          </a:prstGeom>
          <a:noFill/>
          <a:ln/>
        </p:spPr>
        <p:txBody>
          <a:bodyPr wrap="square" lIns="25400" tIns="25400" rIns="25400" bIns="25400" rtlCol="0" anchor="t">
            <a:normAutofit/>
          </a:bodyPr>
          <a:lstStyle/>
          <a:p>
            <a:pPr marL="0" indent="0" algn="l">
              <a:buNone/>
              <a:defRPr/>
            </a:pPr>
            <a:r>
              <a:rPr lang="en-US" sz="1950" b="1" spc="311">
                <a:solidFill>
                  <a:srgbClr val="DB5817"/>
                </a:solidFill>
                <a:latin typeface="Arial"/>
                <a:ea typeface="Arial"/>
                <a:cs typeface="Arial"/>
              </a:rPr>
              <a:t>ROUTE A · FIRST</a:t>
            </a:r>
            <a:endParaRPr lang="en-US" sz="1950"/>
          </a:p>
        </p:txBody>
      </p:sp>
      <p:sp>
        <p:nvSpPr>
          <p:cNvPr id="2122972034" name="Text 6"/>
          <p:cNvSpPr/>
          <p:nvPr/>
        </p:nvSpPr>
        <p:spPr bwMode="auto">
          <a:xfrm>
            <a:off x="1257300" y="2606675"/>
            <a:ext cx="17665065" cy="805497"/>
          </a:xfrm>
          <a:prstGeom prst="rect">
            <a:avLst/>
          </a:prstGeom>
          <a:noFill/>
          <a:ln/>
        </p:spPr>
        <p:txBody>
          <a:bodyPr wrap="square" lIns="25400" tIns="25400" rIns="25400" bIns="25400" rtlCol="0" anchor="t">
            <a:normAutofit/>
          </a:bodyPr>
          <a:lstStyle/>
          <a:p>
            <a:pPr marL="0" indent="0" algn="l">
              <a:lnSpc>
                <a:spcPct val="94599"/>
              </a:lnSpc>
              <a:buNone/>
              <a:defRPr/>
            </a:pPr>
            <a:r>
              <a:rPr lang="en-US" sz="5700" b="1" spc="-57">
                <a:solidFill>
                  <a:srgbClr val="002060"/>
                </a:solidFill>
                <a:latin typeface="Arial"/>
                <a:ea typeface="Arial"/>
                <a:cs typeface="Arial"/>
              </a:rPr>
              <a:t>Join the robot's own WiFi</a:t>
            </a:r>
            <a:endParaRPr lang="en-US" sz="5700"/>
          </a:p>
        </p:txBody>
      </p:sp>
      <p:sp>
        <p:nvSpPr>
          <p:cNvPr id="819141423" name="Text 7"/>
          <p:cNvSpPr/>
          <p:nvPr/>
        </p:nvSpPr>
        <p:spPr bwMode="auto">
          <a:xfrm>
            <a:off x="1257300" y="3678873"/>
            <a:ext cx="7995761" cy="1851660"/>
          </a:xfrm>
          <a:prstGeom prst="rect">
            <a:avLst/>
          </a:prstGeom>
          <a:noFill/>
          <a:ln/>
        </p:spPr>
        <p:txBody>
          <a:bodyPr wrap="square" lIns="25400" tIns="25400" rIns="25400" bIns="25400" rtlCol="0" anchor="t">
            <a:normAutofit/>
          </a:bodyPr>
          <a:lstStyle/>
          <a:p>
            <a:pPr marL="0" indent="0" algn="l">
              <a:lnSpc>
                <a:spcPct val="123635"/>
              </a:lnSpc>
              <a:buNone/>
              <a:defRPr/>
            </a:pPr>
            <a:r>
              <a:rPr lang="en-US" sz="2550">
                <a:solidFill>
                  <a:srgbClr val="2A3040"/>
                </a:solidFill>
                <a:latin typeface="Arial"/>
                <a:ea typeface="Arial"/>
                <a:cs typeface="Arial"/>
              </a:rPr>
              <a:t>With no known network around, the robot broadcasts its own. Open the WiFi menu on your laptop the way you always do — top-right corner of the Ubuntu desktop — and pick it from the list.</a:t>
            </a:r>
            <a:endParaRPr lang="en-US" sz="2550"/>
          </a:p>
        </p:txBody>
      </p:sp>
      <p:sp>
        <p:nvSpPr>
          <p:cNvPr id="109519388" name="Text 8"/>
          <p:cNvSpPr/>
          <p:nvPr/>
        </p:nvSpPr>
        <p:spPr bwMode="auto">
          <a:xfrm>
            <a:off x="1257300" y="5721032"/>
            <a:ext cx="7995761" cy="1398270"/>
          </a:xfrm>
          <a:prstGeom prst="rect">
            <a:avLst/>
          </a:prstGeom>
          <a:noFill/>
          <a:ln/>
        </p:spPr>
        <p:txBody>
          <a:bodyPr wrap="square" lIns="25400" tIns="25400" rIns="25400" bIns="25400" rtlCol="0" anchor="t">
            <a:normAutofit/>
          </a:bodyPr>
          <a:lstStyle/>
          <a:p>
            <a:pPr marL="0" indent="0" algn="l">
              <a:lnSpc>
                <a:spcPct val="123635"/>
              </a:lnSpc>
              <a:buNone/>
              <a:defRPr/>
            </a:pPr>
            <a:r>
              <a:rPr lang="en-US" sz="2550">
                <a:solidFill>
                  <a:srgbClr val="2A3040"/>
                </a:solidFill>
                <a:latin typeface="Arial"/>
                <a:ea typeface="Arial"/>
                <a:cs typeface="Arial"/>
              </a:rPr>
              <a:t>The password follows the robot's name — usually </a:t>
            </a:r>
            <a:r>
              <a:rPr lang="en-US" sz="2400">
                <a:solidFill>
                  <a:srgbClr val="2A3040"/>
                </a:solidFill>
                <a:latin typeface="Courier New"/>
                <a:ea typeface="Courier New"/>
                <a:cs typeface="Courier New"/>
              </a:rPr>
              <a:t>a2botXXX </a:t>
            </a:r>
            <a:r>
              <a:rPr lang="en-US" sz="2550">
                <a:solidFill>
                  <a:srgbClr val="2A3040"/>
                </a:solidFill>
                <a:latin typeface="Arial"/>
                <a:ea typeface="Arial"/>
                <a:cs typeface="Arial"/>
              </a:rPr>
              <a:t>. It is also on the QR label, or ask the instructor. No terminal needed here.</a:t>
            </a:r>
            <a:endParaRPr lang="en-US" sz="2550"/>
          </a:p>
        </p:txBody>
      </p:sp>
      <p:sp>
        <p:nvSpPr>
          <p:cNvPr id="2072672987" name="Shape 9"/>
          <p:cNvSpPr/>
          <p:nvPr/>
        </p:nvSpPr>
        <p:spPr bwMode="auto">
          <a:xfrm>
            <a:off x="1257300" y="7366953"/>
            <a:ext cx="7762875" cy="1634014"/>
          </a:xfrm>
          <a:prstGeom prst="roundRect">
            <a:avLst>
              <a:gd name="adj" fmla="val 4663"/>
            </a:avLst>
          </a:prstGeom>
          <a:solidFill>
            <a:srgbClr val="F3E2CD"/>
          </a:solidFill>
          <a:ln/>
        </p:spPr>
      </p:sp>
      <p:sp>
        <p:nvSpPr>
          <p:cNvPr id="1606856222" name="Shape 10"/>
          <p:cNvSpPr/>
          <p:nvPr/>
        </p:nvSpPr>
        <p:spPr bwMode="auto">
          <a:xfrm>
            <a:off x="1257300" y="7366953"/>
            <a:ext cx="111125" cy="1634014"/>
          </a:xfrm>
          <a:prstGeom prst="rect">
            <a:avLst/>
          </a:prstGeom>
          <a:solidFill>
            <a:srgbClr val="002060"/>
          </a:solidFill>
          <a:ln/>
        </p:spPr>
      </p:sp>
      <p:sp>
        <p:nvSpPr>
          <p:cNvPr id="920003759" name="Text 11"/>
          <p:cNvSpPr/>
          <p:nvPr/>
        </p:nvSpPr>
        <p:spPr bwMode="auto">
          <a:xfrm>
            <a:off x="1654175" y="7595553"/>
            <a:ext cx="347504" cy="426720"/>
          </a:xfrm>
          <a:prstGeom prst="rect">
            <a:avLst/>
          </a:prstGeom>
          <a:noFill/>
          <a:ln/>
        </p:spPr>
        <p:txBody>
          <a:bodyPr wrap="square" lIns="25400" tIns="25400" rIns="25400" bIns="25400" rtlCol="0" anchor="t">
            <a:normAutofit/>
          </a:bodyPr>
          <a:lstStyle/>
          <a:p>
            <a:pPr marL="0" indent="0" algn="l">
              <a:lnSpc>
                <a:spcPct val="105973"/>
              </a:lnSpc>
              <a:buNone/>
              <a:defRPr/>
            </a:pPr>
            <a:r>
              <a:rPr lang="en-US" sz="2550">
                <a:solidFill>
                  <a:srgbClr val="002060"/>
                </a:solidFill>
                <a:latin typeface="Arial"/>
                <a:ea typeface="Arial"/>
                <a:cs typeface="Arial"/>
              </a:rPr>
              <a:t>→</a:t>
            </a:r>
            <a:endParaRPr lang="en-US" sz="2550"/>
          </a:p>
        </p:txBody>
      </p:sp>
      <p:sp>
        <p:nvSpPr>
          <p:cNvPr id="1247936388" name="Text 12"/>
          <p:cNvSpPr/>
          <p:nvPr/>
        </p:nvSpPr>
        <p:spPr bwMode="auto">
          <a:xfrm>
            <a:off x="2135029" y="7595553"/>
            <a:ext cx="6797378" cy="1214914"/>
          </a:xfrm>
          <a:prstGeom prst="rect">
            <a:avLst/>
          </a:prstGeom>
          <a:noFill/>
          <a:ln/>
        </p:spPr>
        <p:txBody>
          <a:bodyPr wrap="square" lIns="25400" tIns="25400" rIns="25400" bIns="25400" rtlCol="0" anchor="t">
            <a:normAutofit/>
          </a:bodyPr>
          <a:lstStyle/>
          <a:p>
            <a:pPr marL="0" indent="0" algn="l">
              <a:lnSpc>
                <a:spcPct val="123859"/>
              </a:lnSpc>
              <a:buNone/>
              <a:defRPr/>
            </a:pPr>
            <a:r>
              <a:rPr lang="en-US" sz="2200" b="1">
                <a:solidFill>
                  <a:srgbClr val="002060"/>
                </a:solidFill>
                <a:latin typeface="Arial"/>
                <a:ea typeface="Arial"/>
                <a:cs typeface="Arial"/>
              </a:rPr>
              <a:t>A phone works just as well </a:t>
            </a:r>
            <a:r>
              <a:rPr lang="en-US" sz="2200">
                <a:solidFill>
                  <a:srgbClr val="2A3040"/>
                </a:solidFill>
                <a:latin typeface="Arial"/>
                <a:ea typeface="Arial"/>
                <a:cs typeface="Arial"/>
              </a:rPr>
              <a:t>for this step and the dashboard — join the hotspot and open the page in the phone's browser.</a:t>
            </a:r>
            <a:endParaRPr lang="en-US" sz="2200"/>
          </a:p>
        </p:txBody>
      </p:sp>
      <p:sp>
        <p:nvSpPr>
          <p:cNvPr id="2089507027" name="Shape 13"/>
          <p:cNvSpPr/>
          <p:nvPr/>
        </p:nvSpPr>
        <p:spPr bwMode="auto">
          <a:xfrm>
            <a:off x="9553575" y="3678873"/>
            <a:ext cx="5905500" cy="3781425"/>
          </a:xfrm>
          <a:prstGeom prst="roundRect">
            <a:avLst>
              <a:gd name="adj" fmla="val 4030"/>
            </a:avLst>
          </a:prstGeom>
          <a:solidFill>
            <a:srgbClr val="2C2C32"/>
          </a:solidFill>
          <a:ln/>
          <a:effectLst>
            <a:outerShdw blurRad="419100" dist="171450" dir="5400000" sx="100000" sy="100000" kx="0" ky="0" algn="bl" rotWithShape="0">
              <a:srgbClr val="002060">
                <a:alpha val="28000"/>
              </a:srgbClr>
            </a:outerShdw>
          </a:effectLst>
        </p:spPr>
      </p:sp>
      <p:sp>
        <p:nvSpPr>
          <p:cNvPr id="1713699729" name="Text 14"/>
          <p:cNvSpPr/>
          <p:nvPr/>
        </p:nvSpPr>
        <p:spPr bwMode="auto">
          <a:xfrm>
            <a:off x="9839325" y="3888423"/>
            <a:ext cx="5924550" cy="393700"/>
          </a:xfrm>
          <a:prstGeom prst="rect">
            <a:avLst/>
          </a:prstGeom>
          <a:noFill/>
          <a:ln/>
        </p:spPr>
        <p:txBody>
          <a:bodyPr wrap="square" lIns="25400" tIns="25400" rIns="25400" bIns="25400" rtlCol="0" anchor="t">
            <a:normAutofit/>
          </a:bodyPr>
          <a:lstStyle/>
          <a:p>
            <a:pPr marL="0" indent="0" algn="l">
              <a:buNone/>
              <a:defRPr/>
            </a:pPr>
            <a:r>
              <a:rPr lang="en-US" sz="1900" b="1" spc="113">
                <a:solidFill>
                  <a:srgbClr val="B9BEC9"/>
                </a:solidFill>
                <a:latin typeface="Arial"/>
                <a:ea typeface="Arial"/>
                <a:cs typeface="Arial"/>
              </a:rPr>
              <a:t>WI-FI NETWORKS</a:t>
            </a:r>
            <a:endParaRPr lang="en-US" sz="1900"/>
          </a:p>
        </p:txBody>
      </p:sp>
      <p:sp>
        <p:nvSpPr>
          <p:cNvPr id="1045594045" name="Shape 15"/>
          <p:cNvSpPr/>
          <p:nvPr/>
        </p:nvSpPr>
        <p:spPr bwMode="auto">
          <a:xfrm>
            <a:off x="9553575" y="4377372"/>
            <a:ext cx="5905500" cy="732631"/>
          </a:xfrm>
          <a:prstGeom prst="rect">
            <a:avLst/>
          </a:prstGeom>
          <a:solidFill>
            <a:srgbClr val="772953"/>
          </a:solidFill>
          <a:ln/>
        </p:spPr>
      </p:sp>
      <p:sp>
        <p:nvSpPr>
          <p:cNvPr id="1217210807" name="Shape 16"/>
          <p:cNvSpPr/>
          <p:nvPr/>
        </p:nvSpPr>
        <p:spPr bwMode="auto">
          <a:xfrm>
            <a:off x="9839325" y="4781709"/>
            <a:ext cx="42863" cy="76200"/>
          </a:xfrm>
          <a:prstGeom prst="roundRect">
            <a:avLst>
              <a:gd name="adj" fmla="val 44444"/>
            </a:avLst>
          </a:prstGeom>
          <a:solidFill>
            <a:srgbClr val="FFFFFF"/>
          </a:solidFill>
          <a:ln/>
        </p:spPr>
      </p:sp>
      <p:sp>
        <p:nvSpPr>
          <p:cNvPr id="799648930" name="Shape 17"/>
          <p:cNvSpPr/>
          <p:nvPr/>
        </p:nvSpPr>
        <p:spPr bwMode="auto">
          <a:xfrm>
            <a:off x="9920288" y="4724559"/>
            <a:ext cx="42863" cy="133350"/>
          </a:xfrm>
          <a:prstGeom prst="roundRect">
            <a:avLst>
              <a:gd name="adj" fmla="val 44444"/>
            </a:avLst>
          </a:prstGeom>
          <a:solidFill>
            <a:srgbClr val="FFFFFF"/>
          </a:solidFill>
          <a:ln/>
        </p:spPr>
      </p:sp>
      <p:sp>
        <p:nvSpPr>
          <p:cNvPr id="555542592" name="Shape 18"/>
          <p:cNvSpPr/>
          <p:nvPr/>
        </p:nvSpPr>
        <p:spPr bwMode="auto">
          <a:xfrm>
            <a:off x="10001250" y="4667409"/>
            <a:ext cx="42863" cy="190500"/>
          </a:xfrm>
          <a:prstGeom prst="roundRect">
            <a:avLst>
              <a:gd name="adj" fmla="val 44444"/>
            </a:avLst>
          </a:prstGeom>
          <a:solidFill>
            <a:srgbClr val="FFFFFF"/>
          </a:solidFill>
          <a:ln/>
        </p:spPr>
      </p:sp>
      <p:sp>
        <p:nvSpPr>
          <p:cNvPr id="866567225" name="Shape 19"/>
          <p:cNvSpPr/>
          <p:nvPr/>
        </p:nvSpPr>
        <p:spPr bwMode="auto">
          <a:xfrm>
            <a:off x="10082213" y="4629309"/>
            <a:ext cx="42863" cy="228600"/>
          </a:xfrm>
          <a:prstGeom prst="roundRect">
            <a:avLst>
              <a:gd name="adj" fmla="val 44444"/>
            </a:avLst>
          </a:prstGeom>
          <a:solidFill>
            <a:srgbClr val="FFFFFF"/>
          </a:solidFill>
          <a:ln/>
        </p:spPr>
      </p:sp>
      <p:sp>
        <p:nvSpPr>
          <p:cNvPr id="204736422" name="Text 20"/>
          <p:cNvSpPr/>
          <p:nvPr/>
        </p:nvSpPr>
        <p:spPr bwMode="auto">
          <a:xfrm>
            <a:off x="10315575" y="4543584"/>
            <a:ext cx="2055019" cy="438149"/>
          </a:xfrm>
          <a:prstGeom prst="rect">
            <a:avLst/>
          </a:prstGeom>
          <a:noFill/>
          <a:ln/>
        </p:spPr>
        <p:txBody>
          <a:bodyPr wrap="square" lIns="0" tIns="0" rIns="0" bIns="0" rtlCol="0" anchor="t">
            <a:normAutofit/>
          </a:bodyPr>
          <a:lstStyle/>
          <a:p>
            <a:pPr marL="0" indent="0" algn="l">
              <a:buNone/>
              <a:defRPr/>
            </a:pPr>
            <a:r>
              <a:rPr lang="en-US" sz="2250">
                <a:solidFill>
                  <a:srgbClr val="FFFFFF"/>
                </a:solidFill>
                <a:latin typeface="Arial"/>
                <a:ea typeface="Arial"/>
                <a:cs typeface="Arial"/>
              </a:rPr>
              <a:t>a2botX-setup</a:t>
            </a:r>
            <a:endParaRPr lang="en-US" sz="2250"/>
          </a:p>
        </p:txBody>
      </p:sp>
      <p:sp>
        <p:nvSpPr>
          <p:cNvPr id="1525384972" name="Text 21"/>
          <p:cNvSpPr/>
          <p:nvPr/>
        </p:nvSpPr>
        <p:spPr bwMode="auto">
          <a:xfrm>
            <a:off x="14153198" y="4557554"/>
            <a:ext cx="1096328" cy="410369"/>
          </a:xfrm>
          <a:prstGeom prst="rect">
            <a:avLst/>
          </a:prstGeom>
          <a:noFill/>
          <a:ln/>
        </p:spPr>
        <p:txBody>
          <a:bodyPr wrap="square" lIns="25400" tIns="25400" rIns="25400" bIns="25400" rtlCol="0" anchor="t">
            <a:normAutofit/>
          </a:bodyPr>
          <a:lstStyle/>
          <a:p>
            <a:pPr marL="0" indent="0" algn="l">
              <a:buNone/>
              <a:defRPr/>
            </a:pPr>
            <a:r>
              <a:rPr lang="en-US" sz="1950">
                <a:solidFill>
                  <a:srgbClr val="FFFFFF">
                    <a:alpha val="80000"/>
                  </a:srgbClr>
                </a:solidFill>
                <a:latin typeface="Arial"/>
                <a:ea typeface="Arial"/>
                <a:cs typeface="Arial"/>
              </a:rPr>
              <a:t>connect</a:t>
            </a:r>
            <a:endParaRPr lang="en-US" sz="1950"/>
          </a:p>
        </p:txBody>
      </p:sp>
      <p:sp>
        <p:nvSpPr>
          <p:cNvPr id="1581059864" name="Shape 22"/>
          <p:cNvSpPr/>
          <p:nvPr/>
        </p:nvSpPr>
        <p:spPr bwMode="auto">
          <a:xfrm>
            <a:off x="9839325" y="5514340"/>
            <a:ext cx="42863" cy="76200"/>
          </a:xfrm>
          <a:prstGeom prst="roundRect">
            <a:avLst>
              <a:gd name="adj" fmla="val 44444"/>
            </a:avLst>
          </a:prstGeom>
          <a:solidFill>
            <a:srgbClr val="9BA3B2"/>
          </a:solidFill>
          <a:ln/>
        </p:spPr>
      </p:sp>
      <p:sp>
        <p:nvSpPr>
          <p:cNvPr id="53193270" name="Shape 23"/>
          <p:cNvSpPr/>
          <p:nvPr/>
        </p:nvSpPr>
        <p:spPr bwMode="auto">
          <a:xfrm>
            <a:off x="9920288" y="5457190"/>
            <a:ext cx="42863" cy="133350"/>
          </a:xfrm>
          <a:prstGeom prst="roundRect">
            <a:avLst>
              <a:gd name="adj" fmla="val 44444"/>
            </a:avLst>
          </a:prstGeom>
          <a:solidFill>
            <a:srgbClr val="9BA3B2"/>
          </a:solidFill>
          <a:ln/>
        </p:spPr>
      </p:sp>
      <p:sp>
        <p:nvSpPr>
          <p:cNvPr id="1526906609" name="Shape 24"/>
          <p:cNvSpPr/>
          <p:nvPr/>
        </p:nvSpPr>
        <p:spPr bwMode="auto">
          <a:xfrm>
            <a:off x="10001250" y="5400040"/>
            <a:ext cx="42863" cy="190500"/>
          </a:xfrm>
          <a:prstGeom prst="roundRect">
            <a:avLst>
              <a:gd name="adj" fmla="val 44444"/>
            </a:avLst>
          </a:prstGeom>
          <a:solidFill>
            <a:srgbClr val="9BA3B2"/>
          </a:solidFill>
          <a:ln/>
        </p:spPr>
      </p:sp>
      <p:sp>
        <p:nvSpPr>
          <p:cNvPr id="1524476818" name="Shape 25"/>
          <p:cNvSpPr/>
          <p:nvPr/>
        </p:nvSpPr>
        <p:spPr bwMode="auto">
          <a:xfrm>
            <a:off x="10082213" y="5361940"/>
            <a:ext cx="42863" cy="228600"/>
          </a:xfrm>
          <a:prstGeom prst="roundRect">
            <a:avLst>
              <a:gd name="adj" fmla="val 44444"/>
            </a:avLst>
          </a:prstGeom>
          <a:solidFill>
            <a:srgbClr val="9BA3B2"/>
          </a:solidFill>
          <a:ln/>
        </p:spPr>
      </p:sp>
      <p:sp>
        <p:nvSpPr>
          <p:cNvPr id="903987146" name="Text 26"/>
          <p:cNvSpPr/>
          <p:nvPr/>
        </p:nvSpPr>
        <p:spPr bwMode="auto">
          <a:xfrm>
            <a:off x="10315575" y="5276215"/>
            <a:ext cx="1957546" cy="438149"/>
          </a:xfrm>
          <a:prstGeom prst="rect">
            <a:avLst/>
          </a:prstGeom>
          <a:noFill/>
          <a:ln/>
        </p:spPr>
        <p:txBody>
          <a:bodyPr wrap="square" lIns="0" tIns="0" rIns="0" bIns="0" rtlCol="0" anchor="t">
            <a:normAutofit/>
          </a:bodyPr>
          <a:lstStyle/>
          <a:p>
            <a:pPr marL="0" indent="0" algn="l">
              <a:buNone/>
              <a:defRPr/>
            </a:pPr>
            <a:r>
              <a:rPr lang="en-US" sz="2250">
                <a:solidFill>
                  <a:srgbClr val="8B93A3"/>
                </a:solidFill>
                <a:latin typeface="Arial"/>
                <a:ea typeface="Arial"/>
                <a:cs typeface="Arial"/>
              </a:rPr>
              <a:t>CENTEXS-Lab</a:t>
            </a:r>
            <a:endParaRPr lang="en-US" sz="2250"/>
          </a:p>
        </p:txBody>
      </p:sp>
      <p:sp>
        <p:nvSpPr>
          <p:cNvPr id="186694792" name="Shape 27"/>
          <p:cNvSpPr/>
          <p:nvPr/>
        </p:nvSpPr>
        <p:spPr bwMode="auto">
          <a:xfrm>
            <a:off x="9839325" y="6246971"/>
            <a:ext cx="42863" cy="76200"/>
          </a:xfrm>
          <a:prstGeom prst="roundRect">
            <a:avLst>
              <a:gd name="adj" fmla="val 44444"/>
            </a:avLst>
          </a:prstGeom>
          <a:solidFill>
            <a:srgbClr val="9BA3B2"/>
          </a:solidFill>
          <a:ln/>
        </p:spPr>
      </p:sp>
      <p:sp>
        <p:nvSpPr>
          <p:cNvPr id="1546544350" name="Shape 28"/>
          <p:cNvSpPr/>
          <p:nvPr/>
        </p:nvSpPr>
        <p:spPr bwMode="auto">
          <a:xfrm>
            <a:off x="9920288" y="6189821"/>
            <a:ext cx="42863" cy="133350"/>
          </a:xfrm>
          <a:prstGeom prst="roundRect">
            <a:avLst>
              <a:gd name="adj" fmla="val 44444"/>
            </a:avLst>
          </a:prstGeom>
          <a:solidFill>
            <a:srgbClr val="9BA3B2"/>
          </a:solidFill>
          <a:ln/>
        </p:spPr>
      </p:sp>
      <p:sp>
        <p:nvSpPr>
          <p:cNvPr id="1136260262" name="Shape 29"/>
          <p:cNvSpPr/>
          <p:nvPr/>
        </p:nvSpPr>
        <p:spPr bwMode="auto">
          <a:xfrm>
            <a:off x="10001250" y="6132671"/>
            <a:ext cx="42863" cy="190500"/>
          </a:xfrm>
          <a:prstGeom prst="roundRect">
            <a:avLst>
              <a:gd name="adj" fmla="val 44444"/>
            </a:avLst>
          </a:prstGeom>
          <a:solidFill>
            <a:srgbClr val="9BA3B2"/>
          </a:solidFill>
          <a:ln/>
        </p:spPr>
      </p:sp>
      <p:sp>
        <p:nvSpPr>
          <p:cNvPr id="257929522" name="Shape 30"/>
          <p:cNvSpPr/>
          <p:nvPr/>
        </p:nvSpPr>
        <p:spPr bwMode="auto">
          <a:xfrm>
            <a:off x="10082213" y="6094571"/>
            <a:ext cx="42863" cy="228600"/>
          </a:xfrm>
          <a:prstGeom prst="roundRect">
            <a:avLst>
              <a:gd name="adj" fmla="val 44444"/>
            </a:avLst>
          </a:prstGeom>
          <a:solidFill>
            <a:srgbClr val="9BA3B2"/>
          </a:solidFill>
          <a:ln/>
        </p:spPr>
      </p:sp>
      <p:sp>
        <p:nvSpPr>
          <p:cNvPr id="1420986696" name="Text 31"/>
          <p:cNvSpPr/>
          <p:nvPr/>
        </p:nvSpPr>
        <p:spPr bwMode="auto">
          <a:xfrm>
            <a:off x="10315575" y="6008846"/>
            <a:ext cx="2017236" cy="438149"/>
          </a:xfrm>
          <a:prstGeom prst="rect">
            <a:avLst/>
          </a:prstGeom>
          <a:noFill/>
          <a:ln/>
        </p:spPr>
        <p:txBody>
          <a:bodyPr wrap="square" lIns="0" tIns="0" rIns="0" bIns="0" rtlCol="0" anchor="t">
            <a:normAutofit/>
          </a:bodyPr>
          <a:lstStyle/>
          <a:p>
            <a:pPr marL="0" indent="0" algn="l">
              <a:buNone/>
              <a:defRPr/>
            </a:pPr>
            <a:r>
              <a:rPr lang="en-US" sz="2250">
                <a:solidFill>
                  <a:srgbClr val="8B93A3"/>
                </a:solidFill>
                <a:latin typeface="Arial"/>
                <a:ea typeface="Arial"/>
                <a:cs typeface="Arial"/>
              </a:rPr>
              <a:t>&lt;your phone&gt;</a:t>
            </a:r>
            <a:endParaRPr lang="en-US" sz="2250"/>
          </a:p>
        </p:txBody>
      </p:sp>
      <p:sp>
        <p:nvSpPr>
          <p:cNvPr id="1587263283" name="Shape 32"/>
          <p:cNvSpPr/>
          <p:nvPr/>
        </p:nvSpPr>
        <p:spPr bwMode="auto">
          <a:xfrm>
            <a:off x="9839325" y="6979602"/>
            <a:ext cx="42863" cy="76200"/>
          </a:xfrm>
          <a:prstGeom prst="roundRect">
            <a:avLst>
              <a:gd name="adj" fmla="val 44444"/>
            </a:avLst>
          </a:prstGeom>
          <a:solidFill>
            <a:srgbClr val="9BA3B2"/>
          </a:solidFill>
          <a:ln/>
        </p:spPr>
      </p:sp>
      <p:sp>
        <p:nvSpPr>
          <p:cNvPr id="2042072540" name="Shape 33"/>
          <p:cNvSpPr/>
          <p:nvPr/>
        </p:nvSpPr>
        <p:spPr bwMode="auto">
          <a:xfrm>
            <a:off x="9920288" y="6922452"/>
            <a:ext cx="42863" cy="133350"/>
          </a:xfrm>
          <a:prstGeom prst="roundRect">
            <a:avLst>
              <a:gd name="adj" fmla="val 44444"/>
            </a:avLst>
          </a:prstGeom>
          <a:solidFill>
            <a:srgbClr val="9BA3B2"/>
          </a:solidFill>
          <a:ln/>
        </p:spPr>
      </p:sp>
      <p:sp>
        <p:nvSpPr>
          <p:cNvPr id="1333670864" name="Shape 34"/>
          <p:cNvSpPr/>
          <p:nvPr/>
        </p:nvSpPr>
        <p:spPr bwMode="auto">
          <a:xfrm>
            <a:off x="10001250" y="6865302"/>
            <a:ext cx="42863" cy="190500"/>
          </a:xfrm>
          <a:prstGeom prst="roundRect">
            <a:avLst>
              <a:gd name="adj" fmla="val 44444"/>
            </a:avLst>
          </a:prstGeom>
          <a:solidFill>
            <a:srgbClr val="9BA3B2"/>
          </a:solidFill>
          <a:ln/>
        </p:spPr>
      </p:sp>
      <p:sp>
        <p:nvSpPr>
          <p:cNvPr id="1723576765" name="Shape 35"/>
          <p:cNvSpPr/>
          <p:nvPr/>
        </p:nvSpPr>
        <p:spPr bwMode="auto">
          <a:xfrm>
            <a:off x="10082213" y="6827202"/>
            <a:ext cx="42863" cy="228600"/>
          </a:xfrm>
          <a:prstGeom prst="roundRect">
            <a:avLst>
              <a:gd name="adj" fmla="val 44444"/>
            </a:avLst>
          </a:prstGeom>
          <a:solidFill>
            <a:srgbClr val="9BA3B2"/>
          </a:solidFill>
          <a:ln/>
        </p:spPr>
      </p:sp>
      <p:sp>
        <p:nvSpPr>
          <p:cNvPr id="350842432" name="Text 36"/>
          <p:cNvSpPr/>
          <p:nvPr/>
        </p:nvSpPr>
        <p:spPr bwMode="auto">
          <a:xfrm>
            <a:off x="10315575" y="6741477"/>
            <a:ext cx="1632585" cy="438149"/>
          </a:xfrm>
          <a:prstGeom prst="rect">
            <a:avLst/>
          </a:prstGeom>
          <a:noFill/>
          <a:ln/>
        </p:spPr>
        <p:txBody>
          <a:bodyPr wrap="square" lIns="0" tIns="0" rIns="0" bIns="0" rtlCol="0" anchor="t">
            <a:normAutofit/>
          </a:bodyPr>
          <a:lstStyle/>
          <a:p>
            <a:pPr marL="0" indent="0" algn="l">
              <a:buNone/>
              <a:defRPr/>
            </a:pPr>
            <a:r>
              <a:rPr lang="en-US" sz="2250">
                <a:solidFill>
                  <a:srgbClr val="8B93A3"/>
                </a:solidFill>
                <a:latin typeface="Arial"/>
                <a:ea typeface="Arial"/>
                <a:cs typeface="Arial"/>
              </a:rPr>
              <a:t>Guest-WiFi</a:t>
            </a:r>
            <a:endParaRPr lang="en-US" sz="2250"/>
          </a:p>
        </p:txBody>
      </p:sp>
      <p:sp>
        <p:nvSpPr>
          <p:cNvPr id="2033821257" name="Text 37"/>
          <p:cNvSpPr/>
          <p:nvPr/>
        </p:nvSpPr>
        <p:spPr bwMode="auto">
          <a:xfrm>
            <a:off x="9553575" y="7650798"/>
            <a:ext cx="8539163" cy="389731"/>
          </a:xfrm>
          <a:prstGeom prst="rect">
            <a:avLst/>
          </a:prstGeom>
          <a:noFill/>
          <a:ln/>
        </p:spPr>
        <p:txBody>
          <a:bodyPr wrap="square" lIns="25400" tIns="25400" rIns="25400" bIns="25400" rtlCol="0" anchor="t">
            <a:normAutofit/>
          </a:bodyPr>
          <a:lstStyle/>
          <a:p>
            <a:pPr marL="0" indent="0" algn="l">
              <a:lnSpc>
                <a:spcPct val="124089"/>
              </a:lnSpc>
              <a:buNone/>
              <a:defRPr/>
            </a:pPr>
            <a:r>
              <a:rPr lang="en-US" sz="1950">
                <a:solidFill>
                  <a:srgbClr val="5A6172"/>
                </a:solidFill>
                <a:latin typeface="Arial"/>
                <a:ea typeface="Arial"/>
                <a:cs typeface="Arial"/>
              </a:rPr>
              <a:t>Your WiFi menu, with the robot's network showing up like any other.</a:t>
            </a:r>
            <a:endParaRPr lang="en-US" sz="1950"/>
          </a:p>
        </p:txBody>
      </p:sp>
      <p:sp>
        <p:nvSpPr>
          <p:cNvPr id="729090495" name="Shape 38"/>
          <p:cNvSpPr/>
          <p:nvPr/>
        </p:nvSpPr>
        <p:spPr bwMode="auto">
          <a:xfrm>
            <a:off x="9553575" y="8250079"/>
            <a:ext cx="7762875" cy="1634014"/>
          </a:xfrm>
          <a:prstGeom prst="roundRect">
            <a:avLst>
              <a:gd name="adj" fmla="val 4663"/>
            </a:avLst>
          </a:prstGeom>
          <a:solidFill>
            <a:srgbClr val="F3E2CD"/>
          </a:solidFill>
          <a:ln/>
        </p:spPr>
      </p:sp>
      <p:sp>
        <p:nvSpPr>
          <p:cNvPr id="44398461" name="Shape 39"/>
          <p:cNvSpPr/>
          <p:nvPr/>
        </p:nvSpPr>
        <p:spPr bwMode="auto">
          <a:xfrm>
            <a:off x="9553575" y="8250079"/>
            <a:ext cx="111125" cy="1634014"/>
          </a:xfrm>
          <a:prstGeom prst="rect">
            <a:avLst/>
          </a:prstGeom>
          <a:solidFill>
            <a:srgbClr val="DB5817"/>
          </a:solidFill>
          <a:ln/>
        </p:spPr>
      </p:sp>
      <p:sp>
        <p:nvSpPr>
          <p:cNvPr id="1657378605" name="Text 40"/>
          <p:cNvSpPr/>
          <p:nvPr/>
        </p:nvSpPr>
        <p:spPr bwMode="auto">
          <a:xfrm>
            <a:off x="9950450" y="8478679"/>
            <a:ext cx="166846" cy="426720"/>
          </a:xfrm>
          <a:prstGeom prst="rect">
            <a:avLst/>
          </a:prstGeom>
          <a:noFill/>
          <a:ln/>
        </p:spPr>
        <p:txBody>
          <a:bodyPr wrap="square" lIns="25400" tIns="25400" rIns="25400" bIns="25400" rtlCol="0" anchor="t">
            <a:normAutofit/>
          </a:bodyPr>
          <a:lstStyle/>
          <a:p>
            <a:pPr marL="0" indent="0" algn="l">
              <a:lnSpc>
                <a:spcPct val="105973"/>
              </a:lnSpc>
              <a:buNone/>
              <a:defRPr/>
            </a:pPr>
            <a:r>
              <a:rPr lang="en-US" sz="2550">
                <a:solidFill>
                  <a:srgbClr val="DB5817"/>
                </a:solidFill>
                <a:latin typeface="Arial"/>
                <a:ea typeface="Arial"/>
                <a:cs typeface="Arial"/>
              </a:rPr>
              <a:t>!</a:t>
            </a:r>
            <a:endParaRPr lang="en-US" sz="2550"/>
          </a:p>
        </p:txBody>
      </p:sp>
      <p:sp>
        <p:nvSpPr>
          <p:cNvPr id="164230382" name="Text 41"/>
          <p:cNvSpPr/>
          <p:nvPr/>
        </p:nvSpPr>
        <p:spPr bwMode="auto">
          <a:xfrm>
            <a:off x="10250646" y="8478679"/>
            <a:ext cx="6983455" cy="1214914"/>
          </a:xfrm>
          <a:prstGeom prst="rect">
            <a:avLst/>
          </a:prstGeom>
          <a:noFill/>
          <a:ln/>
        </p:spPr>
        <p:txBody>
          <a:bodyPr wrap="square" lIns="25400" tIns="25400" rIns="25400" bIns="25400" rtlCol="0" anchor="t">
            <a:normAutofit/>
          </a:bodyPr>
          <a:lstStyle/>
          <a:p>
            <a:pPr marL="0" indent="0" algn="l">
              <a:lnSpc>
                <a:spcPct val="123859"/>
              </a:lnSpc>
              <a:buNone/>
              <a:defRPr/>
            </a:pPr>
            <a:r>
              <a:rPr lang="en-US" sz="2200">
                <a:solidFill>
                  <a:srgbClr val="2A3040"/>
                </a:solidFill>
                <a:latin typeface="Arial"/>
                <a:ea typeface="Arial"/>
                <a:cs typeface="Arial"/>
              </a:rPr>
              <a:t>Not in the list? The robot still remembers another network — </a:t>
            </a:r>
            <a:r>
              <a:rPr lang="en-US" sz="2200" b="1">
                <a:solidFill>
                  <a:srgbClr val="002060"/>
                </a:solidFill>
                <a:latin typeface="Arial"/>
                <a:ea typeface="Arial"/>
                <a:cs typeface="Arial"/>
              </a:rPr>
              <a:t>hold the WiFi reset button </a:t>
            </a:r>
            <a:r>
              <a:rPr lang="en-US" sz="2200">
                <a:solidFill>
                  <a:srgbClr val="2A3040"/>
                </a:solidFill>
                <a:latin typeface="Arial"/>
                <a:ea typeface="Arial"/>
                <a:cs typeface="Arial"/>
              </a:rPr>
              <a:t>until the LED blinks.</a:t>
            </a:r>
            <a:endParaRPr lang="en-US" sz="2200"/>
          </a:p>
        </p:txBody>
      </p:sp>
      <p:pic>
        <p:nvPicPr>
          <p:cNvPr id="1187325198" name="Image 1" descr="preencoded.png"/>
          <p:cNvPicPr>
            <a:picLocks noChangeAspect="1"/>
          </p:cNvPicPr>
          <p:nvPr/>
        </p:nvPicPr>
        <p:blipFill rotWithShape="1">
          <a:blip r:embed="rId4"/>
          <a:stretch/>
        </p:blipFill>
        <p:spPr bwMode="auto">
          <a:xfrm>
            <a:off x="17442656" y="9561512"/>
            <a:ext cx="216694" cy="34448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1">
    <p:bg>
      <p:bgPr shadeToTitle="0">
        <a:solidFill>
          <a:srgbClr val="FFFFFF"/>
        </a:solidFill>
      </p:bgPr>
    </p:bg>
    <p:spTree>
      <p:nvGrpSpPr>
        <p:cNvPr id="1" name=""/>
        <p:cNvGrpSpPr/>
        <p:nvPr/>
      </p:nvGrpSpPr>
      <p:grpSpPr bwMode="auto">
        <a:xfrm>
          <a:off x="0" y="0"/>
          <a:ext cx="0" cy="0"/>
          <a:chOff x="0" y="0"/>
          <a:chExt cx="0" cy="0"/>
        </a:xfrm>
      </p:grpSpPr>
      <p:sp>
        <p:nvSpPr>
          <p:cNvPr id="2073561904" name="Shape 0"/>
          <p:cNvSpPr/>
          <p:nvPr/>
        </p:nvSpPr>
        <p:spPr bwMode="auto">
          <a:xfrm>
            <a:off x="971550" y="0"/>
            <a:ext cx="28575" cy="10287000"/>
          </a:xfrm>
          <a:prstGeom prst="rect">
            <a:avLst/>
          </a:prstGeom>
          <a:solidFill>
            <a:srgbClr val="002060">
              <a:alpha val="15999"/>
            </a:srgbClr>
          </a:solidFill>
          <a:ln/>
        </p:spPr>
      </p:sp>
      <p:sp>
        <p:nvSpPr>
          <p:cNvPr id="699677744" name="Shape 1"/>
          <p:cNvSpPr/>
          <p:nvPr/>
        </p:nvSpPr>
        <p:spPr bwMode="auto">
          <a:xfrm>
            <a:off x="971550" y="1009650"/>
            <a:ext cx="16687800" cy="28575"/>
          </a:xfrm>
          <a:prstGeom prst="rect">
            <a:avLst/>
          </a:prstGeom>
          <a:solidFill>
            <a:srgbClr val="002060">
              <a:alpha val="15999"/>
            </a:srgbClr>
          </a:solidFill>
          <a:ln/>
        </p:spPr>
      </p:sp>
      <p:pic>
        <p:nvPicPr>
          <p:cNvPr id="532654037" name="Image 0" descr="preencoded.png"/>
          <p:cNvPicPr>
            <a:picLocks noChangeAspect="1"/>
          </p:cNvPicPr>
          <p:nvPr/>
        </p:nvPicPr>
        <p:blipFill rotWithShape="1">
          <a:blip r:embed="rId3"/>
          <a:stretch/>
        </p:blipFill>
        <p:spPr bwMode="auto">
          <a:xfrm>
            <a:off x="1257300" y="209550"/>
            <a:ext cx="779621" cy="647700"/>
          </a:xfrm>
          <a:prstGeom prst="rect">
            <a:avLst/>
          </a:prstGeom>
        </p:spPr>
      </p:pic>
      <p:sp>
        <p:nvSpPr>
          <p:cNvPr id="1672682010" name="Text 2"/>
          <p:cNvSpPr/>
          <p:nvPr/>
        </p:nvSpPr>
        <p:spPr bwMode="auto">
          <a:xfrm>
            <a:off x="14455616" y="400050"/>
            <a:ext cx="3524107" cy="393700"/>
          </a:xfrm>
          <a:prstGeom prst="rect">
            <a:avLst/>
          </a:prstGeom>
          <a:noFill/>
          <a:ln/>
        </p:spPr>
        <p:txBody>
          <a:bodyPr wrap="square" lIns="25400" tIns="25400" rIns="25400" bIns="25400" rtlCol="0" anchor="t">
            <a:normAutofit/>
          </a:bodyPr>
          <a:lstStyle/>
          <a:p>
            <a:pPr marL="0" indent="0" algn="l">
              <a:buNone/>
              <a:defRPr/>
            </a:pPr>
            <a:r>
              <a:rPr lang="en-US" sz="1900" spc="75">
                <a:solidFill>
                  <a:srgbClr val="DB5817"/>
                </a:solidFill>
                <a:latin typeface="Arial"/>
                <a:ea typeface="Arial"/>
                <a:cs typeface="Arial"/>
              </a:rPr>
              <a:t>www.centex-sarawak.my</a:t>
            </a:r>
            <a:endParaRPr lang="en-US" sz="1900"/>
          </a:p>
        </p:txBody>
      </p:sp>
      <p:sp>
        <p:nvSpPr>
          <p:cNvPr id="1357313973" name="Text 3"/>
          <p:cNvSpPr/>
          <p:nvPr/>
        </p:nvSpPr>
        <p:spPr bwMode="auto">
          <a:xfrm>
            <a:off x="1257300" y="1905000"/>
            <a:ext cx="17665065" cy="410369"/>
          </a:xfrm>
          <a:prstGeom prst="rect">
            <a:avLst/>
          </a:prstGeom>
          <a:noFill/>
          <a:ln/>
        </p:spPr>
        <p:txBody>
          <a:bodyPr wrap="square" lIns="25400" tIns="25400" rIns="25400" bIns="25400" rtlCol="0" anchor="t">
            <a:normAutofit/>
          </a:bodyPr>
          <a:lstStyle/>
          <a:p>
            <a:pPr marL="0" indent="0" algn="l">
              <a:buNone/>
              <a:defRPr/>
            </a:pPr>
            <a:r>
              <a:rPr lang="en-US" sz="1950" b="1" spc="311">
                <a:solidFill>
                  <a:srgbClr val="DB5817"/>
                </a:solidFill>
                <a:latin typeface="Arial"/>
                <a:ea typeface="Arial"/>
                <a:cs typeface="Arial"/>
              </a:rPr>
              <a:t>THE DASHBOARD</a:t>
            </a:r>
            <a:endParaRPr lang="en-US" sz="1950"/>
          </a:p>
        </p:txBody>
      </p:sp>
      <p:sp>
        <p:nvSpPr>
          <p:cNvPr id="1325473988" name="Text 4"/>
          <p:cNvSpPr/>
          <p:nvPr/>
        </p:nvSpPr>
        <p:spPr bwMode="auto">
          <a:xfrm>
            <a:off x="1257300" y="2486819"/>
            <a:ext cx="17665065" cy="805497"/>
          </a:xfrm>
          <a:prstGeom prst="rect">
            <a:avLst/>
          </a:prstGeom>
          <a:noFill/>
          <a:ln/>
        </p:spPr>
        <p:txBody>
          <a:bodyPr wrap="square" lIns="25400" tIns="25400" rIns="25400" bIns="25400" rtlCol="0" anchor="t">
            <a:normAutofit/>
          </a:bodyPr>
          <a:lstStyle/>
          <a:p>
            <a:pPr marL="0" indent="0" algn="l">
              <a:lnSpc>
                <a:spcPct val="94599"/>
              </a:lnSpc>
              <a:buNone/>
              <a:defRPr/>
            </a:pPr>
            <a:r>
              <a:rPr lang="en-US" sz="5700" b="1" spc="-57">
                <a:solidFill>
                  <a:srgbClr val="002060"/>
                </a:solidFill>
                <a:latin typeface="Arial"/>
                <a:ea typeface="Arial"/>
                <a:cs typeface="Arial"/>
              </a:rPr>
              <a:t>One robot, two web pages</a:t>
            </a:r>
            <a:endParaRPr lang="en-US" sz="5700"/>
          </a:p>
        </p:txBody>
      </p:sp>
      <p:sp>
        <p:nvSpPr>
          <p:cNvPr id="1408500756" name="Text 5"/>
          <p:cNvSpPr/>
          <p:nvPr/>
        </p:nvSpPr>
        <p:spPr bwMode="auto">
          <a:xfrm>
            <a:off x="1257300" y="3520916"/>
            <a:ext cx="9528201" cy="998220"/>
          </a:xfrm>
          <a:prstGeom prst="rect">
            <a:avLst/>
          </a:prstGeom>
          <a:noFill/>
          <a:ln/>
        </p:spPr>
        <p:txBody>
          <a:bodyPr wrap="square" lIns="25400" tIns="25400" rIns="25400" bIns="25400" rtlCol="0" anchor="t">
            <a:normAutofit/>
          </a:bodyPr>
          <a:lstStyle/>
          <a:p>
            <a:pPr marL="0" indent="0" algn="l">
              <a:lnSpc>
                <a:spcPct val="123429"/>
              </a:lnSpc>
              <a:buNone/>
              <a:defRPr/>
            </a:pPr>
            <a:r>
              <a:rPr lang="en-US" sz="2700">
                <a:solidFill>
                  <a:srgbClr val="2A3040"/>
                </a:solidFill>
                <a:latin typeface="Arial"/>
                <a:ea typeface="Arial"/>
                <a:cs typeface="Arial"/>
              </a:rPr>
              <a:t>The robot serves two different pages on two different ports. Same address, different number after the colon.</a:t>
            </a:r>
            <a:endParaRPr lang="en-US" sz="2700"/>
          </a:p>
        </p:txBody>
      </p:sp>
      <p:sp>
        <p:nvSpPr>
          <p:cNvPr id="2027789000" name="Shape 6"/>
          <p:cNvSpPr/>
          <p:nvPr/>
        </p:nvSpPr>
        <p:spPr bwMode="auto">
          <a:xfrm>
            <a:off x="1257300" y="4804885"/>
            <a:ext cx="7877175" cy="3350895"/>
          </a:xfrm>
          <a:prstGeom prst="roundRect">
            <a:avLst>
              <a:gd name="adj" fmla="val 3411"/>
            </a:avLst>
          </a:prstGeom>
          <a:solidFill>
            <a:srgbClr val="F6F3EE"/>
          </a:solidFill>
          <a:ln/>
        </p:spPr>
      </p:sp>
      <p:sp>
        <p:nvSpPr>
          <p:cNvPr id="1697764247" name="Shape 7"/>
          <p:cNvSpPr/>
          <p:nvPr/>
        </p:nvSpPr>
        <p:spPr bwMode="auto">
          <a:xfrm>
            <a:off x="1257300" y="4804885"/>
            <a:ext cx="111125" cy="3350895"/>
          </a:xfrm>
          <a:prstGeom prst="rect">
            <a:avLst/>
          </a:prstGeom>
          <a:solidFill>
            <a:srgbClr val="002060"/>
          </a:solidFill>
          <a:ln/>
        </p:spPr>
      </p:sp>
      <p:sp>
        <p:nvSpPr>
          <p:cNvPr id="1565830718" name="Text 8"/>
          <p:cNvSpPr/>
          <p:nvPr/>
        </p:nvSpPr>
        <p:spPr bwMode="auto">
          <a:xfrm>
            <a:off x="1711325" y="5090635"/>
            <a:ext cx="7788275" cy="609600"/>
          </a:xfrm>
          <a:prstGeom prst="rect">
            <a:avLst/>
          </a:prstGeom>
          <a:noFill/>
          <a:ln/>
        </p:spPr>
        <p:txBody>
          <a:bodyPr wrap="square" lIns="25400" tIns="25400" rIns="25400" bIns="25400" rtlCol="0" anchor="t">
            <a:normAutofit/>
          </a:bodyPr>
          <a:lstStyle/>
          <a:p>
            <a:pPr marL="0" indent="0" algn="l">
              <a:lnSpc>
                <a:spcPct val="88670"/>
              </a:lnSpc>
              <a:buNone/>
              <a:defRPr/>
            </a:pPr>
            <a:r>
              <a:rPr lang="en-US" sz="4500">
                <a:solidFill>
                  <a:srgbClr val="002060"/>
                </a:solidFill>
                <a:latin typeface="Arial"/>
                <a:ea typeface="Arial"/>
                <a:cs typeface="Arial"/>
              </a:rPr>
              <a:t>:8888</a:t>
            </a:r>
            <a:endParaRPr lang="en-US" sz="4500"/>
          </a:p>
        </p:txBody>
      </p:sp>
      <p:sp>
        <p:nvSpPr>
          <p:cNvPr id="1679672710" name="Text 9"/>
          <p:cNvSpPr/>
          <p:nvPr/>
        </p:nvSpPr>
        <p:spPr bwMode="auto">
          <a:xfrm>
            <a:off x="1711325" y="5776436"/>
            <a:ext cx="7788275" cy="493713"/>
          </a:xfrm>
          <a:prstGeom prst="rect">
            <a:avLst/>
          </a:prstGeom>
          <a:noFill/>
          <a:ln/>
        </p:spPr>
        <p:txBody>
          <a:bodyPr wrap="square" lIns="25400" tIns="25400" rIns="25400" bIns="25400" rtlCol="0" anchor="t">
            <a:normAutofit/>
          </a:bodyPr>
          <a:lstStyle/>
          <a:p>
            <a:pPr marL="0" indent="0" algn="l">
              <a:buNone/>
              <a:defRPr/>
            </a:pPr>
            <a:r>
              <a:rPr lang="en-US" sz="2400" b="1">
                <a:solidFill>
                  <a:srgbClr val="002060"/>
                </a:solidFill>
                <a:latin typeface="Arial"/>
                <a:ea typeface="Arial"/>
                <a:cs typeface="Arial"/>
              </a:rPr>
              <a:t>Connection page</a:t>
            </a:r>
            <a:endParaRPr lang="en-US" sz="2400"/>
          </a:p>
        </p:txBody>
      </p:sp>
      <p:sp>
        <p:nvSpPr>
          <p:cNvPr id="330691600" name="Text 10"/>
          <p:cNvSpPr/>
          <p:nvPr/>
        </p:nvSpPr>
        <p:spPr bwMode="auto">
          <a:xfrm>
            <a:off x="1711325" y="6327299"/>
            <a:ext cx="7292657" cy="1102995"/>
          </a:xfrm>
          <a:prstGeom prst="rect">
            <a:avLst/>
          </a:prstGeom>
          <a:noFill/>
          <a:ln/>
        </p:spPr>
        <p:txBody>
          <a:bodyPr wrap="square" lIns="25400" tIns="25400" rIns="25400" bIns="25400" rtlCol="0" anchor="t">
            <a:normAutofit/>
          </a:bodyPr>
          <a:lstStyle/>
          <a:p>
            <a:pPr marL="0" indent="0" algn="l">
              <a:lnSpc>
                <a:spcPct val="122857"/>
              </a:lnSpc>
              <a:buNone/>
              <a:defRPr/>
            </a:pPr>
            <a:r>
              <a:rPr lang="en-US" sz="2050">
                <a:solidFill>
                  <a:srgbClr val="2A3040"/>
                </a:solidFill>
                <a:latin typeface="Arial"/>
                <a:ea typeface="Arial"/>
                <a:cs typeface="Arial"/>
              </a:rPr>
              <a:t>Shows the robot's current network and carries the </a:t>
            </a:r>
            <a:r>
              <a:rPr lang="en-US" sz="2050" b="1">
                <a:solidFill>
                  <a:srgbClr val="2A3040"/>
                </a:solidFill>
                <a:latin typeface="Arial"/>
                <a:ea typeface="Arial"/>
                <a:cs typeface="Arial"/>
              </a:rPr>
              <a:t>Connect to WiFi </a:t>
            </a:r>
            <a:r>
              <a:rPr lang="en-US" sz="2050">
                <a:solidFill>
                  <a:srgbClr val="2A3040"/>
                </a:solidFill>
                <a:latin typeface="Arial"/>
                <a:ea typeface="Arial"/>
                <a:cs typeface="Arial"/>
              </a:rPr>
              <a:t>form. This is the one you use to get the robot onto a network, and it shows the SSH command afterwards.</a:t>
            </a:r>
            <a:endParaRPr lang="en-US" sz="2050"/>
          </a:p>
        </p:txBody>
      </p:sp>
      <p:sp>
        <p:nvSpPr>
          <p:cNvPr id="1086110430" name="Text 11"/>
          <p:cNvSpPr/>
          <p:nvPr/>
        </p:nvSpPr>
        <p:spPr bwMode="auto">
          <a:xfrm>
            <a:off x="1711325" y="7525544"/>
            <a:ext cx="7788275" cy="382588"/>
          </a:xfrm>
          <a:prstGeom prst="rect">
            <a:avLst/>
          </a:prstGeom>
          <a:noFill/>
          <a:ln/>
        </p:spPr>
        <p:txBody>
          <a:bodyPr wrap="square" lIns="25400" tIns="25400" rIns="25400" bIns="25400" rtlCol="0" anchor="t">
            <a:normAutofit/>
          </a:bodyPr>
          <a:lstStyle/>
          <a:p>
            <a:pPr marL="0" indent="0" algn="l">
              <a:buNone/>
              <a:defRPr/>
            </a:pPr>
            <a:r>
              <a:rPr lang="en-US" sz="2050">
                <a:solidFill>
                  <a:srgbClr val="DB5817"/>
                </a:solidFill>
                <a:latin typeface="Courier New"/>
                <a:ea typeface="Courier New"/>
                <a:cs typeface="Courier New"/>
              </a:rPr>
              <a:t>http://&lt;robot-ip&gt;:8888</a:t>
            </a:r>
            <a:endParaRPr lang="en-US" sz="2050"/>
          </a:p>
        </p:txBody>
      </p:sp>
      <p:sp>
        <p:nvSpPr>
          <p:cNvPr id="453372803" name="Shape 12"/>
          <p:cNvSpPr/>
          <p:nvPr/>
        </p:nvSpPr>
        <p:spPr bwMode="auto">
          <a:xfrm>
            <a:off x="9439275" y="4804885"/>
            <a:ext cx="7877175" cy="3350895"/>
          </a:xfrm>
          <a:prstGeom prst="roundRect">
            <a:avLst>
              <a:gd name="adj" fmla="val 3411"/>
            </a:avLst>
          </a:prstGeom>
          <a:solidFill>
            <a:srgbClr val="F6F3EE"/>
          </a:solidFill>
          <a:ln/>
        </p:spPr>
      </p:sp>
      <p:sp>
        <p:nvSpPr>
          <p:cNvPr id="1076191464" name="Shape 13"/>
          <p:cNvSpPr/>
          <p:nvPr/>
        </p:nvSpPr>
        <p:spPr bwMode="auto">
          <a:xfrm>
            <a:off x="9439275" y="4804885"/>
            <a:ext cx="111125" cy="3350895"/>
          </a:xfrm>
          <a:prstGeom prst="rect">
            <a:avLst/>
          </a:prstGeom>
          <a:solidFill>
            <a:srgbClr val="DB5817"/>
          </a:solidFill>
          <a:ln/>
        </p:spPr>
      </p:sp>
      <p:sp>
        <p:nvSpPr>
          <p:cNvPr id="508136360" name="Text 14"/>
          <p:cNvSpPr/>
          <p:nvPr/>
        </p:nvSpPr>
        <p:spPr bwMode="auto">
          <a:xfrm>
            <a:off x="9893300" y="5090635"/>
            <a:ext cx="7788275" cy="609600"/>
          </a:xfrm>
          <a:prstGeom prst="rect">
            <a:avLst/>
          </a:prstGeom>
          <a:noFill/>
          <a:ln/>
        </p:spPr>
        <p:txBody>
          <a:bodyPr wrap="square" lIns="25400" tIns="25400" rIns="25400" bIns="25400" rtlCol="0" anchor="t">
            <a:normAutofit/>
          </a:bodyPr>
          <a:lstStyle/>
          <a:p>
            <a:pPr marL="0" indent="0" algn="l">
              <a:lnSpc>
                <a:spcPct val="88670"/>
              </a:lnSpc>
              <a:buNone/>
              <a:defRPr/>
            </a:pPr>
            <a:r>
              <a:rPr lang="en-US" sz="4500">
                <a:solidFill>
                  <a:srgbClr val="DB5817"/>
                </a:solidFill>
                <a:latin typeface="Arial"/>
                <a:ea typeface="Arial"/>
                <a:cs typeface="Arial"/>
              </a:rPr>
              <a:t>:7777</a:t>
            </a:r>
            <a:endParaRPr lang="en-US" sz="4500"/>
          </a:p>
        </p:txBody>
      </p:sp>
      <p:sp>
        <p:nvSpPr>
          <p:cNvPr id="1321679565" name="Text 15"/>
          <p:cNvSpPr/>
          <p:nvPr/>
        </p:nvSpPr>
        <p:spPr bwMode="auto">
          <a:xfrm>
            <a:off x="9893300" y="5776436"/>
            <a:ext cx="7788275" cy="493713"/>
          </a:xfrm>
          <a:prstGeom prst="rect">
            <a:avLst/>
          </a:prstGeom>
          <a:noFill/>
          <a:ln/>
        </p:spPr>
        <p:txBody>
          <a:bodyPr wrap="square" lIns="25400" tIns="25400" rIns="25400" bIns="25400" rtlCol="0" anchor="t">
            <a:normAutofit/>
          </a:bodyPr>
          <a:lstStyle/>
          <a:p>
            <a:pPr marL="0" indent="0" algn="l">
              <a:buNone/>
              <a:defRPr/>
            </a:pPr>
            <a:r>
              <a:rPr lang="en-US" sz="2400" b="1">
                <a:solidFill>
                  <a:srgbClr val="002060"/>
                </a:solidFill>
                <a:latin typeface="Arial"/>
                <a:ea typeface="Arial"/>
                <a:cs typeface="Arial"/>
              </a:rPr>
              <a:t>Control panel</a:t>
            </a:r>
            <a:endParaRPr lang="en-US" sz="2400"/>
          </a:p>
        </p:txBody>
      </p:sp>
      <p:sp>
        <p:nvSpPr>
          <p:cNvPr id="1761253733" name="Text 16"/>
          <p:cNvSpPr/>
          <p:nvPr/>
        </p:nvSpPr>
        <p:spPr bwMode="auto">
          <a:xfrm>
            <a:off x="9893300" y="6327299"/>
            <a:ext cx="7292657" cy="1102995"/>
          </a:xfrm>
          <a:prstGeom prst="rect">
            <a:avLst/>
          </a:prstGeom>
          <a:noFill/>
          <a:ln/>
        </p:spPr>
        <p:txBody>
          <a:bodyPr wrap="square" lIns="25400" tIns="25400" rIns="25400" bIns="25400" rtlCol="0" anchor="t">
            <a:normAutofit/>
          </a:bodyPr>
          <a:lstStyle/>
          <a:p>
            <a:pPr marL="0" indent="0" algn="l">
              <a:lnSpc>
                <a:spcPct val="122857"/>
              </a:lnSpc>
              <a:buNone/>
              <a:defRPr/>
            </a:pPr>
            <a:r>
              <a:rPr lang="en-US" sz="2050">
                <a:solidFill>
                  <a:srgbClr val="2A3040"/>
                </a:solidFill>
                <a:latin typeface="Arial"/>
                <a:ea typeface="Arial"/>
                <a:cs typeface="Arial"/>
              </a:rPr>
              <a:t>A web interface that drives the robot from the browser — no terminal involved. This is what you use in the exercise at the end of the session.</a:t>
            </a:r>
            <a:endParaRPr lang="en-US" sz="2050"/>
          </a:p>
        </p:txBody>
      </p:sp>
      <p:sp>
        <p:nvSpPr>
          <p:cNvPr id="1305737054" name="Text 17"/>
          <p:cNvSpPr/>
          <p:nvPr/>
        </p:nvSpPr>
        <p:spPr bwMode="auto">
          <a:xfrm>
            <a:off x="9893300" y="7525544"/>
            <a:ext cx="7788275" cy="382588"/>
          </a:xfrm>
          <a:prstGeom prst="rect">
            <a:avLst/>
          </a:prstGeom>
          <a:noFill/>
          <a:ln/>
        </p:spPr>
        <p:txBody>
          <a:bodyPr wrap="square" lIns="25400" tIns="25400" rIns="25400" bIns="25400" rtlCol="0" anchor="t">
            <a:normAutofit/>
          </a:bodyPr>
          <a:lstStyle/>
          <a:p>
            <a:pPr marL="0" indent="0" algn="l">
              <a:buNone/>
              <a:defRPr/>
            </a:pPr>
            <a:r>
              <a:rPr lang="en-US" sz="2050">
                <a:solidFill>
                  <a:srgbClr val="DB5817"/>
                </a:solidFill>
                <a:latin typeface="Courier New"/>
                <a:ea typeface="Courier New"/>
                <a:cs typeface="Courier New"/>
              </a:rPr>
              <a:t>http://&lt;robot-ip&gt;:7777</a:t>
            </a:r>
            <a:endParaRPr lang="en-US" sz="2050"/>
          </a:p>
        </p:txBody>
      </p:sp>
      <p:sp>
        <p:nvSpPr>
          <p:cNvPr id="175981968" name="Shape 18"/>
          <p:cNvSpPr/>
          <p:nvPr/>
        </p:nvSpPr>
        <p:spPr bwMode="auto">
          <a:xfrm>
            <a:off x="1257300" y="8441531"/>
            <a:ext cx="15160625" cy="1230630"/>
          </a:xfrm>
          <a:prstGeom prst="roundRect">
            <a:avLst>
              <a:gd name="adj" fmla="val 6192"/>
            </a:avLst>
          </a:prstGeom>
          <a:solidFill>
            <a:srgbClr val="F3E2CD"/>
          </a:solidFill>
          <a:ln/>
        </p:spPr>
      </p:sp>
      <p:sp>
        <p:nvSpPr>
          <p:cNvPr id="1951506669" name="Shape 19"/>
          <p:cNvSpPr/>
          <p:nvPr/>
        </p:nvSpPr>
        <p:spPr bwMode="auto">
          <a:xfrm>
            <a:off x="1257300" y="8441531"/>
            <a:ext cx="111125" cy="1230630"/>
          </a:xfrm>
          <a:prstGeom prst="rect">
            <a:avLst/>
          </a:prstGeom>
          <a:solidFill>
            <a:srgbClr val="002060"/>
          </a:solidFill>
          <a:ln/>
        </p:spPr>
      </p:sp>
      <p:sp>
        <p:nvSpPr>
          <p:cNvPr id="1800960754" name="Text 20"/>
          <p:cNvSpPr/>
          <p:nvPr/>
        </p:nvSpPr>
        <p:spPr bwMode="auto">
          <a:xfrm>
            <a:off x="1654175" y="8670131"/>
            <a:ext cx="347504" cy="426720"/>
          </a:xfrm>
          <a:prstGeom prst="rect">
            <a:avLst/>
          </a:prstGeom>
          <a:noFill/>
          <a:ln/>
        </p:spPr>
        <p:txBody>
          <a:bodyPr wrap="square" lIns="25400" tIns="25400" rIns="25400" bIns="25400" rtlCol="0" anchor="t">
            <a:normAutofit/>
          </a:bodyPr>
          <a:lstStyle/>
          <a:p>
            <a:pPr marL="0" indent="0" algn="l">
              <a:lnSpc>
                <a:spcPct val="105973"/>
              </a:lnSpc>
              <a:buNone/>
              <a:defRPr/>
            </a:pPr>
            <a:r>
              <a:rPr lang="en-US" sz="2550">
                <a:solidFill>
                  <a:srgbClr val="002060"/>
                </a:solidFill>
                <a:latin typeface="Arial"/>
                <a:ea typeface="Arial"/>
                <a:cs typeface="Arial"/>
              </a:rPr>
              <a:t>→</a:t>
            </a:r>
            <a:endParaRPr lang="en-US" sz="2550"/>
          </a:p>
        </p:txBody>
      </p:sp>
      <p:sp>
        <p:nvSpPr>
          <p:cNvPr id="1459075305" name="Text 21"/>
          <p:cNvSpPr/>
          <p:nvPr/>
        </p:nvSpPr>
        <p:spPr bwMode="auto">
          <a:xfrm>
            <a:off x="2135029" y="8670131"/>
            <a:ext cx="14417060" cy="811530"/>
          </a:xfrm>
          <a:prstGeom prst="rect">
            <a:avLst/>
          </a:prstGeom>
          <a:noFill/>
          <a:ln/>
        </p:spPr>
        <p:txBody>
          <a:bodyPr wrap="square" lIns="25400" tIns="25400" rIns="25400" bIns="25400" rtlCol="0" anchor="t">
            <a:normAutofit/>
          </a:bodyPr>
          <a:lstStyle/>
          <a:p>
            <a:pPr marL="0" indent="0" algn="l">
              <a:lnSpc>
                <a:spcPct val="122105"/>
              </a:lnSpc>
              <a:buNone/>
              <a:defRPr/>
            </a:pPr>
            <a:r>
              <a:rPr lang="en-US" sz="2200">
                <a:solidFill>
                  <a:srgbClr val="14161C"/>
                </a:solidFill>
                <a:latin typeface="Arial"/>
                <a:ea typeface="Arial"/>
                <a:cs typeface="Arial"/>
              </a:rPr>
              <a:t>The robot's address depends on how you reached it: </a:t>
            </a:r>
            <a:r>
              <a:rPr lang="en-US" sz="2050">
                <a:solidFill>
                  <a:srgbClr val="14161C"/>
                </a:solidFill>
                <a:latin typeface="Courier New"/>
                <a:ea typeface="Courier New"/>
                <a:cs typeface="Courier New"/>
              </a:rPr>
              <a:t>10.42.0.X </a:t>
            </a:r>
            <a:r>
              <a:rPr lang="en-US" sz="2200">
                <a:solidFill>
                  <a:srgbClr val="14161C"/>
                </a:solidFill>
                <a:latin typeface="Arial"/>
                <a:ea typeface="Arial"/>
                <a:cs typeface="Arial"/>
              </a:rPr>
              <a:t>on its own hotspot, </a:t>
            </a:r>
            <a:r>
              <a:rPr lang="en-US" sz="2050">
                <a:solidFill>
                  <a:srgbClr val="14161C"/>
                </a:solidFill>
                <a:latin typeface="Courier New"/>
                <a:ea typeface="Courier New"/>
                <a:cs typeface="Courier New"/>
              </a:rPr>
              <a:t>10.0.0.10X </a:t>
            </a:r>
            <a:r>
              <a:rPr lang="en-US" sz="2200">
                <a:solidFill>
                  <a:srgbClr val="14161C"/>
                </a:solidFill>
                <a:latin typeface="Arial"/>
                <a:ea typeface="Arial"/>
                <a:cs typeface="Arial"/>
              </a:rPr>
              <a:t>over Ethernet, or a DHCP address on real WiFi.</a:t>
            </a:r>
            <a:endParaRPr lang="en-US" sz="2200"/>
          </a:p>
        </p:txBody>
      </p:sp>
      <p:pic>
        <p:nvPicPr>
          <p:cNvPr id="1759396814" name="Image 1" descr="preencoded.png"/>
          <p:cNvPicPr>
            <a:picLocks noChangeAspect="1"/>
          </p:cNvPicPr>
          <p:nvPr/>
        </p:nvPicPr>
        <p:blipFill rotWithShape="1">
          <a:blip r:embed="rId4"/>
          <a:stretch/>
        </p:blipFill>
        <p:spPr bwMode="auto">
          <a:xfrm>
            <a:off x="17512982" y="9561512"/>
            <a:ext cx="146368" cy="34448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2">
    <p:bg>
      <p:bgPr shadeToTitle="0">
        <a:solidFill>
          <a:srgbClr val="FFFFFF"/>
        </a:solidFill>
      </p:bgPr>
    </p:bg>
    <p:spTree>
      <p:nvGrpSpPr>
        <p:cNvPr id="1" name=""/>
        <p:cNvGrpSpPr/>
        <p:nvPr/>
      </p:nvGrpSpPr>
      <p:grpSpPr bwMode="auto">
        <a:xfrm>
          <a:off x="0" y="0"/>
          <a:ext cx="0" cy="0"/>
          <a:chOff x="0" y="0"/>
          <a:chExt cx="0" cy="0"/>
        </a:xfrm>
      </p:grpSpPr>
      <p:sp>
        <p:nvSpPr>
          <p:cNvPr id="440830576" name="Shape 0"/>
          <p:cNvSpPr/>
          <p:nvPr/>
        </p:nvSpPr>
        <p:spPr bwMode="auto">
          <a:xfrm>
            <a:off x="971550" y="0"/>
            <a:ext cx="28575" cy="10287000"/>
          </a:xfrm>
          <a:prstGeom prst="rect">
            <a:avLst/>
          </a:prstGeom>
          <a:solidFill>
            <a:srgbClr val="002060">
              <a:alpha val="15999"/>
            </a:srgbClr>
          </a:solidFill>
          <a:ln/>
        </p:spPr>
      </p:sp>
      <p:sp>
        <p:nvSpPr>
          <p:cNvPr id="1469985410" name="Shape 1"/>
          <p:cNvSpPr/>
          <p:nvPr/>
        </p:nvSpPr>
        <p:spPr bwMode="auto">
          <a:xfrm>
            <a:off x="971550" y="1009650"/>
            <a:ext cx="16687800" cy="28575"/>
          </a:xfrm>
          <a:prstGeom prst="rect">
            <a:avLst/>
          </a:prstGeom>
          <a:solidFill>
            <a:srgbClr val="002060">
              <a:alpha val="15999"/>
            </a:srgbClr>
          </a:solidFill>
          <a:ln/>
        </p:spPr>
      </p:sp>
      <p:pic>
        <p:nvPicPr>
          <p:cNvPr id="1722832718" name="Image 0" descr="preencoded.png"/>
          <p:cNvPicPr>
            <a:picLocks noChangeAspect="1"/>
          </p:cNvPicPr>
          <p:nvPr/>
        </p:nvPicPr>
        <p:blipFill rotWithShape="1">
          <a:blip r:embed="rId3"/>
          <a:stretch/>
        </p:blipFill>
        <p:spPr bwMode="auto">
          <a:xfrm>
            <a:off x="1257300" y="209550"/>
            <a:ext cx="779621" cy="647700"/>
          </a:xfrm>
          <a:prstGeom prst="rect">
            <a:avLst/>
          </a:prstGeom>
        </p:spPr>
      </p:pic>
      <p:sp>
        <p:nvSpPr>
          <p:cNvPr id="272506832" name="Text 2"/>
          <p:cNvSpPr/>
          <p:nvPr/>
        </p:nvSpPr>
        <p:spPr bwMode="auto">
          <a:xfrm>
            <a:off x="14455616" y="400050"/>
            <a:ext cx="3524107" cy="393700"/>
          </a:xfrm>
          <a:prstGeom prst="rect">
            <a:avLst/>
          </a:prstGeom>
          <a:noFill/>
          <a:ln/>
        </p:spPr>
        <p:txBody>
          <a:bodyPr wrap="square" lIns="25400" tIns="25400" rIns="25400" bIns="25400" rtlCol="0" anchor="t">
            <a:normAutofit/>
          </a:bodyPr>
          <a:lstStyle/>
          <a:p>
            <a:pPr marL="0" indent="0" algn="l">
              <a:buNone/>
              <a:defRPr/>
            </a:pPr>
            <a:r>
              <a:rPr lang="en-US" sz="1900" spc="75">
                <a:solidFill>
                  <a:srgbClr val="DB5817"/>
                </a:solidFill>
                <a:latin typeface="Arial"/>
                <a:ea typeface="Arial"/>
                <a:cs typeface="Arial"/>
              </a:rPr>
              <a:t>www.centex-sarawak.my</a:t>
            </a:r>
            <a:endParaRPr lang="en-US" sz="1900"/>
          </a:p>
        </p:txBody>
      </p:sp>
      <p:sp>
        <p:nvSpPr>
          <p:cNvPr id="1116998275" name="Shape 3"/>
          <p:cNvSpPr/>
          <p:nvPr/>
        </p:nvSpPr>
        <p:spPr bwMode="auto">
          <a:xfrm>
            <a:off x="1257300" y="1905000"/>
            <a:ext cx="630238" cy="530225"/>
          </a:xfrm>
          <a:prstGeom prst="roundRect">
            <a:avLst>
              <a:gd name="adj" fmla="val 14371"/>
            </a:avLst>
          </a:prstGeom>
          <a:solidFill>
            <a:srgbClr val="002060"/>
          </a:solidFill>
          <a:ln/>
        </p:spPr>
      </p:sp>
      <p:sp>
        <p:nvSpPr>
          <p:cNvPr id="1986521191" name="Text 4"/>
          <p:cNvSpPr/>
          <p:nvPr/>
        </p:nvSpPr>
        <p:spPr bwMode="auto">
          <a:xfrm>
            <a:off x="1466849" y="1981200"/>
            <a:ext cx="287338" cy="415925"/>
          </a:xfrm>
          <a:prstGeom prst="rect">
            <a:avLst/>
          </a:prstGeom>
          <a:noFill/>
          <a:ln/>
        </p:spPr>
        <p:txBody>
          <a:bodyPr wrap="square" lIns="25400" tIns="25400" rIns="25400" bIns="25400" rtlCol="0" anchor="t">
            <a:normAutofit/>
          </a:bodyPr>
          <a:lstStyle/>
          <a:p>
            <a:pPr marL="0" indent="0" algn="l">
              <a:buNone/>
              <a:defRPr/>
            </a:pPr>
            <a:r>
              <a:rPr lang="en-US" sz="2550">
                <a:solidFill>
                  <a:srgbClr val="FFFFFF"/>
                </a:solidFill>
                <a:latin typeface="Arial"/>
                <a:ea typeface="Arial"/>
                <a:cs typeface="Arial"/>
              </a:rPr>
              <a:t>A</a:t>
            </a:r>
            <a:endParaRPr lang="en-US" sz="2550"/>
          </a:p>
        </p:txBody>
      </p:sp>
      <p:sp>
        <p:nvSpPr>
          <p:cNvPr id="115302277" name="Text 5"/>
          <p:cNvSpPr/>
          <p:nvPr/>
        </p:nvSpPr>
        <p:spPr bwMode="auto">
          <a:xfrm>
            <a:off x="2097088" y="1983899"/>
            <a:ext cx="2652379" cy="410369"/>
          </a:xfrm>
          <a:prstGeom prst="rect">
            <a:avLst/>
          </a:prstGeom>
          <a:noFill/>
          <a:ln/>
        </p:spPr>
        <p:txBody>
          <a:bodyPr wrap="square" lIns="25400" tIns="25400" rIns="25400" bIns="25400" rtlCol="0" anchor="t">
            <a:normAutofit/>
          </a:bodyPr>
          <a:lstStyle/>
          <a:p>
            <a:pPr marL="0" indent="0" algn="l">
              <a:buNone/>
              <a:defRPr/>
            </a:pPr>
            <a:r>
              <a:rPr lang="en-US" sz="1950" b="1" spc="311">
                <a:solidFill>
                  <a:srgbClr val="DB5817"/>
                </a:solidFill>
                <a:latin typeface="Arial"/>
                <a:ea typeface="Arial"/>
                <a:cs typeface="Arial"/>
              </a:rPr>
              <a:t>ROUTE A · THEN</a:t>
            </a:r>
            <a:endParaRPr lang="en-US" sz="1950"/>
          </a:p>
        </p:txBody>
      </p:sp>
      <p:sp>
        <p:nvSpPr>
          <p:cNvPr id="981792078" name="Text 6"/>
          <p:cNvSpPr/>
          <p:nvPr/>
        </p:nvSpPr>
        <p:spPr bwMode="auto">
          <a:xfrm>
            <a:off x="1257300" y="2606675"/>
            <a:ext cx="17665065" cy="805497"/>
          </a:xfrm>
          <a:prstGeom prst="rect">
            <a:avLst/>
          </a:prstGeom>
          <a:noFill/>
          <a:ln/>
        </p:spPr>
        <p:txBody>
          <a:bodyPr wrap="square" lIns="25400" tIns="25400" rIns="25400" bIns="25400" rtlCol="0" anchor="t">
            <a:normAutofit/>
          </a:bodyPr>
          <a:lstStyle/>
          <a:p>
            <a:pPr marL="0" indent="0" algn="l">
              <a:lnSpc>
                <a:spcPct val="94599"/>
              </a:lnSpc>
              <a:buNone/>
              <a:defRPr/>
            </a:pPr>
            <a:r>
              <a:rPr lang="en-US" sz="5700" b="1" spc="-57">
                <a:solidFill>
                  <a:srgbClr val="002060"/>
                </a:solidFill>
                <a:latin typeface="Arial"/>
                <a:ea typeface="Arial"/>
                <a:cs typeface="Arial"/>
              </a:rPr>
              <a:t>Open the connection page</a:t>
            </a:r>
            <a:endParaRPr lang="en-US" sz="5700"/>
          </a:p>
        </p:txBody>
      </p:sp>
      <p:sp>
        <p:nvSpPr>
          <p:cNvPr id="1738227175" name="Text 7"/>
          <p:cNvSpPr/>
          <p:nvPr/>
        </p:nvSpPr>
        <p:spPr bwMode="auto">
          <a:xfrm>
            <a:off x="1257300" y="3659823"/>
            <a:ext cx="8005572" cy="918209"/>
          </a:xfrm>
          <a:prstGeom prst="rect">
            <a:avLst/>
          </a:prstGeom>
          <a:noFill/>
          <a:ln/>
        </p:spPr>
        <p:txBody>
          <a:bodyPr wrap="square" lIns="25400" tIns="25400" rIns="25400" bIns="25400" rtlCol="0" anchor="t">
            <a:normAutofit/>
          </a:bodyPr>
          <a:lstStyle/>
          <a:p>
            <a:pPr marL="0" indent="0" algn="l">
              <a:lnSpc>
                <a:spcPct val="123750"/>
              </a:lnSpc>
              <a:buNone/>
              <a:defRPr/>
            </a:pPr>
            <a:r>
              <a:rPr lang="en-US" sz="2500">
                <a:solidFill>
                  <a:srgbClr val="2A3040"/>
                </a:solidFill>
                <a:latin typeface="Arial"/>
                <a:ea typeface="Arial"/>
                <a:cs typeface="Arial"/>
              </a:rPr>
              <a:t>Type the address in Firefox or Chrome, or scan the QR label on the robot. Both reach the same page.</a:t>
            </a:r>
            <a:endParaRPr lang="en-US" sz="2500"/>
          </a:p>
        </p:txBody>
      </p:sp>
      <p:sp>
        <p:nvSpPr>
          <p:cNvPr id="1482616219" name="Shape 8"/>
          <p:cNvSpPr/>
          <p:nvPr/>
        </p:nvSpPr>
        <p:spPr bwMode="auto">
          <a:xfrm>
            <a:off x="1257300" y="4787582"/>
            <a:ext cx="1849120" cy="685800"/>
          </a:xfrm>
          <a:prstGeom prst="roundRect">
            <a:avLst>
              <a:gd name="adj" fmla="val 50000"/>
            </a:avLst>
          </a:prstGeom>
          <a:solidFill>
            <a:srgbClr val="F6F3EE"/>
          </a:solidFill>
          <a:ln/>
        </p:spPr>
      </p:sp>
      <p:sp>
        <p:nvSpPr>
          <p:cNvPr id="106161302" name="Text 10"/>
          <p:cNvSpPr/>
          <p:nvPr/>
        </p:nvSpPr>
        <p:spPr bwMode="auto">
          <a:xfrm>
            <a:off x="2019300" y="4949825"/>
            <a:ext cx="896620" cy="399256"/>
          </a:xfrm>
          <a:prstGeom prst="rect">
            <a:avLst/>
          </a:prstGeom>
          <a:noFill/>
          <a:ln/>
        </p:spPr>
        <p:txBody>
          <a:bodyPr wrap="square" lIns="0" tIns="0" rIns="0" bIns="0" rtlCol="0" anchor="t">
            <a:normAutofit/>
          </a:bodyPr>
          <a:lstStyle/>
          <a:p>
            <a:pPr marL="0" indent="0" algn="l">
              <a:buNone/>
              <a:defRPr/>
            </a:pPr>
            <a:r>
              <a:rPr lang="en-US" sz="2050">
                <a:solidFill>
                  <a:srgbClr val="002060"/>
                </a:solidFill>
                <a:latin typeface="Arial"/>
                <a:ea typeface="Arial"/>
                <a:cs typeface="Arial"/>
              </a:rPr>
              <a:t>Firefox</a:t>
            </a:r>
            <a:endParaRPr lang="en-US" sz="2050"/>
          </a:p>
        </p:txBody>
      </p:sp>
      <p:sp>
        <p:nvSpPr>
          <p:cNvPr id="795431028" name="Shape 11"/>
          <p:cNvSpPr/>
          <p:nvPr/>
        </p:nvSpPr>
        <p:spPr bwMode="auto">
          <a:xfrm>
            <a:off x="3335020" y="4787582"/>
            <a:ext cx="2076609" cy="685800"/>
          </a:xfrm>
          <a:prstGeom prst="roundRect">
            <a:avLst>
              <a:gd name="adj" fmla="val 50000"/>
            </a:avLst>
          </a:prstGeom>
          <a:solidFill>
            <a:srgbClr val="F6F3EE"/>
          </a:solidFill>
          <a:ln/>
        </p:spPr>
      </p:sp>
      <p:sp>
        <p:nvSpPr>
          <p:cNvPr id="1827783563" name="Text 13"/>
          <p:cNvSpPr/>
          <p:nvPr/>
        </p:nvSpPr>
        <p:spPr bwMode="auto">
          <a:xfrm>
            <a:off x="4097020" y="4949825"/>
            <a:ext cx="1124109" cy="399256"/>
          </a:xfrm>
          <a:prstGeom prst="rect">
            <a:avLst/>
          </a:prstGeom>
          <a:noFill/>
          <a:ln/>
        </p:spPr>
        <p:txBody>
          <a:bodyPr wrap="square" lIns="0" tIns="0" rIns="0" bIns="0" rtlCol="0" anchor="t">
            <a:normAutofit/>
          </a:bodyPr>
          <a:lstStyle/>
          <a:p>
            <a:pPr marL="0" indent="0" algn="l">
              <a:buNone/>
              <a:defRPr/>
            </a:pPr>
            <a:r>
              <a:rPr lang="en-US" sz="2050">
                <a:solidFill>
                  <a:srgbClr val="002060"/>
                </a:solidFill>
                <a:latin typeface="Arial"/>
                <a:ea typeface="Arial"/>
                <a:cs typeface="Arial"/>
              </a:rPr>
              <a:t>Chrome</a:t>
            </a:r>
            <a:endParaRPr lang="en-US" sz="2050"/>
          </a:p>
        </p:txBody>
      </p:sp>
      <p:sp>
        <p:nvSpPr>
          <p:cNvPr id="1010680282" name="Shape 14"/>
          <p:cNvSpPr/>
          <p:nvPr/>
        </p:nvSpPr>
        <p:spPr bwMode="auto">
          <a:xfrm>
            <a:off x="1257300" y="5759131"/>
            <a:ext cx="7772400" cy="1565910"/>
          </a:xfrm>
          <a:prstGeom prst="roundRect">
            <a:avLst>
              <a:gd name="adj" fmla="val 6083"/>
            </a:avLst>
          </a:prstGeom>
          <a:ln/>
          <a:effectLst>
            <a:outerShdw blurRad="323850" dist="114300" dir="5400000" sx="100000" sy="100000" kx="0" ky="0" algn="bl" rotWithShape="0">
              <a:srgbClr val="002060">
                <a:alpha val="18000"/>
              </a:srgbClr>
            </a:outerShdw>
          </a:effectLst>
        </p:spPr>
      </p:sp>
      <p:sp>
        <p:nvSpPr>
          <p:cNvPr id="1813855760" name="Shape 15"/>
          <p:cNvSpPr/>
          <p:nvPr/>
        </p:nvSpPr>
        <p:spPr bwMode="auto">
          <a:xfrm>
            <a:off x="1257300" y="5759131"/>
            <a:ext cx="7772400" cy="666750"/>
          </a:xfrm>
          <a:prstGeom prst="rect">
            <a:avLst/>
          </a:prstGeom>
          <a:solidFill>
            <a:srgbClr val="5E2750"/>
          </a:solidFill>
          <a:ln/>
        </p:spPr>
      </p:sp>
      <p:sp>
        <p:nvSpPr>
          <p:cNvPr id="400052013" name="Shape 16"/>
          <p:cNvSpPr/>
          <p:nvPr/>
        </p:nvSpPr>
        <p:spPr bwMode="auto">
          <a:xfrm>
            <a:off x="1524000" y="5892482"/>
            <a:ext cx="1802448" cy="400050"/>
          </a:xfrm>
          <a:prstGeom prst="roundRect">
            <a:avLst>
              <a:gd name="adj" fmla="val 14286"/>
            </a:avLst>
          </a:prstGeom>
          <a:solidFill>
            <a:srgbClr val="FFFFFF"/>
          </a:solidFill>
          <a:ln/>
        </p:spPr>
      </p:sp>
      <p:sp>
        <p:nvSpPr>
          <p:cNvPr id="1823897706" name="Text 17"/>
          <p:cNvSpPr/>
          <p:nvPr/>
        </p:nvSpPr>
        <p:spPr bwMode="auto">
          <a:xfrm>
            <a:off x="1714500" y="5949632"/>
            <a:ext cx="1497648" cy="323850"/>
          </a:xfrm>
          <a:prstGeom prst="rect">
            <a:avLst/>
          </a:prstGeom>
          <a:noFill/>
          <a:ln/>
        </p:spPr>
        <p:txBody>
          <a:bodyPr wrap="none" lIns="25400" tIns="25400" rIns="25400" bIns="25400" rtlCol="0" anchor="ctr">
            <a:normAutofit/>
          </a:bodyPr>
          <a:lstStyle/>
          <a:p>
            <a:pPr marL="0" indent="0" algn="l">
              <a:lnSpc>
                <a:spcPct val="104956"/>
              </a:lnSpc>
              <a:buNone/>
              <a:defRPr/>
            </a:pPr>
            <a:r>
              <a:rPr lang="en-US" sz="1900" b="1">
                <a:solidFill>
                  <a:srgbClr val="772953"/>
                </a:solidFill>
                <a:latin typeface="Arial"/>
                <a:ea typeface="Arial"/>
                <a:cs typeface="Arial"/>
              </a:rPr>
              <a:t>Your device</a:t>
            </a:r>
            <a:endParaRPr lang="en-US" sz="1900"/>
          </a:p>
        </p:txBody>
      </p:sp>
      <p:sp>
        <p:nvSpPr>
          <p:cNvPr id="920942868" name="Text 18"/>
          <p:cNvSpPr/>
          <p:nvPr/>
        </p:nvSpPr>
        <p:spPr bwMode="auto">
          <a:xfrm>
            <a:off x="3535998" y="5920264"/>
            <a:ext cx="3367119" cy="382587"/>
          </a:xfrm>
          <a:prstGeom prst="rect">
            <a:avLst/>
          </a:prstGeom>
          <a:noFill/>
          <a:ln/>
        </p:spPr>
        <p:txBody>
          <a:bodyPr wrap="square" lIns="25400" tIns="25400" rIns="25400" bIns="25400" rtlCol="0" anchor="t">
            <a:normAutofit/>
          </a:bodyPr>
          <a:lstStyle/>
          <a:p>
            <a:pPr marL="0" indent="0" algn="l">
              <a:buNone/>
              <a:defRPr/>
            </a:pPr>
            <a:r>
              <a:rPr lang="en-US" sz="1800">
                <a:solidFill>
                  <a:srgbClr val="FFFFFF">
                    <a:alpha val="82000"/>
                  </a:srgbClr>
                </a:solidFill>
                <a:latin typeface="Arial"/>
                <a:ea typeface="Arial"/>
                <a:cs typeface="Arial"/>
              </a:rPr>
              <a:t>In the browser address bar</a:t>
            </a:r>
            <a:endParaRPr lang="en-US" sz="1800"/>
          </a:p>
        </p:txBody>
      </p:sp>
      <p:sp>
        <p:nvSpPr>
          <p:cNvPr id="143663499" name="Shape 19"/>
          <p:cNvSpPr/>
          <p:nvPr/>
        </p:nvSpPr>
        <p:spPr bwMode="auto">
          <a:xfrm>
            <a:off x="1257300" y="6425882"/>
            <a:ext cx="7772400" cy="899160"/>
          </a:xfrm>
          <a:prstGeom prst="rect">
            <a:avLst/>
          </a:prstGeom>
          <a:solidFill>
            <a:srgbClr val="0E1013"/>
          </a:solidFill>
          <a:ln/>
        </p:spPr>
      </p:sp>
      <p:sp>
        <p:nvSpPr>
          <p:cNvPr id="1824403825" name="Shape 20"/>
          <p:cNvSpPr/>
          <p:nvPr/>
        </p:nvSpPr>
        <p:spPr bwMode="auto">
          <a:xfrm>
            <a:off x="1257300" y="6425882"/>
            <a:ext cx="111125" cy="899160"/>
          </a:xfrm>
          <a:prstGeom prst="rect">
            <a:avLst/>
          </a:prstGeom>
          <a:solidFill>
            <a:srgbClr val="772953"/>
          </a:solidFill>
          <a:ln/>
        </p:spPr>
      </p:sp>
      <p:sp>
        <p:nvSpPr>
          <p:cNvPr id="793393515" name="Text 21"/>
          <p:cNvSpPr/>
          <p:nvPr/>
        </p:nvSpPr>
        <p:spPr bwMode="auto">
          <a:xfrm>
            <a:off x="1654175" y="6654482"/>
            <a:ext cx="7322947" cy="480060"/>
          </a:xfrm>
          <a:prstGeom prst="rect">
            <a:avLst/>
          </a:prstGeom>
          <a:noFill/>
          <a:ln/>
        </p:spPr>
        <p:txBody>
          <a:bodyPr wrap="square" lIns="25400" tIns="25400" rIns="25400" bIns="25400" rtlCol="0" anchor="t">
            <a:normAutofit/>
          </a:bodyPr>
          <a:lstStyle/>
          <a:p>
            <a:pPr marL="0" indent="0" algn="l">
              <a:lnSpc>
                <a:spcPct val="126259"/>
              </a:lnSpc>
              <a:buNone/>
              <a:defRPr/>
            </a:pPr>
            <a:r>
              <a:rPr lang="en-US" sz="2400">
                <a:solidFill>
                  <a:srgbClr val="F2F4F7"/>
                </a:solidFill>
                <a:latin typeface="Courier New"/>
                <a:ea typeface="Courier New"/>
                <a:cs typeface="Courier New"/>
              </a:rPr>
              <a:t>http://10.42.0.X:8888</a:t>
            </a:r>
            <a:endParaRPr lang="en-US" sz="2400"/>
          </a:p>
        </p:txBody>
      </p:sp>
      <p:sp>
        <p:nvSpPr>
          <p:cNvPr id="145129060" name="Shape 22"/>
          <p:cNvSpPr/>
          <p:nvPr/>
        </p:nvSpPr>
        <p:spPr bwMode="auto">
          <a:xfrm>
            <a:off x="1257300" y="7610792"/>
            <a:ext cx="7772400" cy="1636871"/>
          </a:xfrm>
          <a:prstGeom prst="roundRect">
            <a:avLst>
              <a:gd name="adj" fmla="val 4655"/>
            </a:avLst>
          </a:prstGeom>
          <a:solidFill>
            <a:srgbClr val="F3E2CD"/>
          </a:solidFill>
          <a:ln/>
        </p:spPr>
      </p:sp>
      <p:sp>
        <p:nvSpPr>
          <p:cNvPr id="1695642910" name="Shape 23"/>
          <p:cNvSpPr/>
          <p:nvPr/>
        </p:nvSpPr>
        <p:spPr bwMode="auto">
          <a:xfrm>
            <a:off x="1257300" y="7610792"/>
            <a:ext cx="111125" cy="1636871"/>
          </a:xfrm>
          <a:prstGeom prst="rect">
            <a:avLst/>
          </a:prstGeom>
          <a:solidFill>
            <a:srgbClr val="DB5817"/>
          </a:solidFill>
          <a:ln/>
        </p:spPr>
      </p:sp>
      <p:sp>
        <p:nvSpPr>
          <p:cNvPr id="152181297" name="Text 24"/>
          <p:cNvSpPr/>
          <p:nvPr/>
        </p:nvSpPr>
        <p:spPr bwMode="auto">
          <a:xfrm>
            <a:off x="1654175" y="7839392"/>
            <a:ext cx="166846" cy="426720"/>
          </a:xfrm>
          <a:prstGeom prst="rect">
            <a:avLst/>
          </a:prstGeom>
          <a:noFill/>
          <a:ln/>
        </p:spPr>
        <p:txBody>
          <a:bodyPr wrap="square" lIns="25400" tIns="25400" rIns="25400" bIns="25400" rtlCol="0" anchor="t">
            <a:normAutofit/>
          </a:bodyPr>
          <a:lstStyle/>
          <a:p>
            <a:pPr marL="0" indent="0" algn="l">
              <a:lnSpc>
                <a:spcPct val="105973"/>
              </a:lnSpc>
              <a:buNone/>
              <a:defRPr/>
            </a:pPr>
            <a:r>
              <a:rPr lang="en-US" sz="2550">
                <a:solidFill>
                  <a:srgbClr val="DB5817"/>
                </a:solidFill>
                <a:latin typeface="Arial"/>
                <a:ea typeface="Arial"/>
                <a:cs typeface="Arial"/>
              </a:rPr>
              <a:t>!</a:t>
            </a:r>
            <a:endParaRPr lang="en-US" sz="2550"/>
          </a:p>
        </p:txBody>
      </p:sp>
      <p:sp>
        <p:nvSpPr>
          <p:cNvPr id="1886596014" name="Text 25"/>
          <p:cNvSpPr/>
          <p:nvPr/>
        </p:nvSpPr>
        <p:spPr bwMode="auto">
          <a:xfrm>
            <a:off x="1954371" y="7839392"/>
            <a:ext cx="6993266" cy="1217771"/>
          </a:xfrm>
          <a:prstGeom prst="rect">
            <a:avLst/>
          </a:prstGeom>
          <a:noFill/>
          <a:ln/>
        </p:spPr>
        <p:txBody>
          <a:bodyPr wrap="square" lIns="25400" tIns="25400" rIns="25400" bIns="25400" rtlCol="0" anchor="t">
            <a:normAutofit/>
          </a:bodyPr>
          <a:lstStyle/>
          <a:p>
            <a:pPr marL="0" indent="0" algn="l">
              <a:lnSpc>
                <a:spcPct val="123859"/>
              </a:lnSpc>
              <a:buNone/>
              <a:defRPr/>
            </a:pPr>
            <a:r>
              <a:rPr lang="en-US" sz="2200">
                <a:solidFill>
                  <a:srgbClr val="2A3040"/>
                </a:solidFill>
                <a:latin typeface="Arial"/>
                <a:ea typeface="Arial"/>
                <a:cs typeface="Arial"/>
              </a:rPr>
              <a:t>The page loads only while </a:t>
            </a:r>
            <a:r>
              <a:rPr lang="en-US" sz="2050">
                <a:solidFill>
                  <a:srgbClr val="2A3040"/>
                </a:solidFill>
                <a:latin typeface="Courier New"/>
                <a:ea typeface="Courier New"/>
                <a:cs typeface="Courier New"/>
              </a:rPr>
              <a:t>a2botX-setup </a:t>
            </a:r>
            <a:r>
              <a:rPr lang="en-US" sz="2200">
                <a:solidFill>
                  <a:srgbClr val="2A3040"/>
                </a:solidFill>
                <a:latin typeface="Arial"/>
                <a:ea typeface="Arial"/>
                <a:cs typeface="Arial"/>
              </a:rPr>
              <a:t>is your device's </a:t>
            </a:r>
            <a:r>
              <a:rPr lang="en-US" sz="2200" i="1">
                <a:solidFill>
                  <a:srgbClr val="2A3040"/>
                </a:solidFill>
                <a:latin typeface="Arial"/>
                <a:ea typeface="Arial"/>
                <a:cs typeface="Arial"/>
              </a:rPr>
              <a:t>only </a:t>
            </a:r>
            <a:r>
              <a:rPr lang="en-US" sz="2200">
                <a:solidFill>
                  <a:srgbClr val="2A3040"/>
                </a:solidFill>
                <a:latin typeface="Arial"/>
                <a:ea typeface="Arial"/>
                <a:cs typeface="Arial"/>
              </a:rPr>
              <a:t>connection. </a:t>
            </a:r>
            <a:r>
              <a:rPr lang="en-US" sz="2200" b="1">
                <a:solidFill>
                  <a:srgbClr val="002060"/>
                </a:solidFill>
                <a:latin typeface="Arial"/>
                <a:ea typeface="Arial"/>
                <a:cs typeface="Arial"/>
              </a:rPr>
              <a:t>Turn mobile data off </a:t>
            </a:r>
            <a:r>
              <a:rPr lang="en-US" sz="2200">
                <a:solidFill>
                  <a:srgbClr val="2A3040"/>
                </a:solidFill>
                <a:latin typeface="Arial"/>
                <a:ea typeface="Arial"/>
                <a:cs typeface="Arial"/>
              </a:rPr>
              <a:t>and unplug other networks first.</a:t>
            </a:r>
            <a:endParaRPr lang="en-US" sz="2200"/>
          </a:p>
        </p:txBody>
      </p:sp>
      <p:pic>
        <p:nvPicPr>
          <p:cNvPr id="75354905" name="Image 1" descr="preencoded.png"/>
          <p:cNvPicPr>
            <a:picLocks noChangeAspect="1"/>
          </p:cNvPicPr>
          <p:nvPr/>
        </p:nvPicPr>
        <p:blipFill rotWithShape="1">
          <a:blip r:embed="rId4"/>
          <a:stretch/>
        </p:blipFill>
        <p:spPr bwMode="auto">
          <a:xfrm>
            <a:off x="17454721" y="9561512"/>
            <a:ext cx="204629" cy="344488"/>
          </a:xfrm>
          <a:prstGeom prst="rect">
            <a:avLst/>
          </a:prstGeom>
        </p:spPr>
      </p:pic>
      <p:pic>
        <p:nvPicPr>
          <p:cNvPr id="1153025648" name=""/>
          <p:cNvPicPr>
            <a:picLocks noChangeAspect="1"/>
          </p:cNvPicPr>
          <p:nvPr/>
        </p:nvPicPr>
        <p:blipFill rotWithShape="1">
          <a:blip r:embed="rId5"/>
          <a:stretch/>
        </p:blipFill>
        <p:spPr bwMode="auto">
          <a:xfrm flipH="0" flipV="0">
            <a:off x="1332185" y="4866432"/>
            <a:ext cx="555351" cy="523419"/>
          </a:xfrm>
          <a:prstGeom prst="rect">
            <a:avLst/>
          </a:prstGeom>
        </p:spPr>
      </p:pic>
      <p:pic>
        <p:nvPicPr>
          <p:cNvPr id="124818148" name=""/>
          <p:cNvPicPr>
            <a:picLocks noChangeAspect="1"/>
          </p:cNvPicPr>
          <p:nvPr/>
        </p:nvPicPr>
        <p:blipFill rotWithShape="1">
          <a:blip r:embed="rId6"/>
          <a:stretch/>
        </p:blipFill>
        <p:spPr bwMode="auto">
          <a:xfrm flipH="0" flipV="0">
            <a:off x="3423277" y="4847631"/>
            <a:ext cx="561021" cy="561021"/>
          </a:xfrm>
          <a:prstGeom prst="rect">
            <a:avLst/>
          </a:prstGeom>
        </p:spPr>
      </p:pic>
      <p:pic>
        <p:nvPicPr>
          <p:cNvPr id="1440389164" name=""/>
          <p:cNvPicPr>
            <a:picLocks noChangeAspect="1"/>
          </p:cNvPicPr>
          <p:nvPr/>
        </p:nvPicPr>
        <p:blipFill rotWithShape="1">
          <a:blip r:embed="rId7"/>
          <a:stretch/>
        </p:blipFill>
        <p:spPr bwMode="auto">
          <a:xfrm flipH="0" flipV="0">
            <a:off x="10522159" y="5892481"/>
            <a:ext cx="6789527" cy="4144126"/>
          </a:xfrm>
          <a:prstGeom prst="rect">
            <a:avLst/>
          </a:prstGeom>
        </p:spPr>
      </p:pic>
      <p:pic>
        <p:nvPicPr>
          <p:cNvPr id="1311125049" name=""/>
          <p:cNvPicPr>
            <a:picLocks noChangeAspect="1"/>
          </p:cNvPicPr>
          <p:nvPr/>
        </p:nvPicPr>
        <p:blipFill rotWithShape="1">
          <a:blip r:embed="rId8"/>
          <a:stretch/>
        </p:blipFill>
        <p:spPr bwMode="auto">
          <a:xfrm flipH="0" flipV="0">
            <a:off x="8506852" y="4318158"/>
            <a:ext cx="9571597" cy="126333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3">
    <p:bg>
      <p:bgPr shadeToTitle="0">
        <a:solidFill>
          <a:srgbClr val="FFFFFF"/>
        </a:solidFill>
      </p:bgPr>
    </p:bg>
    <p:spTree>
      <p:nvGrpSpPr>
        <p:cNvPr id="1" name=""/>
        <p:cNvGrpSpPr/>
        <p:nvPr/>
      </p:nvGrpSpPr>
      <p:grpSpPr bwMode="auto">
        <a:xfrm>
          <a:off x="0" y="0"/>
          <a:ext cx="0" cy="0"/>
          <a:chOff x="0" y="0"/>
          <a:chExt cx="0" cy="0"/>
        </a:xfrm>
      </p:grpSpPr>
      <p:sp>
        <p:nvSpPr>
          <p:cNvPr id="534485735" name="Shape 0"/>
          <p:cNvSpPr/>
          <p:nvPr/>
        </p:nvSpPr>
        <p:spPr bwMode="auto">
          <a:xfrm>
            <a:off x="971550" y="0"/>
            <a:ext cx="28575" cy="10287000"/>
          </a:xfrm>
          <a:prstGeom prst="rect">
            <a:avLst/>
          </a:prstGeom>
          <a:solidFill>
            <a:srgbClr val="002060">
              <a:alpha val="15999"/>
            </a:srgbClr>
          </a:solidFill>
          <a:ln/>
        </p:spPr>
      </p:sp>
      <p:sp>
        <p:nvSpPr>
          <p:cNvPr id="1443133451" name="Shape 1"/>
          <p:cNvSpPr/>
          <p:nvPr/>
        </p:nvSpPr>
        <p:spPr bwMode="auto">
          <a:xfrm>
            <a:off x="971550" y="1009650"/>
            <a:ext cx="16687800" cy="28575"/>
          </a:xfrm>
          <a:prstGeom prst="rect">
            <a:avLst/>
          </a:prstGeom>
          <a:solidFill>
            <a:srgbClr val="002060">
              <a:alpha val="15999"/>
            </a:srgbClr>
          </a:solidFill>
          <a:ln/>
        </p:spPr>
      </p:sp>
      <p:pic>
        <p:nvPicPr>
          <p:cNvPr id="1728843056" name="Image 0" descr="preencoded.png"/>
          <p:cNvPicPr>
            <a:picLocks noChangeAspect="1"/>
          </p:cNvPicPr>
          <p:nvPr/>
        </p:nvPicPr>
        <p:blipFill rotWithShape="1">
          <a:blip r:embed="rId3"/>
          <a:stretch/>
        </p:blipFill>
        <p:spPr bwMode="auto">
          <a:xfrm>
            <a:off x="1257300" y="209550"/>
            <a:ext cx="779621" cy="647700"/>
          </a:xfrm>
          <a:prstGeom prst="rect">
            <a:avLst/>
          </a:prstGeom>
        </p:spPr>
      </p:pic>
      <p:sp>
        <p:nvSpPr>
          <p:cNvPr id="1835395816" name="Text 2"/>
          <p:cNvSpPr/>
          <p:nvPr/>
        </p:nvSpPr>
        <p:spPr bwMode="auto">
          <a:xfrm>
            <a:off x="14455616" y="400050"/>
            <a:ext cx="3524107" cy="393700"/>
          </a:xfrm>
          <a:prstGeom prst="rect">
            <a:avLst/>
          </a:prstGeom>
          <a:noFill/>
          <a:ln/>
        </p:spPr>
        <p:txBody>
          <a:bodyPr wrap="square" lIns="25400" tIns="25400" rIns="25400" bIns="25400" rtlCol="0" anchor="t">
            <a:normAutofit/>
          </a:bodyPr>
          <a:lstStyle/>
          <a:p>
            <a:pPr marL="0" indent="0" algn="l">
              <a:buNone/>
              <a:defRPr/>
            </a:pPr>
            <a:r>
              <a:rPr lang="en-US" sz="1900" spc="75">
                <a:solidFill>
                  <a:srgbClr val="DB5817"/>
                </a:solidFill>
                <a:latin typeface="Arial"/>
                <a:ea typeface="Arial"/>
                <a:cs typeface="Arial"/>
              </a:rPr>
              <a:t>www.centex-sarawak.my</a:t>
            </a:r>
            <a:endParaRPr lang="en-US" sz="1900"/>
          </a:p>
        </p:txBody>
      </p:sp>
      <p:sp>
        <p:nvSpPr>
          <p:cNvPr id="1708264865" name="Shape 3"/>
          <p:cNvSpPr/>
          <p:nvPr/>
        </p:nvSpPr>
        <p:spPr bwMode="auto">
          <a:xfrm>
            <a:off x="1257300" y="1905000"/>
            <a:ext cx="630238" cy="530225"/>
          </a:xfrm>
          <a:prstGeom prst="roundRect">
            <a:avLst>
              <a:gd name="adj" fmla="val 14371"/>
            </a:avLst>
          </a:prstGeom>
          <a:solidFill>
            <a:srgbClr val="002060"/>
          </a:solidFill>
          <a:ln/>
        </p:spPr>
      </p:sp>
      <p:sp>
        <p:nvSpPr>
          <p:cNvPr id="679119245" name="Text 4"/>
          <p:cNvSpPr/>
          <p:nvPr/>
        </p:nvSpPr>
        <p:spPr bwMode="auto">
          <a:xfrm>
            <a:off x="1466849" y="1981200"/>
            <a:ext cx="287338" cy="415925"/>
          </a:xfrm>
          <a:prstGeom prst="rect">
            <a:avLst/>
          </a:prstGeom>
          <a:noFill/>
          <a:ln/>
        </p:spPr>
        <p:txBody>
          <a:bodyPr wrap="square" lIns="25400" tIns="25400" rIns="25400" bIns="25400" rtlCol="0" anchor="t">
            <a:normAutofit/>
          </a:bodyPr>
          <a:lstStyle/>
          <a:p>
            <a:pPr marL="0" indent="0" algn="l">
              <a:buNone/>
              <a:defRPr/>
            </a:pPr>
            <a:r>
              <a:rPr lang="en-US" sz="2550">
                <a:solidFill>
                  <a:srgbClr val="FFFFFF"/>
                </a:solidFill>
                <a:latin typeface="Arial"/>
                <a:ea typeface="Arial"/>
                <a:cs typeface="Arial"/>
              </a:rPr>
              <a:t>A</a:t>
            </a:r>
            <a:endParaRPr lang="en-US" sz="2550"/>
          </a:p>
        </p:txBody>
      </p:sp>
      <p:sp>
        <p:nvSpPr>
          <p:cNvPr id="931058286" name="Text 5"/>
          <p:cNvSpPr/>
          <p:nvPr/>
        </p:nvSpPr>
        <p:spPr bwMode="auto">
          <a:xfrm>
            <a:off x="2097088" y="1983899"/>
            <a:ext cx="3124391" cy="410369"/>
          </a:xfrm>
          <a:prstGeom prst="rect">
            <a:avLst/>
          </a:prstGeom>
          <a:noFill/>
          <a:ln/>
        </p:spPr>
        <p:txBody>
          <a:bodyPr wrap="square" lIns="25400" tIns="25400" rIns="25400" bIns="25400" rtlCol="0" anchor="t">
            <a:normAutofit/>
          </a:bodyPr>
          <a:lstStyle/>
          <a:p>
            <a:pPr marL="0" indent="0" algn="l">
              <a:buNone/>
              <a:defRPr/>
            </a:pPr>
            <a:r>
              <a:rPr lang="en-US" sz="1950" b="1" spc="311">
                <a:solidFill>
                  <a:srgbClr val="DB5817"/>
                </a:solidFill>
                <a:latin typeface="Arial"/>
                <a:ea typeface="Arial"/>
                <a:cs typeface="Arial"/>
              </a:rPr>
              <a:t>ROUTE A · FINALLY</a:t>
            </a:r>
            <a:endParaRPr lang="en-US" sz="1950"/>
          </a:p>
        </p:txBody>
      </p:sp>
      <p:sp>
        <p:nvSpPr>
          <p:cNvPr id="1664413146" name="Text 6"/>
          <p:cNvSpPr/>
          <p:nvPr/>
        </p:nvSpPr>
        <p:spPr bwMode="auto">
          <a:xfrm>
            <a:off x="1257300" y="2606675"/>
            <a:ext cx="17665065" cy="805497"/>
          </a:xfrm>
          <a:prstGeom prst="rect">
            <a:avLst/>
          </a:prstGeom>
          <a:noFill/>
          <a:ln/>
        </p:spPr>
        <p:txBody>
          <a:bodyPr wrap="square" lIns="25400" tIns="25400" rIns="25400" bIns="25400" rtlCol="0" anchor="t">
            <a:normAutofit/>
          </a:bodyPr>
          <a:lstStyle/>
          <a:p>
            <a:pPr marL="0" indent="0" algn="l">
              <a:lnSpc>
                <a:spcPct val="94599"/>
              </a:lnSpc>
              <a:buNone/>
              <a:defRPr/>
            </a:pPr>
            <a:r>
              <a:rPr lang="en-US" sz="5700" b="1" spc="-57">
                <a:solidFill>
                  <a:srgbClr val="002060"/>
                </a:solidFill>
                <a:latin typeface="Arial"/>
                <a:ea typeface="Arial"/>
                <a:cs typeface="Arial"/>
              </a:rPr>
              <a:t>Move the robot onto a real network</a:t>
            </a:r>
            <a:endParaRPr lang="en-US" sz="5700"/>
          </a:p>
        </p:txBody>
      </p:sp>
      <p:sp>
        <p:nvSpPr>
          <p:cNvPr id="360561621" name="Text 7"/>
          <p:cNvSpPr/>
          <p:nvPr/>
        </p:nvSpPr>
        <p:spPr bwMode="auto">
          <a:xfrm>
            <a:off x="1257300" y="3659823"/>
            <a:ext cx="8005572" cy="1318260"/>
          </a:xfrm>
          <a:prstGeom prst="rect">
            <a:avLst/>
          </a:prstGeom>
          <a:noFill/>
          <a:ln/>
        </p:spPr>
        <p:txBody>
          <a:bodyPr wrap="square" lIns="25400" tIns="25400" rIns="25400" bIns="25400" rtlCol="0" anchor="t">
            <a:normAutofit/>
          </a:bodyPr>
          <a:lstStyle/>
          <a:p>
            <a:pPr marL="0" indent="0" algn="l">
              <a:lnSpc>
                <a:spcPct val="123871"/>
              </a:lnSpc>
              <a:buNone/>
              <a:defRPr/>
            </a:pPr>
            <a:r>
              <a:rPr lang="en-US" sz="2400">
                <a:solidFill>
                  <a:srgbClr val="2A3040"/>
                </a:solidFill>
                <a:latin typeface="Arial"/>
                <a:ea typeface="Arial"/>
                <a:cs typeface="Arial"/>
              </a:rPr>
              <a:t>Use the </a:t>
            </a:r>
            <a:r>
              <a:rPr lang="en-US" sz="2400" b="1">
                <a:solidFill>
                  <a:srgbClr val="2A3040"/>
                </a:solidFill>
                <a:latin typeface="Arial"/>
                <a:ea typeface="Arial"/>
                <a:cs typeface="Arial"/>
              </a:rPr>
              <a:t>Connect to WiFi </a:t>
            </a:r>
            <a:r>
              <a:rPr lang="en-US" sz="2400">
                <a:solidFill>
                  <a:srgbClr val="2A3040"/>
                </a:solidFill>
                <a:latin typeface="Arial"/>
                <a:ea typeface="Arial"/>
                <a:cs typeface="Arial"/>
              </a:rPr>
              <a:t>form to join the robot to your phone's hotspot or the lab network — then join your laptop to that same network.</a:t>
            </a:r>
            <a:endParaRPr lang="en-US" sz="2400"/>
          </a:p>
        </p:txBody>
      </p:sp>
      <p:sp>
        <p:nvSpPr>
          <p:cNvPr id="845093512" name="Shape 8"/>
          <p:cNvSpPr/>
          <p:nvPr/>
        </p:nvSpPr>
        <p:spPr bwMode="auto">
          <a:xfrm>
            <a:off x="1257300" y="5206682"/>
            <a:ext cx="7772400" cy="55562"/>
          </a:xfrm>
          <a:prstGeom prst="rect">
            <a:avLst/>
          </a:prstGeom>
          <a:solidFill>
            <a:srgbClr val="002060">
              <a:alpha val="15999"/>
            </a:srgbClr>
          </a:solidFill>
          <a:ln/>
        </p:spPr>
      </p:sp>
      <p:sp>
        <p:nvSpPr>
          <p:cNvPr id="1311248712" name="Text 9"/>
          <p:cNvSpPr/>
          <p:nvPr/>
        </p:nvSpPr>
        <p:spPr bwMode="auto">
          <a:xfrm>
            <a:off x="1257300" y="5414645"/>
            <a:ext cx="8549640" cy="438149"/>
          </a:xfrm>
          <a:prstGeom prst="rect">
            <a:avLst/>
          </a:prstGeom>
          <a:noFill/>
          <a:ln/>
        </p:spPr>
        <p:txBody>
          <a:bodyPr wrap="square" lIns="25400" tIns="25400" rIns="25400" bIns="25400" rtlCol="0" anchor="t">
            <a:normAutofit/>
          </a:bodyPr>
          <a:lstStyle/>
          <a:p>
            <a:pPr marL="0" indent="0" algn="l">
              <a:buNone/>
              <a:defRPr/>
            </a:pPr>
            <a:r>
              <a:rPr lang="en-US" sz="2100" b="1">
                <a:solidFill>
                  <a:srgbClr val="002060"/>
                </a:solidFill>
                <a:latin typeface="Arial"/>
                <a:ea typeface="Arial"/>
                <a:cs typeface="Arial"/>
              </a:rPr>
              <a:t>1 Turn the network on</a:t>
            </a:r>
            <a:endParaRPr lang="en-US" sz="2100"/>
          </a:p>
        </p:txBody>
      </p:sp>
      <p:sp>
        <p:nvSpPr>
          <p:cNvPr id="1327830144" name="Text 10"/>
          <p:cNvSpPr/>
          <p:nvPr/>
        </p:nvSpPr>
        <p:spPr bwMode="auto">
          <a:xfrm>
            <a:off x="1257300" y="5814695"/>
            <a:ext cx="8549640" cy="352425"/>
          </a:xfrm>
          <a:prstGeom prst="rect">
            <a:avLst/>
          </a:prstGeom>
          <a:noFill/>
          <a:ln/>
        </p:spPr>
        <p:txBody>
          <a:bodyPr wrap="square" lIns="25400" tIns="25400" rIns="25400" bIns="25400" rtlCol="0" anchor="t">
            <a:normAutofit/>
          </a:bodyPr>
          <a:lstStyle/>
          <a:p>
            <a:pPr marL="0" indent="0" algn="l">
              <a:lnSpc>
                <a:spcPct val="115452"/>
              </a:lnSpc>
              <a:buNone/>
              <a:defRPr/>
            </a:pPr>
            <a:r>
              <a:rPr lang="en-US" sz="1900">
                <a:solidFill>
                  <a:srgbClr val="3A4152"/>
                </a:solidFill>
                <a:latin typeface="Arial"/>
                <a:ea typeface="Arial"/>
                <a:cs typeface="Arial"/>
              </a:rPr>
              <a:t>Your phone's hotspot, or the lab WiFi.</a:t>
            </a:r>
            <a:endParaRPr lang="en-US" sz="1900"/>
          </a:p>
        </p:txBody>
      </p:sp>
      <p:sp>
        <p:nvSpPr>
          <p:cNvPr id="988286163" name="Shape 11"/>
          <p:cNvSpPr/>
          <p:nvPr/>
        </p:nvSpPr>
        <p:spPr bwMode="auto">
          <a:xfrm>
            <a:off x="1257300" y="6281420"/>
            <a:ext cx="7772400" cy="55562"/>
          </a:xfrm>
          <a:prstGeom prst="rect">
            <a:avLst/>
          </a:prstGeom>
          <a:solidFill>
            <a:srgbClr val="002060">
              <a:alpha val="15999"/>
            </a:srgbClr>
          </a:solidFill>
          <a:ln/>
        </p:spPr>
      </p:sp>
      <p:sp>
        <p:nvSpPr>
          <p:cNvPr id="224761771" name="Text 12"/>
          <p:cNvSpPr/>
          <p:nvPr/>
        </p:nvSpPr>
        <p:spPr bwMode="auto">
          <a:xfrm>
            <a:off x="1257300" y="6489382"/>
            <a:ext cx="8549640" cy="438149"/>
          </a:xfrm>
          <a:prstGeom prst="rect">
            <a:avLst/>
          </a:prstGeom>
          <a:noFill/>
          <a:ln/>
        </p:spPr>
        <p:txBody>
          <a:bodyPr wrap="square" lIns="25400" tIns="25400" rIns="25400" bIns="25400" rtlCol="0" anchor="t">
            <a:normAutofit/>
          </a:bodyPr>
          <a:lstStyle/>
          <a:p>
            <a:pPr marL="0" indent="0" algn="l">
              <a:buNone/>
              <a:defRPr/>
            </a:pPr>
            <a:r>
              <a:rPr lang="en-US" sz="2100" b="1">
                <a:solidFill>
                  <a:srgbClr val="002060"/>
                </a:solidFill>
                <a:latin typeface="Arial"/>
                <a:ea typeface="Arial"/>
                <a:cs typeface="Arial"/>
              </a:rPr>
              <a:t>2 Pick it in the form and submit</a:t>
            </a:r>
            <a:endParaRPr lang="en-US" sz="2100"/>
          </a:p>
        </p:txBody>
      </p:sp>
      <p:sp>
        <p:nvSpPr>
          <p:cNvPr id="1461255200" name="Text 13"/>
          <p:cNvSpPr/>
          <p:nvPr/>
        </p:nvSpPr>
        <p:spPr bwMode="auto">
          <a:xfrm>
            <a:off x="1257300" y="6889432"/>
            <a:ext cx="8549640" cy="352425"/>
          </a:xfrm>
          <a:prstGeom prst="rect">
            <a:avLst/>
          </a:prstGeom>
          <a:noFill/>
          <a:ln/>
        </p:spPr>
        <p:txBody>
          <a:bodyPr wrap="square" lIns="25400" tIns="25400" rIns="25400" bIns="25400" rtlCol="0" anchor="t">
            <a:normAutofit/>
          </a:bodyPr>
          <a:lstStyle/>
          <a:p>
            <a:pPr marL="0" indent="0" algn="l">
              <a:lnSpc>
                <a:spcPct val="115452"/>
              </a:lnSpc>
              <a:buNone/>
              <a:defRPr/>
            </a:pPr>
            <a:r>
              <a:rPr lang="en-US" sz="1900">
                <a:solidFill>
                  <a:srgbClr val="3A4152"/>
                </a:solidFill>
                <a:latin typeface="Arial"/>
                <a:ea typeface="Arial"/>
                <a:cs typeface="Arial"/>
              </a:rPr>
              <a:t>Type the password exactly as it is.</a:t>
            </a:r>
            <a:endParaRPr lang="en-US" sz="1900"/>
          </a:p>
        </p:txBody>
      </p:sp>
      <p:sp>
        <p:nvSpPr>
          <p:cNvPr id="1452674395" name="Shape 14"/>
          <p:cNvSpPr/>
          <p:nvPr/>
        </p:nvSpPr>
        <p:spPr bwMode="auto">
          <a:xfrm>
            <a:off x="1257300" y="7356157"/>
            <a:ext cx="7772400" cy="55562"/>
          </a:xfrm>
          <a:prstGeom prst="rect">
            <a:avLst/>
          </a:prstGeom>
          <a:solidFill>
            <a:srgbClr val="002060">
              <a:alpha val="15999"/>
            </a:srgbClr>
          </a:solidFill>
          <a:ln/>
        </p:spPr>
      </p:sp>
      <p:sp>
        <p:nvSpPr>
          <p:cNvPr id="196172557" name="Text 15"/>
          <p:cNvSpPr/>
          <p:nvPr/>
        </p:nvSpPr>
        <p:spPr bwMode="auto">
          <a:xfrm>
            <a:off x="1257300" y="7564120"/>
            <a:ext cx="8549640" cy="438149"/>
          </a:xfrm>
          <a:prstGeom prst="rect">
            <a:avLst/>
          </a:prstGeom>
          <a:noFill/>
          <a:ln/>
        </p:spPr>
        <p:txBody>
          <a:bodyPr wrap="square" lIns="25400" tIns="25400" rIns="25400" bIns="25400" rtlCol="0" anchor="t">
            <a:normAutofit/>
          </a:bodyPr>
          <a:lstStyle/>
          <a:p>
            <a:pPr marL="0" indent="0" algn="l">
              <a:buNone/>
              <a:defRPr/>
            </a:pPr>
            <a:r>
              <a:rPr lang="en-US" sz="2100" b="1">
                <a:solidFill>
                  <a:srgbClr val="002060"/>
                </a:solidFill>
                <a:latin typeface="Arial"/>
                <a:ea typeface="Arial"/>
                <a:cs typeface="Arial"/>
              </a:rPr>
              <a:t>3 Not listed? Press rescan</a:t>
            </a:r>
            <a:endParaRPr lang="en-US" sz="2100"/>
          </a:p>
        </p:txBody>
      </p:sp>
      <p:sp>
        <p:nvSpPr>
          <p:cNvPr id="1518567742" name="Text 16"/>
          <p:cNvSpPr/>
          <p:nvPr/>
        </p:nvSpPr>
        <p:spPr bwMode="auto">
          <a:xfrm>
            <a:off x="1257300" y="7964170"/>
            <a:ext cx="8549640" cy="363696"/>
          </a:xfrm>
          <a:prstGeom prst="rect">
            <a:avLst/>
          </a:prstGeom>
          <a:noFill/>
          <a:ln/>
        </p:spPr>
        <p:txBody>
          <a:bodyPr wrap="square" lIns="25400" tIns="25400" rIns="25400" bIns="25400" rtlCol="0" anchor="t">
            <a:normAutofit/>
          </a:bodyPr>
          <a:lstStyle/>
          <a:p>
            <a:pPr marL="0" indent="0" algn="l">
              <a:lnSpc>
                <a:spcPct val="115452"/>
              </a:lnSpc>
              <a:buNone/>
              <a:defRPr/>
            </a:pPr>
            <a:r>
              <a:rPr lang="en-US" sz="1900">
                <a:solidFill>
                  <a:srgbClr val="3A4152"/>
                </a:solidFill>
                <a:latin typeface="Arial"/>
                <a:ea typeface="Arial"/>
                <a:cs typeface="Arial"/>
              </a:rPr>
              <a:t>You will lose the page — rejoin </a:t>
            </a:r>
            <a:r>
              <a:rPr lang="en-US" sz="1900">
                <a:solidFill>
                  <a:srgbClr val="3A4152"/>
                </a:solidFill>
                <a:latin typeface="Courier New"/>
                <a:ea typeface="Courier New"/>
                <a:cs typeface="Courier New"/>
              </a:rPr>
              <a:t>a2botX-setup </a:t>
            </a:r>
            <a:r>
              <a:rPr lang="en-US" sz="1900">
                <a:solidFill>
                  <a:srgbClr val="3A4152"/>
                </a:solidFill>
                <a:latin typeface="Arial"/>
                <a:ea typeface="Arial"/>
                <a:cs typeface="Arial"/>
              </a:rPr>
              <a:t>and reopen it.</a:t>
            </a:r>
            <a:endParaRPr lang="en-US" sz="1900"/>
          </a:p>
        </p:txBody>
      </p:sp>
      <p:sp>
        <p:nvSpPr>
          <p:cNvPr id="1992243959" name="Shape 17"/>
          <p:cNvSpPr/>
          <p:nvPr/>
        </p:nvSpPr>
        <p:spPr bwMode="auto">
          <a:xfrm>
            <a:off x="1257300" y="8442166"/>
            <a:ext cx="7772400" cy="55562"/>
          </a:xfrm>
          <a:prstGeom prst="rect">
            <a:avLst/>
          </a:prstGeom>
          <a:solidFill>
            <a:srgbClr val="002060">
              <a:alpha val="15999"/>
            </a:srgbClr>
          </a:solidFill>
          <a:ln/>
        </p:spPr>
      </p:sp>
      <p:sp>
        <p:nvSpPr>
          <p:cNvPr id="1744135320" name="Text 18"/>
          <p:cNvSpPr/>
          <p:nvPr/>
        </p:nvSpPr>
        <p:spPr bwMode="auto">
          <a:xfrm>
            <a:off x="1257300" y="8650129"/>
            <a:ext cx="8549640" cy="438149"/>
          </a:xfrm>
          <a:prstGeom prst="rect">
            <a:avLst/>
          </a:prstGeom>
          <a:noFill/>
          <a:ln/>
        </p:spPr>
        <p:txBody>
          <a:bodyPr wrap="square" lIns="25400" tIns="25400" rIns="25400" bIns="25400" rtlCol="0" anchor="t">
            <a:normAutofit/>
          </a:bodyPr>
          <a:lstStyle/>
          <a:p>
            <a:pPr marL="0" indent="0" algn="l">
              <a:buNone/>
              <a:defRPr/>
            </a:pPr>
            <a:r>
              <a:rPr lang="en-US" sz="2100" b="1">
                <a:solidFill>
                  <a:srgbClr val="002060"/>
                </a:solidFill>
                <a:latin typeface="Arial"/>
                <a:ea typeface="Arial"/>
                <a:cs typeface="Arial"/>
              </a:rPr>
              <a:t>4 Join your laptop to it too</a:t>
            </a:r>
            <a:endParaRPr lang="en-US" sz="2100"/>
          </a:p>
        </p:txBody>
      </p:sp>
      <p:sp>
        <p:nvSpPr>
          <p:cNvPr id="1766229026" name="Text 19"/>
          <p:cNvSpPr/>
          <p:nvPr/>
        </p:nvSpPr>
        <p:spPr bwMode="auto">
          <a:xfrm>
            <a:off x="1257300" y="9050179"/>
            <a:ext cx="8549640" cy="352425"/>
          </a:xfrm>
          <a:prstGeom prst="rect">
            <a:avLst/>
          </a:prstGeom>
          <a:noFill/>
          <a:ln/>
        </p:spPr>
        <p:txBody>
          <a:bodyPr wrap="square" lIns="25400" tIns="25400" rIns="25400" bIns="25400" rtlCol="0" anchor="t">
            <a:normAutofit/>
          </a:bodyPr>
          <a:lstStyle/>
          <a:p>
            <a:pPr marL="0" indent="0" algn="l">
              <a:lnSpc>
                <a:spcPct val="115452"/>
              </a:lnSpc>
              <a:buNone/>
              <a:defRPr/>
            </a:pPr>
            <a:r>
              <a:rPr lang="en-US" sz="1900">
                <a:solidFill>
                  <a:srgbClr val="3A4152"/>
                </a:solidFill>
                <a:latin typeface="Arial"/>
                <a:ea typeface="Arial"/>
                <a:cs typeface="Arial"/>
              </a:rPr>
              <a:t>Both machines on one network is the whole point.</a:t>
            </a:r>
            <a:endParaRPr lang="en-US" sz="1900"/>
          </a:p>
        </p:txBody>
      </p:sp>
      <p:sp>
        <p:nvSpPr>
          <p:cNvPr id="1747104342" name="Shape 21"/>
          <p:cNvSpPr/>
          <p:nvPr/>
        </p:nvSpPr>
        <p:spPr bwMode="auto">
          <a:xfrm>
            <a:off x="9544050" y="5868035"/>
            <a:ext cx="7772400" cy="1634014"/>
          </a:xfrm>
          <a:prstGeom prst="roundRect">
            <a:avLst>
              <a:gd name="adj" fmla="val 4663"/>
            </a:avLst>
          </a:prstGeom>
          <a:solidFill>
            <a:srgbClr val="F3E2CD"/>
          </a:solidFill>
          <a:ln/>
        </p:spPr>
      </p:sp>
      <p:sp>
        <p:nvSpPr>
          <p:cNvPr id="1124710460" name="Shape 22"/>
          <p:cNvSpPr/>
          <p:nvPr/>
        </p:nvSpPr>
        <p:spPr bwMode="auto">
          <a:xfrm>
            <a:off x="9544050" y="5868035"/>
            <a:ext cx="111125" cy="1634014"/>
          </a:xfrm>
          <a:prstGeom prst="rect">
            <a:avLst/>
          </a:prstGeom>
          <a:solidFill>
            <a:srgbClr val="DB5817"/>
          </a:solidFill>
          <a:ln/>
        </p:spPr>
      </p:sp>
      <p:sp>
        <p:nvSpPr>
          <p:cNvPr id="1458039170" name="Text 23"/>
          <p:cNvSpPr/>
          <p:nvPr/>
        </p:nvSpPr>
        <p:spPr bwMode="auto">
          <a:xfrm>
            <a:off x="9940925" y="6096635"/>
            <a:ext cx="166846" cy="426720"/>
          </a:xfrm>
          <a:prstGeom prst="rect">
            <a:avLst/>
          </a:prstGeom>
          <a:noFill/>
          <a:ln/>
        </p:spPr>
        <p:txBody>
          <a:bodyPr wrap="square" lIns="25400" tIns="25400" rIns="25400" bIns="25400" rtlCol="0" anchor="t">
            <a:normAutofit/>
          </a:bodyPr>
          <a:lstStyle/>
          <a:p>
            <a:pPr marL="0" indent="0" algn="l">
              <a:lnSpc>
                <a:spcPct val="105973"/>
              </a:lnSpc>
              <a:buNone/>
              <a:defRPr/>
            </a:pPr>
            <a:r>
              <a:rPr lang="en-US" sz="2550">
                <a:solidFill>
                  <a:srgbClr val="DB5817"/>
                </a:solidFill>
                <a:latin typeface="Arial"/>
                <a:ea typeface="Arial"/>
                <a:cs typeface="Arial"/>
              </a:rPr>
              <a:t>!</a:t>
            </a:r>
            <a:endParaRPr lang="en-US" sz="2550"/>
          </a:p>
        </p:txBody>
      </p:sp>
      <p:sp>
        <p:nvSpPr>
          <p:cNvPr id="767576984" name="Text 24"/>
          <p:cNvSpPr/>
          <p:nvPr/>
        </p:nvSpPr>
        <p:spPr bwMode="auto">
          <a:xfrm>
            <a:off x="10241121" y="6096635"/>
            <a:ext cx="6993266" cy="1214914"/>
          </a:xfrm>
          <a:prstGeom prst="rect">
            <a:avLst/>
          </a:prstGeom>
          <a:noFill/>
          <a:ln/>
        </p:spPr>
        <p:txBody>
          <a:bodyPr wrap="square" lIns="25400" tIns="25400" rIns="25400" bIns="25400" rtlCol="0" anchor="t">
            <a:normAutofit/>
          </a:bodyPr>
          <a:lstStyle/>
          <a:p>
            <a:pPr marL="0" indent="0" algn="l">
              <a:lnSpc>
                <a:spcPct val="123859"/>
              </a:lnSpc>
              <a:buNone/>
              <a:defRPr/>
            </a:pPr>
            <a:r>
              <a:rPr lang="en-US" sz="2200" b="1">
                <a:solidFill>
                  <a:srgbClr val="002060"/>
                </a:solidFill>
                <a:latin typeface="Arial"/>
                <a:ea typeface="Arial"/>
                <a:cs typeface="Arial"/>
              </a:rPr>
              <a:t>The page will likely fail after you submit. </a:t>
            </a:r>
            <a:r>
              <a:rPr lang="en-US" sz="2200">
                <a:solidFill>
                  <a:srgbClr val="2A3040"/>
                </a:solidFill>
                <a:latin typeface="Arial"/>
                <a:ea typeface="Arial"/>
                <a:cs typeface="Arial"/>
              </a:rPr>
              <a:t>That is expected — the robot just left the hotspot your browser was using to talk to it.</a:t>
            </a:r>
            <a:endParaRPr lang="en-US" sz="2200"/>
          </a:p>
        </p:txBody>
      </p:sp>
      <p:sp>
        <p:nvSpPr>
          <p:cNvPr id="1688804350" name="Shape 25"/>
          <p:cNvSpPr/>
          <p:nvPr/>
        </p:nvSpPr>
        <p:spPr bwMode="auto">
          <a:xfrm>
            <a:off x="9544050" y="7692549"/>
            <a:ext cx="7772400" cy="2029142"/>
          </a:xfrm>
          <a:prstGeom prst="roundRect">
            <a:avLst>
              <a:gd name="adj" fmla="val 3755"/>
            </a:avLst>
          </a:prstGeom>
          <a:solidFill>
            <a:srgbClr val="F3E2CD"/>
          </a:solidFill>
          <a:ln/>
        </p:spPr>
      </p:sp>
      <p:sp>
        <p:nvSpPr>
          <p:cNvPr id="2032249935" name="Shape 26"/>
          <p:cNvSpPr/>
          <p:nvPr/>
        </p:nvSpPr>
        <p:spPr bwMode="auto">
          <a:xfrm>
            <a:off x="9544050" y="7692549"/>
            <a:ext cx="111125" cy="2029142"/>
          </a:xfrm>
          <a:prstGeom prst="rect">
            <a:avLst/>
          </a:prstGeom>
          <a:solidFill>
            <a:srgbClr val="002060"/>
          </a:solidFill>
          <a:ln/>
        </p:spPr>
      </p:sp>
      <p:sp>
        <p:nvSpPr>
          <p:cNvPr id="497074631" name="Text 27"/>
          <p:cNvSpPr/>
          <p:nvPr/>
        </p:nvSpPr>
        <p:spPr bwMode="auto">
          <a:xfrm>
            <a:off x="9940925" y="7921149"/>
            <a:ext cx="347504" cy="426720"/>
          </a:xfrm>
          <a:prstGeom prst="rect">
            <a:avLst/>
          </a:prstGeom>
          <a:noFill/>
          <a:ln/>
        </p:spPr>
        <p:txBody>
          <a:bodyPr wrap="square" lIns="25400" tIns="25400" rIns="25400" bIns="25400" rtlCol="0" anchor="t">
            <a:normAutofit/>
          </a:bodyPr>
          <a:lstStyle/>
          <a:p>
            <a:pPr marL="0" indent="0" algn="l">
              <a:lnSpc>
                <a:spcPct val="105973"/>
              </a:lnSpc>
              <a:buNone/>
              <a:defRPr/>
            </a:pPr>
            <a:r>
              <a:rPr lang="en-US" sz="2550">
                <a:solidFill>
                  <a:srgbClr val="002060"/>
                </a:solidFill>
                <a:latin typeface="Arial"/>
                <a:ea typeface="Arial"/>
                <a:cs typeface="Arial"/>
              </a:rPr>
              <a:t>→</a:t>
            </a:r>
            <a:endParaRPr lang="en-US" sz="2550"/>
          </a:p>
        </p:txBody>
      </p:sp>
      <p:sp>
        <p:nvSpPr>
          <p:cNvPr id="117519020" name="Text 28"/>
          <p:cNvSpPr/>
          <p:nvPr/>
        </p:nvSpPr>
        <p:spPr bwMode="auto">
          <a:xfrm>
            <a:off x="10421779" y="7921149"/>
            <a:ext cx="6807189" cy="1610042"/>
          </a:xfrm>
          <a:prstGeom prst="rect">
            <a:avLst/>
          </a:prstGeom>
          <a:noFill/>
          <a:ln/>
        </p:spPr>
        <p:txBody>
          <a:bodyPr wrap="square" lIns="25400" tIns="25400" rIns="25400" bIns="25400" rtlCol="0" anchor="t">
            <a:normAutofit/>
          </a:bodyPr>
          <a:lstStyle/>
          <a:p>
            <a:pPr marL="0" indent="0" algn="l">
              <a:lnSpc>
                <a:spcPct val="123859"/>
              </a:lnSpc>
              <a:buNone/>
              <a:defRPr/>
            </a:pPr>
            <a:r>
              <a:rPr lang="en-US" sz="2200" b="1">
                <a:solidFill>
                  <a:srgbClr val="002060"/>
                </a:solidFill>
                <a:latin typeface="Arial"/>
                <a:ea typeface="Arial"/>
                <a:cs typeface="Arial"/>
              </a:rPr>
              <a:t>On iPhone this may come up: </a:t>
            </a:r>
            <a:r>
              <a:rPr lang="en-US" sz="2200">
                <a:solidFill>
                  <a:srgbClr val="2A3040"/>
                </a:solidFill>
                <a:latin typeface="Arial"/>
                <a:ea typeface="Arial"/>
                <a:cs typeface="Arial"/>
              </a:rPr>
              <a:t>the phone may not hold your personal hotspot and </a:t>
            </a:r>
            <a:r>
              <a:rPr lang="en-US" sz="2050">
                <a:solidFill>
                  <a:srgbClr val="2A3040"/>
                </a:solidFill>
                <a:latin typeface="Courier New"/>
                <a:ea typeface="Courier New"/>
                <a:cs typeface="Courier New"/>
              </a:rPr>
              <a:t>a2botX-setup </a:t>
            </a:r>
            <a:r>
              <a:rPr lang="en-US" sz="2200">
                <a:solidFill>
                  <a:srgbClr val="2A3040"/>
                </a:solidFill>
                <a:latin typeface="Arial"/>
                <a:ea typeface="Arial"/>
                <a:cs typeface="Arial"/>
              </a:rPr>
              <a:t>at once. If so, run the hotspot on the phone and do the dashboard from your </a:t>
            </a:r>
            <a:r>
              <a:rPr lang="en-US" sz="2200" i="1">
                <a:solidFill>
                  <a:srgbClr val="2A3040"/>
                </a:solidFill>
                <a:latin typeface="Arial"/>
                <a:ea typeface="Arial"/>
                <a:cs typeface="Arial"/>
              </a:rPr>
              <a:t>laptop</a:t>
            </a:r>
            <a:r>
              <a:rPr lang="en-US" sz="2200">
                <a:solidFill>
                  <a:srgbClr val="2A3040"/>
                </a:solidFill>
                <a:latin typeface="Arial"/>
                <a:ea typeface="Arial"/>
                <a:cs typeface="Arial"/>
              </a:rPr>
              <a:t>.</a:t>
            </a:r>
            <a:endParaRPr lang="en-US" sz="2200"/>
          </a:p>
        </p:txBody>
      </p:sp>
      <p:pic>
        <p:nvPicPr>
          <p:cNvPr id="1811538692" name="Image 1" descr="preencoded.png"/>
          <p:cNvPicPr>
            <a:picLocks noChangeAspect="1"/>
          </p:cNvPicPr>
          <p:nvPr/>
        </p:nvPicPr>
        <p:blipFill rotWithShape="1">
          <a:blip r:embed="rId4"/>
          <a:stretch/>
        </p:blipFill>
        <p:spPr bwMode="auto">
          <a:xfrm>
            <a:off x="17451546" y="9561512"/>
            <a:ext cx="207804" cy="34448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4">
    <p:bg>
      <p:bgPr shadeToTitle="0">
        <a:solidFill>
          <a:srgbClr val="FFFFFF"/>
        </a:solidFill>
      </p:bgPr>
    </p:bg>
    <p:spTree>
      <p:nvGrpSpPr>
        <p:cNvPr id="1" name=""/>
        <p:cNvGrpSpPr/>
        <p:nvPr/>
      </p:nvGrpSpPr>
      <p:grpSpPr bwMode="auto">
        <a:xfrm>
          <a:off x="0" y="0"/>
          <a:ext cx="0" cy="0"/>
          <a:chOff x="0" y="0"/>
          <a:chExt cx="0" cy="0"/>
        </a:xfrm>
      </p:grpSpPr>
      <p:sp>
        <p:nvSpPr>
          <p:cNvPr id="768621315" name="Shape 0"/>
          <p:cNvSpPr/>
          <p:nvPr/>
        </p:nvSpPr>
        <p:spPr bwMode="auto">
          <a:xfrm>
            <a:off x="971550" y="0"/>
            <a:ext cx="28575" cy="10287000"/>
          </a:xfrm>
          <a:prstGeom prst="rect">
            <a:avLst/>
          </a:prstGeom>
          <a:solidFill>
            <a:srgbClr val="002060">
              <a:alpha val="15999"/>
            </a:srgbClr>
          </a:solidFill>
          <a:ln/>
        </p:spPr>
      </p:sp>
      <p:sp>
        <p:nvSpPr>
          <p:cNvPr id="1588229703" name="Shape 1"/>
          <p:cNvSpPr/>
          <p:nvPr/>
        </p:nvSpPr>
        <p:spPr bwMode="auto">
          <a:xfrm>
            <a:off x="971550" y="1009650"/>
            <a:ext cx="16687800" cy="28575"/>
          </a:xfrm>
          <a:prstGeom prst="rect">
            <a:avLst/>
          </a:prstGeom>
          <a:solidFill>
            <a:srgbClr val="002060">
              <a:alpha val="15999"/>
            </a:srgbClr>
          </a:solidFill>
          <a:ln/>
        </p:spPr>
      </p:sp>
      <p:pic>
        <p:nvPicPr>
          <p:cNvPr id="83337403" name="Image 0" descr="preencoded.png"/>
          <p:cNvPicPr>
            <a:picLocks noChangeAspect="1"/>
          </p:cNvPicPr>
          <p:nvPr/>
        </p:nvPicPr>
        <p:blipFill rotWithShape="1">
          <a:blip r:embed="rId3"/>
          <a:stretch/>
        </p:blipFill>
        <p:spPr bwMode="auto">
          <a:xfrm>
            <a:off x="1257300" y="209550"/>
            <a:ext cx="779621" cy="647700"/>
          </a:xfrm>
          <a:prstGeom prst="rect">
            <a:avLst/>
          </a:prstGeom>
        </p:spPr>
      </p:pic>
      <p:sp>
        <p:nvSpPr>
          <p:cNvPr id="188608004" name="Text 2"/>
          <p:cNvSpPr/>
          <p:nvPr/>
        </p:nvSpPr>
        <p:spPr bwMode="auto">
          <a:xfrm>
            <a:off x="14455616" y="400050"/>
            <a:ext cx="3524107" cy="393700"/>
          </a:xfrm>
          <a:prstGeom prst="rect">
            <a:avLst/>
          </a:prstGeom>
          <a:noFill/>
          <a:ln/>
        </p:spPr>
        <p:txBody>
          <a:bodyPr wrap="square" lIns="25400" tIns="25400" rIns="25400" bIns="25400" rtlCol="0" anchor="t">
            <a:normAutofit/>
          </a:bodyPr>
          <a:lstStyle/>
          <a:p>
            <a:pPr marL="0" indent="0" algn="l">
              <a:buNone/>
              <a:defRPr/>
            </a:pPr>
            <a:r>
              <a:rPr lang="en-US" sz="1900" spc="75">
                <a:solidFill>
                  <a:srgbClr val="DB5817"/>
                </a:solidFill>
                <a:latin typeface="Arial"/>
                <a:ea typeface="Arial"/>
                <a:cs typeface="Arial"/>
              </a:rPr>
              <a:t>www.centex-sarawak.my</a:t>
            </a:r>
            <a:endParaRPr lang="en-US" sz="1900"/>
          </a:p>
        </p:txBody>
      </p:sp>
      <p:sp>
        <p:nvSpPr>
          <p:cNvPr id="333154721" name="Shape 3"/>
          <p:cNvSpPr/>
          <p:nvPr/>
        </p:nvSpPr>
        <p:spPr bwMode="auto">
          <a:xfrm>
            <a:off x="1257300" y="1905000"/>
            <a:ext cx="617537" cy="530225"/>
          </a:xfrm>
          <a:prstGeom prst="roundRect">
            <a:avLst>
              <a:gd name="adj" fmla="val 14371"/>
            </a:avLst>
          </a:prstGeom>
          <a:solidFill>
            <a:srgbClr val="DB5817"/>
          </a:solidFill>
          <a:ln/>
        </p:spPr>
      </p:sp>
      <p:sp>
        <p:nvSpPr>
          <p:cNvPr id="1137309559" name="Text 4"/>
          <p:cNvSpPr/>
          <p:nvPr/>
        </p:nvSpPr>
        <p:spPr bwMode="auto">
          <a:xfrm>
            <a:off x="1466849" y="1981200"/>
            <a:ext cx="274637" cy="415925"/>
          </a:xfrm>
          <a:prstGeom prst="rect">
            <a:avLst/>
          </a:prstGeom>
          <a:noFill/>
          <a:ln/>
        </p:spPr>
        <p:txBody>
          <a:bodyPr wrap="square" lIns="25400" tIns="25400" rIns="25400" bIns="25400" rtlCol="0" anchor="t">
            <a:normAutofit/>
          </a:bodyPr>
          <a:lstStyle/>
          <a:p>
            <a:pPr marL="0" indent="0" algn="l">
              <a:buNone/>
              <a:defRPr/>
            </a:pPr>
            <a:r>
              <a:rPr lang="en-US" sz="2550">
                <a:solidFill>
                  <a:srgbClr val="FFFFFF"/>
                </a:solidFill>
                <a:latin typeface="Arial"/>
                <a:ea typeface="Arial"/>
                <a:cs typeface="Arial"/>
              </a:rPr>
              <a:t>B</a:t>
            </a:r>
            <a:endParaRPr lang="en-US" sz="2550"/>
          </a:p>
        </p:txBody>
      </p:sp>
      <p:sp>
        <p:nvSpPr>
          <p:cNvPr id="1931323352" name="Text 5"/>
          <p:cNvSpPr/>
          <p:nvPr/>
        </p:nvSpPr>
        <p:spPr bwMode="auto">
          <a:xfrm>
            <a:off x="2084387" y="1983899"/>
            <a:ext cx="3357690" cy="410369"/>
          </a:xfrm>
          <a:prstGeom prst="rect">
            <a:avLst/>
          </a:prstGeom>
          <a:noFill/>
          <a:ln/>
        </p:spPr>
        <p:txBody>
          <a:bodyPr wrap="square" lIns="25400" tIns="25400" rIns="25400" bIns="25400" rtlCol="0" anchor="t">
            <a:normAutofit/>
          </a:bodyPr>
          <a:lstStyle/>
          <a:p>
            <a:pPr marL="0" indent="0" algn="l">
              <a:buNone/>
              <a:defRPr/>
            </a:pPr>
            <a:r>
              <a:rPr lang="en-US" sz="1950" b="1" spc="311">
                <a:solidFill>
                  <a:srgbClr val="DB5817"/>
                </a:solidFill>
                <a:latin typeface="Arial"/>
                <a:ea typeface="Arial"/>
                <a:cs typeface="Arial"/>
              </a:rPr>
              <a:t>ROUTE B · THE PLAN</a:t>
            </a:r>
            <a:endParaRPr lang="en-US" sz="1950"/>
          </a:p>
        </p:txBody>
      </p:sp>
      <p:sp>
        <p:nvSpPr>
          <p:cNvPr id="444774328" name="Text 6"/>
          <p:cNvSpPr/>
          <p:nvPr/>
        </p:nvSpPr>
        <p:spPr bwMode="auto">
          <a:xfrm>
            <a:off x="1257300" y="2606675"/>
            <a:ext cx="17665065" cy="805497"/>
          </a:xfrm>
          <a:prstGeom prst="rect">
            <a:avLst/>
          </a:prstGeom>
          <a:noFill/>
          <a:ln/>
        </p:spPr>
        <p:txBody>
          <a:bodyPr wrap="square" lIns="25400" tIns="25400" rIns="25400" bIns="25400" rtlCol="0" anchor="t">
            <a:normAutofit/>
          </a:bodyPr>
          <a:lstStyle/>
          <a:p>
            <a:pPr marL="0" indent="0" algn="l">
              <a:lnSpc>
                <a:spcPct val="94599"/>
              </a:lnSpc>
              <a:buNone/>
              <a:defRPr/>
            </a:pPr>
            <a:r>
              <a:rPr lang="en-US" sz="5700" b="1" spc="-57">
                <a:solidFill>
                  <a:srgbClr val="002060"/>
                </a:solidFill>
                <a:latin typeface="Arial"/>
                <a:ea typeface="Arial"/>
                <a:cs typeface="Arial"/>
              </a:rPr>
              <a:t>A private network over one cable</a:t>
            </a:r>
            <a:endParaRPr lang="en-US" sz="5700"/>
          </a:p>
        </p:txBody>
      </p:sp>
      <p:sp>
        <p:nvSpPr>
          <p:cNvPr id="1873075114" name="Text 7"/>
          <p:cNvSpPr/>
          <p:nvPr/>
        </p:nvSpPr>
        <p:spPr bwMode="auto">
          <a:xfrm>
            <a:off x="1257300" y="3640773"/>
            <a:ext cx="12307259" cy="998220"/>
          </a:xfrm>
          <a:prstGeom prst="rect">
            <a:avLst/>
          </a:prstGeom>
          <a:noFill/>
          <a:ln/>
        </p:spPr>
        <p:txBody>
          <a:bodyPr wrap="square" lIns="25400" tIns="25400" rIns="25400" bIns="25400" rtlCol="0" anchor="t">
            <a:normAutofit/>
          </a:bodyPr>
          <a:lstStyle/>
          <a:p>
            <a:pPr marL="0" indent="0" algn="l">
              <a:lnSpc>
                <a:spcPct val="123429"/>
              </a:lnSpc>
              <a:buNone/>
              <a:defRPr/>
            </a:pPr>
            <a:r>
              <a:rPr lang="en-US" sz="2700">
                <a:solidFill>
                  <a:srgbClr val="2A3040"/>
                </a:solidFill>
                <a:latin typeface="Arial"/>
                <a:ea typeface="Arial"/>
                <a:cs typeface="Arial"/>
              </a:rPr>
              <a:t>No router hands out addresses on a direct cable — set both ends yourself, on the same </a:t>
            </a:r>
            <a:r>
              <a:rPr lang="en-US" sz="2550">
                <a:solidFill>
                  <a:srgbClr val="2A3040"/>
                </a:solidFill>
                <a:latin typeface="Courier New"/>
                <a:ea typeface="Courier New"/>
                <a:cs typeface="Courier New"/>
              </a:rPr>
              <a:t>10.0.0.0/24 </a:t>
            </a:r>
            <a:r>
              <a:rPr lang="en-US" sz="2700">
                <a:solidFill>
                  <a:srgbClr val="2A3040"/>
                </a:solidFill>
                <a:latin typeface="Arial"/>
                <a:ea typeface="Arial"/>
                <a:cs typeface="Arial"/>
              </a:rPr>
              <a:t>network.</a:t>
            </a:r>
            <a:endParaRPr lang="en-US" sz="2700"/>
          </a:p>
        </p:txBody>
      </p:sp>
      <p:sp>
        <p:nvSpPr>
          <p:cNvPr id="1723266768" name="Shape 8"/>
          <p:cNvSpPr/>
          <p:nvPr/>
        </p:nvSpPr>
        <p:spPr bwMode="auto">
          <a:xfrm>
            <a:off x="1257300" y="4867592"/>
            <a:ext cx="7820025" cy="3219133"/>
          </a:xfrm>
          <a:prstGeom prst="roundRect">
            <a:avLst>
              <a:gd name="adj" fmla="val 3551"/>
            </a:avLst>
          </a:prstGeom>
          <a:solidFill>
            <a:srgbClr val="E7E9EE"/>
          </a:solidFill>
          <a:ln/>
        </p:spPr>
      </p:sp>
      <p:sp>
        <p:nvSpPr>
          <p:cNvPr id="111243064" name="Shape 9"/>
          <p:cNvSpPr/>
          <p:nvPr/>
        </p:nvSpPr>
        <p:spPr bwMode="auto">
          <a:xfrm>
            <a:off x="1257300" y="4867592"/>
            <a:ext cx="7820025" cy="111125"/>
          </a:xfrm>
          <a:prstGeom prst="rect">
            <a:avLst/>
          </a:prstGeom>
          <a:solidFill>
            <a:srgbClr val="16181D"/>
          </a:solidFill>
          <a:ln/>
        </p:spPr>
      </p:sp>
      <p:sp>
        <p:nvSpPr>
          <p:cNvPr id="1351101604" name="Shape 10"/>
          <p:cNvSpPr/>
          <p:nvPr/>
        </p:nvSpPr>
        <p:spPr bwMode="auto">
          <a:xfrm>
            <a:off x="1638300" y="5302567"/>
            <a:ext cx="3261836" cy="476250"/>
          </a:xfrm>
          <a:prstGeom prst="roundRect">
            <a:avLst>
              <a:gd name="adj" fmla="val 12000"/>
            </a:avLst>
          </a:prstGeom>
          <a:solidFill>
            <a:srgbClr val="16181D"/>
          </a:solidFill>
          <a:ln/>
        </p:spPr>
      </p:sp>
      <p:sp>
        <p:nvSpPr>
          <p:cNvPr id="601914035" name="Shape 11"/>
          <p:cNvSpPr/>
          <p:nvPr/>
        </p:nvSpPr>
        <p:spPr bwMode="auto">
          <a:xfrm>
            <a:off x="1866900" y="5474018"/>
            <a:ext cx="133350" cy="133350"/>
          </a:xfrm>
          <a:prstGeom prst="ellipse">
            <a:avLst/>
          </a:prstGeom>
          <a:solidFill>
            <a:srgbClr val="C51A4A"/>
          </a:solidFill>
          <a:ln/>
        </p:spPr>
      </p:sp>
      <p:sp>
        <p:nvSpPr>
          <p:cNvPr id="642461289" name="Text 12"/>
          <p:cNvSpPr/>
          <p:nvPr/>
        </p:nvSpPr>
        <p:spPr bwMode="auto">
          <a:xfrm>
            <a:off x="2114550" y="5374005"/>
            <a:ext cx="2633696" cy="371475"/>
          </a:xfrm>
          <a:prstGeom prst="rect">
            <a:avLst/>
          </a:prstGeom>
          <a:noFill/>
          <a:ln/>
        </p:spPr>
        <p:txBody>
          <a:bodyPr wrap="none" lIns="0" tIns="0" rIns="0" bIns="0" rtlCol="0" anchor="t">
            <a:normAutofit/>
          </a:bodyPr>
          <a:lstStyle/>
          <a:p>
            <a:pPr marL="0" indent="0" algn="l">
              <a:lnSpc>
                <a:spcPct val="104956"/>
              </a:lnSpc>
              <a:buNone/>
              <a:defRPr/>
            </a:pPr>
            <a:r>
              <a:rPr lang="en-US" sz="1900" b="1">
                <a:solidFill>
                  <a:srgbClr val="FFFFFF"/>
                </a:solidFill>
                <a:latin typeface="Arial"/>
                <a:ea typeface="Arial"/>
                <a:cs typeface="Arial"/>
              </a:rPr>
              <a:t>A2Bot — Raspberry Pi</a:t>
            </a:r>
            <a:endParaRPr lang="en-US" sz="1900"/>
          </a:p>
        </p:txBody>
      </p:sp>
      <p:sp>
        <p:nvSpPr>
          <p:cNvPr id="633727413" name="Text 13"/>
          <p:cNvSpPr/>
          <p:nvPr/>
        </p:nvSpPr>
        <p:spPr bwMode="auto">
          <a:xfrm>
            <a:off x="1638300" y="5988368"/>
            <a:ext cx="7763828" cy="521494"/>
          </a:xfrm>
          <a:prstGeom prst="rect">
            <a:avLst/>
          </a:prstGeom>
          <a:noFill/>
          <a:ln/>
        </p:spPr>
        <p:txBody>
          <a:bodyPr wrap="square" lIns="25400" tIns="25400" rIns="25400" bIns="25400" rtlCol="0" anchor="t">
            <a:normAutofit/>
          </a:bodyPr>
          <a:lstStyle/>
          <a:p>
            <a:pPr marL="0" indent="0" algn="l">
              <a:buNone/>
              <a:defRPr/>
            </a:pPr>
            <a:r>
              <a:rPr lang="en-US" sz="2550" b="1">
                <a:solidFill>
                  <a:srgbClr val="002060"/>
                </a:solidFill>
                <a:latin typeface="Arial"/>
                <a:ea typeface="Arial"/>
                <a:cs typeface="Arial"/>
              </a:rPr>
              <a:t>10.0.0.10X</a:t>
            </a:r>
            <a:endParaRPr lang="en-US" sz="2550"/>
          </a:p>
        </p:txBody>
      </p:sp>
      <p:sp>
        <p:nvSpPr>
          <p:cNvPr id="1707520844" name="Text 14"/>
          <p:cNvSpPr/>
          <p:nvPr/>
        </p:nvSpPr>
        <p:spPr bwMode="auto">
          <a:xfrm>
            <a:off x="1638300" y="6586061"/>
            <a:ext cx="7269766" cy="822643"/>
          </a:xfrm>
          <a:prstGeom prst="rect">
            <a:avLst/>
          </a:prstGeom>
          <a:noFill/>
          <a:ln/>
        </p:spPr>
        <p:txBody>
          <a:bodyPr wrap="square" lIns="25400" tIns="25400" rIns="25400" bIns="25400" rtlCol="0" anchor="t">
            <a:normAutofit/>
          </a:bodyPr>
          <a:lstStyle/>
          <a:p>
            <a:pPr marL="0" indent="0" algn="l">
              <a:lnSpc>
                <a:spcPct val="123859"/>
              </a:lnSpc>
              <a:buNone/>
              <a:defRPr/>
            </a:pPr>
            <a:r>
              <a:rPr lang="en-US" sz="2200">
                <a:solidFill>
                  <a:srgbClr val="2A3040"/>
                </a:solidFill>
                <a:latin typeface="Arial"/>
                <a:ea typeface="Arial"/>
                <a:cs typeface="Arial"/>
              </a:rPr>
              <a:t>100 plus the robot's own number, matching its hostname and domain ID. A2Bot5 takes </a:t>
            </a:r>
            <a:r>
              <a:rPr lang="en-US" sz="2050">
                <a:solidFill>
                  <a:srgbClr val="2A3040"/>
                </a:solidFill>
                <a:latin typeface="Courier New"/>
                <a:ea typeface="Courier New"/>
                <a:cs typeface="Courier New"/>
              </a:rPr>
              <a:t>10.0.0.105</a:t>
            </a:r>
            <a:r>
              <a:rPr lang="en-US" sz="2200">
                <a:solidFill>
                  <a:srgbClr val="2A3040"/>
                </a:solidFill>
                <a:latin typeface="Arial"/>
                <a:ea typeface="Arial"/>
                <a:cs typeface="Arial"/>
              </a:rPr>
              <a:t>.</a:t>
            </a:r>
            <a:endParaRPr lang="en-US" sz="2200"/>
          </a:p>
        </p:txBody>
      </p:sp>
      <p:sp>
        <p:nvSpPr>
          <p:cNvPr id="808624320" name="Shape 15"/>
          <p:cNvSpPr/>
          <p:nvPr/>
        </p:nvSpPr>
        <p:spPr bwMode="auto">
          <a:xfrm>
            <a:off x="9496425" y="4867592"/>
            <a:ext cx="7820025" cy="3219133"/>
          </a:xfrm>
          <a:prstGeom prst="roundRect">
            <a:avLst>
              <a:gd name="adj" fmla="val 3551"/>
            </a:avLst>
          </a:prstGeom>
          <a:solidFill>
            <a:srgbClr val="F0E4EC"/>
          </a:solidFill>
          <a:ln/>
        </p:spPr>
      </p:sp>
      <p:sp>
        <p:nvSpPr>
          <p:cNvPr id="621183643" name="Shape 16"/>
          <p:cNvSpPr/>
          <p:nvPr/>
        </p:nvSpPr>
        <p:spPr bwMode="auto">
          <a:xfrm>
            <a:off x="9496425" y="4867592"/>
            <a:ext cx="7820025" cy="111125"/>
          </a:xfrm>
          <a:prstGeom prst="rect">
            <a:avLst/>
          </a:prstGeom>
          <a:solidFill>
            <a:srgbClr val="772953"/>
          </a:solidFill>
          <a:ln/>
        </p:spPr>
      </p:sp>
      <p:sp>
        <p:nvSpPr>
          <p:cNvPr id="1341606448" name="Shape 17"/>
          <p:cNvSpPr/>
          <p:nvPr/>
        </p:nvSpPr>
        <p:spPr bwMode="auto">
          <a:xfrm>
            <a:off x="9877424" y="5302567"/>
            <a:ext cx="2126298" cy="476250"/>
          </a:xfrm>
          <a:prstGeom prst="roundRect">
            <a:avLst>
              <a:gd name="adj" fmla="val 12000"/>
            </a:avLst>
          </a:prstGeom>
          <a:solidFill>
            <a:srgbClr val="772953"/>
          </a:solidFill>
          <a:ln/>
        </p:spPr>
      </p:sp>
      <p:sp>
        <p:nvSpPr>
          <p:cNvPr id="1087475211" name="Shape 18"/>
          <p:cNvSpPr/>
          <p:nvPr/>
        </p:nvSpPr>
        <p:spPr bwMode="auto">
          <a:xfrm>
            <a:off x="10106025" y="5474018"/>
            <a:ext cx="133350" cy="133350"/>
          </a:xfrm>
          <a:prstGeom prst="ellipse">
            <a:avLst/>
          </a:prstGeom>
          <a:solidFill>
            <a:srgbClr val="E95420"/>
          </a:solidFill>
          <a:ln/>
        </p:spPr>
      </p:sp>
      <p:sp>
        <p:nvSpPr>
          <p:cNvPr id="63635962" name="Text 19"/>
          <p:cNvSpPr/>
          <p:nvPr/>
        </p:nvSpPr>
        <p:spPr bwMode="auto">
          <a:xfrm>
            <a:off x="10353675" y="5374005"/>
            <a:ext cx="1497648" cy="371475"/>
          </a:xfrm>
          <a:prstGeom prst="rect">
            <a:avLst/>
          </a:prstGeom>
          <a:noFill/>
          <a:ln/>
        </p:spPr>
        <p:txBody>
          <a:bodyPr wrap="none" lIns="0" tIns="0" rIns="0" bIns="0" rtlCol="0" anchor="t">
            <a:normAutofit/>
          </a:bodyPr>
          <a:lstStyle/>
          <a:p>
            <a:pPr marL="0" indent="0" algn="l">
              <a:lnSpc>
                <a:spcPct val="104956"/>
              </a:lnSpc>
              <a:buNone/>
              <a:defRPr/>
            </a:pPr>
            <a:r>
              <a:rPr lang="en-US" sz="1900" b="1">
                <a:solidFill>
                  <a:srgbClr val="FFFFFF"/>
                </a:solidFill>
                <a:latin typeface="Arial"/>
                <a:ea typeface="Arial"/>
                <a:cs typeface="Arial"/>
              </a:rPr>
              <a:t>Your device</a:t>
            </a:r>
            <a:endParaRPr lang="en-US" sz="1900"/>
          </a:p>
        </p:txBody>
      </p:sp>
      <p:sp>
        <p:nvSpPr>
          <p:cNvPr id="1943801618" name="Text 20"/>
          <p:cNvSpPr/>
          <p:nvPr/>
        </p:nvSpPr>
        <p:spPr bwMode="auto">
          <a:xfrm>
            <a:off x="9877424" y="5988368"/>
            <a:ext cx="7763828" cy="521494"/>
          </a:xfrm>
          <a:prstGeom prst="rect">
            <a:avLst/>
          </a:prstGeom>
          <a:noFill/>
          <a:ln/>
        </p:spPr>
        <p:txBody>
          <a:bodyPr wrap="square" lIns="25400" tIns="25400" rIns="25400" bIns="25400" rtlCol="0" anchor="t">
            <a:normAutofit/>
          </a:bodyPr>
          <a:lstStyle/>
          <a:p>
            <a:pPr marL="0" indent="0" algn="l">
              <a:buNone/>
              <a:defRPr/>
            </a:pPr>
            <a:r>
              <a:rPr lang="en-US" sz="2550" b="1">
                <a:solidFill>
                  <a:srgbClr val="002060"/>
                </a:solidFill>
                <a:latin typeface="Arial"/>
                <a:ea typeface="Arial"/>
                <a:cs typeface="Arial"/>
              </a:rPr>
              <a:t>10.0.0.250</a:t>
            </a:r>
            <a:endParaRPr lang="en-US" sz="2550"/>
          </a:p>
        </p:txBody>
      </p:sp>
      <p:sp>
        <p:nvSpPr>
          <p:cNvPr id="398028946" name="Text 21"/>
          <p:cNvSpPr/>
          <p:nvPr/>
        </p:nvSpPr>
        <p:spPr bwMode="auto">
          <a:xfrm>
            <a:off x="9877424" y="6586061"/>
            <a:ext cx="7269766" cy="1214914"/>
          </a:xfrm>
          <a:prstGeom prst="rect">
            <a:avLst/>
          </a:prstGeom>
          <a:noFill/>
          <a:ln/>
        </p:spPr>
        <p:txBody>
          <a:bodyPr wrap="square" lIns="25400" tIns="25400" rIns="25400" bIns="25400" rtlCol="0" anchor="t">
            <a:normAutofit/>
          </a:bodyPr>
          <a:lstStyle/>
          <a:p>
            <a:pPr marL="0" indent="0" algn="l">
              <a:lnSpc>
                <a:spcPct val="123859"/>
              </a:lnSpc>
              <a:buNone/>
              <a:defRPr/>
            </a:pPr>
            <a:r>
              <a:rPr lang="en-US" sz="2200">
                <a:solidFill>
                  <a:srgbClr val="2A3040"/>
                </a:solidFill>
                <a:latin typeface="Arial"/>
                <a:ea typeface="Arial"/>
                <a:cs typeface="Arial"/>
              </a:rPr>
              <a:t>A fixed address reserved for laptops, chosen to sit outside the </a:t>
            </a:r>
            <a:r>
              <a:rPr lang="en-US" sz="2050">
                <a:solidFill>
                  <a:srgbClr val="2A3040"/>
                </a:solidFill>
                <a:latin typeface="Courier New"/>
                <a:ea typeface="Courier New"/>
                <a:cs typeface="Courier New"/>
              </a:rPr>
              <a:t>.100</a:t>
            </a:r>
            <a:r>
              <a:rPr lang="en-US" sz="2200">
                <a:solidFill>
                  <a:srgbClr val="2A3040"/>
                </a:solidFill>
                <a:latin typeface="Arial"/>
                <a:ea typeface="Arial"/>
                <a:cs typeface="Arial"/>
              </a:rPr>
              <a:t>–</a:t>
            </a:r>
            <a:r>
              <a:rPr lang="en-US" sz="2050">
                <a:solidFill>
                  <a:srgbClr val="2A3040"/>
                </a:solidFill>
                <a:latin typeface="Courier New"/>
                <a:ea typeface="Courier New"/>
                <a:cs typeface="Courier New"/>
              </a:rPr>
              <a:t>.201 </a:t>
            </a:r>
            <a:r>
              <a:rPr lang="en-US" sz="2200">
                <a:solidFill>
                  <a:srgbClr val="2A3040"/>
                </a:solidFill>
                <a:latin typeface="Arial"/>
                <a:ea typeface="Arial"/>
                <a:cs typeface="Arial"/>
              </a:rPr>
              <a:t>range robot numbers occupy, so it never collides.</a:t>
            </a:r>
            <a:endParaRPr lang="en-US" sz="2200"/>
          </a:p>
        </p:txBody>
      </p:sp>
      <p:sp>
        <p:nvSpPr>
          <p:cNvPr id="1844867120" name="Shape 22"/>
          <p:cNvSpPr/>
          <p:nvPr/>
        </p:nvSpPr>
        <p:spPr bwMode="auto">
          <a:xfrm>
            <a:off x="1257300" y="8372475"/>
            <a:ext cx="15160625" cy="845820"/>
          </a:xfrm>
          <a:prstGeom prst="roundRect">
            <a:avLst>
              <a:gd name="adj" fmla="val 9009"/>
            </a:avLst>
          </a:prstGeom>
          <a:solidFill>
            <a:srgbClr val="F3E2CD"/>
          </a:solidFill>
          <a:ln/>
        </p:spPr>
      </p:sp>
      <p:sp>
        <p:nvSpPr>
          <p:cNvPr id="1600200617" name="Shape 23"/>
          <p:cNvSpPr/>
          <p:nvPr/>
        </p:nvSpPr>
        <p:spPr bwMode="auto">
          <a:xfrm>
            <a:off x="1257300" y="8372475"/>
            <a:ext cx="111125" cy="845820"/>
          </a:xfrm>
          <a:prstGeom prst="rect">
            <a:avLst/>
          </a:prstGeom>
          <a:solidFill>
            <a:srgbClr val="DB5817"/>
          </a:solidFill>
          <a:ln/>
        </p:spPr>
      </p:sp>
      <p:sp>
        <p:nvSpPr>
          <p:cNvPr id="615077202" name="Text 24"/>
          <p:cNvSpPr/>
          <p:nvPr/>
        </p:nvSpPr>
        <p:spPr bwMode="auto">
          <a:xfrm>
            <a:off x="1654175" y="8601075"/>
            <a:ext cx="166846" cy="426720"/>
          </a:xfrm>
          <a:prstGeom prst="rect">
            <a:avLst/>
          </a:prstGeom>
          <a:noFill/>
          <a:ln/>
        </p:spPr>
        <p:txBody>
          <a:bodyPr wrap="square" lIns="25400" tIns="25400" rIns="25400" bIns="25400" rtlCol="0" anchor="t">
            <a:normAutofit/>
          </a:bodyPr>
          <a:lstStyle/>
          <a:p>
            <a:pPr marL="0" indent="0" algn="l">
              <a:lnSpc>
                <a:spcPct val="105973"/>
              </a:lnSpc>
              <a:buNone/>
              <a:defRPr/>
            </a:pPr>
            <a:r>
              <a:rPr lang="en-US" sz="2550">
                <a:solidFill>
                  <a:srgbClr val="DB5817"/>
                </a:solidFill>
                <a:latin typeface="Arial"/>
                <a:ea typeface="Arial"/>
                <a:cs typeface="Arial"/>
              </a:rPr>
              <a:t>!</a:t>
            </a:r>
            <a:endParaRPr lang="en-US" sz="2550"/>
          </a:p>
        </p:txBody>
      </p:sp>
      <p:sp>
        <p:nvSpPr>
          <p:cNvPr id="1011379888" name="Text 25"/>
          <p:cNvSpPr/>
          <p:nvPr/>
        </p:nvSpPr>
        <p:spPr bwMode="auto">
          <a:xfrm>
            <a:off x="1954371" y="8601075"/>
            <a:ext cx="11901217" cy="424815"/>
          </a:xfrm>
          <a:prstGeom prst="rect">
            <a:avLst/>
          </a:prstGeom>
          <a:noFill/>
          <a:ln/>
        </p:spPr>
        <p:txBody>
          <a:bodyPr wrap="square" lIns="25400" tIns="25400" rIns="25400" bIns="25400" rtlCol="0" anchor="t">
            <a:normAutofit/>
          </a:bodyPr>
          <a:lstStyle/>
          <a:p>
            <a:pPr marL="0" indent="0" algn="l">
              <a:lnSpc>
                <a:spcPct val="122105"/>
              </a:lnSpc>
              <a:buNone/>
              <a:defRPr/>
            </a:pPr>
            <a:r>
              <a:rPr lang="en-US" sz="2200" b="1">
                <a:solidFill>
                  <a:srgbClr val="002060"/>
                </a:solidFill>
                <a:latin typeface="Arial"/>
                <a:ea typeface="Arial"/>
                <a:cs typeface="Arial"/>
              </a:rPr>
              <a:t>Do not set a gateway </a:t>
            </a:r>
            <a:r>
              <a:rPr lang="en-US" sz="2200">
                <a:solidFill>
                  <a:srgbClr val="14161C"/>
                </a:solidFill>
                <a:latin typeface="Arial"/>
                <a:ea typeface="Arial"/>
                <a:cs typeface="Arial"/>
              </a:rPr>
              <a:t>here — it makes the Pi route internet traffic down a dead-end cable.</a:t>
            </a:r>
            <a:endParaRPr lang="en-US" sz="2200"/>
          </a:p>
        </p:txBody>
      </p:sp>
      <p:sp>
        <p:nvSpPr>
          <p:cNvPr id="1473449395" name="Shape 26"/>
          <p:cNvSpPr/>
          <p:nvPr/>
        </p:nvSpPr>
        <p:spPr bwMode="auto">
          <a:xfrm>
            <a:off x="1257300" y="9323387"/>
            <a:ext cx="8115935" cy="601663"/>
          </a:xfrm>
          <a:prstGeom prst="roundRect">
            <a:avLst>
              <a:gd name="adj" fmla="val 50000"/>
            </a:avLst>
          </a:prstGeom>
          <a:ln w="27781">
            <a:solidFill>
              <a:srgbClr val="002060">
                <a:alpha val="15999"/>
              </a:srgbClr>
            </a:solidFill>
            <a:prstDash val="solid"/>
          </a:ln>
        </p:spPr>
      </p:sp>
      <p:sp>
        <p:nvSpPr>
          <p:cNvPr id="1124594100" name="Text 27"/>
          <p:cNvSpPr/>
          <p:nvPr/>
        </p:nvSpPr>
        <p:spPr bwMode="auto">
          <a:xfrm>
            <a:off x="1532731" y="9446419"/>
            <a:ext cx="672147" cy="393700"/>
          </a:xfrm>
          <a:prstGeom prst="rect">
            <a:avLst/>
          </a:prstGeom>
          <a:noFill/>
          <a:ln/>
        </p:spPr>
        <p:txBody>
          <a:bodyPr wrap="square" lIns="25400" tIns="25400" rIns="25400" bIns="25400" rtlCol="0" anchor="t">
            <a:normAutofit/>
          </a:bodyPr>
          <a:lstStyle/>
          <a:p>
            <a:pPr marL="0" indent="0" algn="l">
              <a:buNone/>
              <a:defRPr/>
            </a:pPr>
            <a:r>
              <a:rPr lang="en-US" sz="1900" b="1">
                <a:solidFill>
                  <a:srgbClr val="DB5817"/>
                </a:solidFill>
                <a:latin typeface="Arial"/>
                <a:ea typeface="Arial"/>
                <a:cs typeface="Arial"/>
              </a:rPr>
              <a:t>Docs</a:t>
            </a:r>
            <a:endParaRPr lang="en-US" sz="1900"/>
          </a:p>
        </p:txBody>
      </p:sp>
      <p:sp>
        <p:nvSpPr>
          <p:cNvPr id="234181493" name="Text 28"/>
          <p:cNvSpPr/>
          <p:nvPr/>
        </p:nvSpPr>
        <p:spPr bwMode="auto">
          <a:xfrm>
            <a:off x="2262029" y="9457531"/>
            <a:ext cx="7040848" cy="371475"/>
          </a:xfrm>
          <a:prstGeom prst="rect">
            <a:avLst/>
          </a:prstGeom>
          <a:noFill/>
          <a:ln/>
        </p:spPr>
        <p:txBody>
          <a:bodyPr wrap="square" lIns="0" tIns="0" rIns="0" bIns="0" rtlCol="0" anchor="t">
            <a:normAutofit/>
          </a:bodyPr>
          <a:lstStyle/>
          <a:p>
            <a:pPr marL="0" indent="0" algn="l">
              <a:buNone/>
              <a:defRPr/>
            </a:pPr>
            <a:r>
              <a:rPr lang="en-US" sz="1900">
                <a:solidFill>
                  <a:srgbClr val="002060"/>
                </a:solidFill>
                <a:latin typeface="Arial"/>
                <a:ea typeface="Arial"/>
                <a:cs typeface="Arial"/>
              </a:rPr>
              <a:t>Toolkit — IP Addresses &amp; Your Network · Direct Ethernet link</a:t>
            </a:r>
            <a:endParaRPr lang="en-US" sz="1900"/>
          </a:p>
        </p:txBody>
      </p:sp>
      <p:pic>
        <p:nvPicPr>
          <p:cNvPr id="2030988743" name="Image 1" descr="preencoded.png"/>
          <p:cNvPicPr>
            <a:picLocks noChangeAspect="1"/>
          </p:cNvPicPr>
          <p:nvPr/>
        </p:nvPicPr>
        <p:blipFill rotWithShape="1">
          <a:blip r:embed="rId4"/>
          <a:stretch/>
        </p:blipFill>
        <p:spPr bwMode="auto">
          <a:xfrm>
            <a:off x="17442339" y="9561512"/>
            <a:ext cx="217011" cy="34448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5">
    <p:bg>
      <p:bgPr shadeToTitle="0">
        <a:solidFill>
          <a:srgbClr val="FFFFFF"/>
        </a:solidFill>
      </p:bgPr>
    </p:bg>
    <p:spTree>
      <p:nvGrpSpPr>
        <p:cNvPr id="1" name=""/>
        <p:cNvGrpSpPr/>
        <p:nvPr/>
      </p:nvGrpSpPr>
      <p:grpSpPr bwMode="auto">
        <a:xfrm>
          <a:off x="0" y="0"/>
          <a:ext cx="0" cy="0"/>
          <a:chOff x="0" y="0"/>
          <a:chExt cx="0" cy="0"/>
        </a:xfrm>
      </p:grpSpPr>
      <p:sp>
        <p:nvSpPr>
          <p:cNvPr id="36400257" name="Shape 0"/>
          <p:cNvSpPr/>
          <p:nvPr/>
        </p:nvSpPr>
        <p:spPr bwMode="auto">
          <a:xfrm>
            <a:off x="971550" y="0"/>
            <a:ext cx="28575" cy="10287000"/>
          </a:xfrm>
          <a:prstGeom prst="rect">
            <a:avLst/>
          </a:prstGeom>
          <a:solidFill>
            <a:srgbClr val="002060">
              <a:alpha val="15999"/>
            </a:srgbClr>
          </a:solidFill>
          <a:ln/>
        </p:spPr>
      </p:sp>
      <p:sp>
        <p:nvSpPr>
          <p:cNvPr id="1837977042" name="Shape 1"/>
          <p:cNvSpPr/>
          <p:nvPr/>
        </p:nvSpPr>
        <p:spPr bwMode="auto">
          <a:xfrm>
            <a:off x="971550" y="1009650"/>
            <a:ext cx="16687800" cy="28575"/>
          </a:xfrm>
          <a:prstGeom prst="rect">
            <a:avLst/>
          </a:prstGeom>
          <a:solidFill>
            <a:srgbClr val="002060">
              <a:alpha val="15999"/>
            </a:srgbClr>
          </a:solidFill>
          <a:ln/>
        </p:spPr>
      </p:sp>
      <p:pic>
        <p:nvPicPr>
          <p:cNvPr id="1507219077" name="Image 0" descr="preencoded.png"/>
          <p:cNvPicPr>
            <a:picLocks noChangeAspect="1"/>
          </p:cNvPicPr>
          <p:nvPr/>
        </p:nvPicPr>
        <p:blipFill rotWithShape="1">
          <a:blip r:embed="rId3"/>
          <a:stretch/>
        </p:blipFill>
        <p:spPr bwMode="auto">
          <a:xfrm>
            <a:off x="1257300" y="209550"/>
            <a:ext cx="779621" cy="647700"/>
          </a:xfrm>
          <a:prstGeom prst="rect">
            <a:avLst/>
          </a:prstGeom>
        </p:spPr>
      </p:pic>
      <p:sp>
        <p:nvSpPr>
          <p:cNvPr id="2005385998" name="Text 2"/>
          <p:cNvSpPr/>
          <p:nvPr/>
        </p:nvSpPr>
        <p:spPr bwMode="auto">
          <a:xfrm>
            <a:off x="14455616" y="400050"/>
            <a:ext cx="3524107" cy="393700"/>
          </a:xfrm>
          <a:prstGeom prst="rect">
            <a:avLst/>
          </a:prstGeom>
          <a:noFill/>
          <a:ln/>
        </p:spPr>
        <p:txBody>
          <a:bodyPr wrap="square" lIns="25400" tIns="25400" rIns="25400" bIns="25400" rtlCol="0" anchor="t">
            <a:normAutofit/>
          </a:bodyPr>
          <a:lstStyle/>
          <a:p>
            <a:pPr marL="0" indent="0" algn="l">
              <a:buNone/>
              <a:defRPr/>
            </a:pPr>
            <a:r>
              <a:rPr lang="en-US" sz="1900" spc="75">
                <a:solidFill>
                  <a:srgbClr val="DB5817"/>
                </a:solidFill>
                <a:latin typeface="Arial"/>
                <a:ea typeface="Arial"/>
                <a:cs typeface="Arial"/>
              </a:rPr>
              <a:t>www.centex-sarawak.my</a:t>
            </a:r>
            <a:endParaRPr lang="en-US" sz="1900"/>
          </a:p>
        </p:txBody>
      </p:sp>
      <p:sp>
        <p:nvSpPr>
          <p:cNvPr id="304764108" name="Shape 3"/>
          <p:cNvSpPr/>
          <p:nvPr/>
        </p:nvSpPr>
        <p:spPr bwMode="auto">
          <a:xfrm>
            <a:off x="1257300" y="1905000"/>
            <a:ext cx="617537" cy="530225"/>
          </a:xfrm>
          <a:prstGeom prst="roundRect">
            <a:avLst>
              <a:gd name="adj" fmla="val 14371"/>
            </a:avLst>
          </a:prstGeom>
          <a:solidFill>
            <a:srgbClr val="DB5817"/>
          </a:solidFill>
          <a:ln/>
        </p:spPr>
      </p:sp>
      <p:sp>
        <p:nvSpPr>
          <p:cNvPr id="1724228949" name="Text 4"/>
          <p:cNvSpPr/>
          <p:nvPr/>
        </p:nvSpPr>
        <p:spPr bwMode="auto">
          <a:xfrm>
            <a:off x="1466849" y="1981200"/>
            <a:ext cx="274637" cy="415925"/>
          </a:xfrm>
          <a:prstGeom prst="rect">
            <a:avLst/>
          </a:prstGeom>
          <a:noFill/>
          <a:ln/>
        </p:spPr>
        <p:txBody>
          <a:bodyPr wrap="square" lIns="25400" tIns="25400" rIns="25400" bIns="25400" rtlCol="0" anchor="t">
            <a:normAutofit/>
          </a:bodyPr>
          <a:lstStyle/>
          <a:p>
            <a:pPr marL="0" indent="0" algn="l">
              <a:buNone/>
              <a:defRPr/>
            </a:pPr>
            <a:r>
              <a:rPr lang="en-US" sz="2550">
                <a:solidFill>
                  <a:srgbClr val="FFFFFF"/>
                </a:solidFill>
                <a:latin typeface="Arial"/>
                <a:ea typeface="Arial"/>
                <a:cs typeface="Arial"/>
              </a:rPr>
              <a:t>B</a:t>
            </a:r>
            <a:endParaRPr lang="en-US" sz="2550"/>
          </a:p>
        </p:txBody>
      </p:sp>
      <p:sp>
        <p:nvSpPr>
          <p:cNvPr id="1791255272" name="Text 5"/>
          <p:cNvSpPr/>
          <p:nvPr/>
        </p:nvSpPr>
        <p:spPr bwMode="auto">
          <a:xfrm>
            <a:off x="2084387" y="1983899"/>
            <a:ext cx="2819146" cy="410369"/>
          </a:xfrm>
          <a:prstGeom prst="rect">
            <a:avLst/>
          </a:prstGeom>
          <a:noFill/>
          <a:ln/>
        </p:spPr>
        <p:txBody>
          <a:bodyPr wrap="square" lIns="25400" tIns="25400" rIns="25400" bIns="25400" rtlCol="0" anchor="t">
            <a:normAutofit/>
          </a:bodyPr>
          <a:lstStyle/>
          <a:p>
            <a:pPr marL="0" indent="0" algn="l">
              <a:buNone/>
              <a:defRPr/>
            </a:pPr>
            <a:r>
              <a:rPr lang="en-US" sz="1950" b="1" spc="311">
                <a:solidFill>
                  <a:srgbClr val="DB5817"/>
                </a:solidFill>
                <a:latin typeface="Arial"/>
                <a:ea typeface="Arial"/>
                <a:cs typeface="Arial"/>
              </a:rPr>
              <a:t>ROUTE B · STEP 1</a:t>
            </a:r>
            <a:endParaRPr lang="en-US" sz="1950"/>
          </a:p>
        </p:txBody>
      </p:sp>
      <p:sp>
        <p:nvSpPr>
          <p:cNvPr id="1596555578" name="Text 6"/>
          <p:cNvSpPr/>
          <p:nvPr/>
        </p:nvSpPr>
        <p:spPr bwMode="auto">
          <a:xfrm>
            <a:off x="1257300" y="2606675"/>
            <a:ext cx="17665065" cy="805497"/>
          </a:xfrm>
          <a:prstGeom prst="rect">
            <a:avLst/>
          </a:prstGeom>
          <a:noFill/>
          <a:ln/>
        </p:spPr>
        <p:txBody>
          <a:bodyPr wrap="square" lIns="25400" tIns="25400" rIns="25400" bIns="25400" rtlCol="0" anchor="t">
            <a:normAutofit/>
          </a:bodyPr>
          <a:lstStyle/>
          <a:p>
            <a:pPr marL="0" indent="0" algn="l">
              <a:lnSpc>
                <a:spcPct val="94599"/>
              </a:lnSpc>
              <a:buNone/>
              <a:defRPr/>
            </a:pPr>
            <a:r>
              <a:rPr lang="en-US" sz="5700" b="1" spc="-57">
                <a:solidFill>
                  <a:srgbClr val="002060"/>
                </a:solidFill>
                <a:latin typeface="Arial"/>
                <a:ea typeface="Arial"/>
                <a:cs typeface="Arial"/>
              </a:rPr>
              <a:t>Find your Ethernet port's name</a:t>
            </a:r>
            <a:endParaRPr lang="en-US" sz="5700"/>
          </a:p>
        </p:txBody>
      </p:sp>
      <p:sp>
        <p:nvSpPr>
          <p:cNvPr id="315094218" name="Text 7"/>
          <p:cNvSpPr/>
          <p:nvPr/>
        </p:nvSpPr>
        <p:spPr bwMode="auto">
          <a:xfrm>
            <a:off x="1257300" y="3640773"/>
            <a:ext cx="9528201" cy="1478280"/>
          </a:xfrm>
          <a:prstGeom prst="rect">
            <a:avLst/>
          </a:prstGeom>
          <a:noFill/>
          <a:ln/>
        </p:spPr>
        <p:txBody>
          <a:bodyPr wrap="square" lIns="25400" tIns="25400" rIns="25400" bIns="25400" rtlCol="0" anchor="t">
            <a:normAutofit/>
          </a:bodyPr>
          <a:lstStyle/>
          <a:p>
            <a:pPr marL="0" indent="0" algn="l">
              <a:lnSpc>
                <a:spcPct val="123429"/>
              </a:lnSpc>
              <a:buNone/>
              <a:defRPr/>
            </a:pPr>
            <a:r>
              <a:rPr lang="en-US" sz="2700">
                <a:solidFill>
                  <a:srgbClr val="2A3040"/>
                </a:solidFill>
                <a:latin typeface="Arial"/>
                <a:ea typeface="Arial"/>
                <a:cs typeface="Arial"/>
              </a:rPr>
              <a:t>Linux names network ports by hardware, not by a fixed </a:t>
            </a:r>
            <a:r>
              <a:rPr lang="en-US" sz="2550">
                <a:solidFill>
                  <a:srgbClr val="2A3040"/>
                </a:solidFill>
                <a:latin typeface="Courier New"/>
                <a:ea typeface="Courier New"/>
                <a:cs typeface="Courier New"/>
              </a:rPr>
              <a:t>eth0 </a:t>
            </a:r>
            <a:r>
              <a:rPr lang="en-US" sz="2700">
                <a:solidFill>
                  <a:srgbClr val="2A3040"/>
                </a:solidFill>
                <a:latin typeface="Arial"/>
                <a:ea typeface="Arial"/>
                <a:cs typeface="Arial"/>
              </a:rPr>
              <a:t>. You want a name starting with </a:t>
            </a:r>
            <a:r>
              <a:rPr lang="en-US" sz="2550">
                <a:solidFill>
                  <a:srgbClr val="2A3040"/>
                </a:solidFill>
                <a:latin typeface="Courier New"/>
                <a:ea typeface="Courier New"/>
                <a:cs typeface="Courier New"/>
              </a:rPr>
              <a:t>en </a:t>
            </a:r>
            <a:r>
              <a:rPr lang="en-US" sz="2700">
                <a:solidFill>
                  <a:srgbClr val="2A3040"/>
                </a:solidFill>
                <a:latin typeface="Arial"/>
                <a:ea typeface="Arial"/>
                <a:cs typeface="Arial"/>
              </a:rPr>
              <a:t>— never </a:t>
            </a:r>
            <a:r>
              <a:rPr lang="en-US" sz="2550">
                <a:solidFill>
                  <a:srgbClr val="2A3040"/>
                </a:solidFill>
                <a:latin typeface="Courier New"/>
                <a:ea typeface="Courier New"/>
                <a:cs typeface="Courier New"/>
              </a:rPr>
              <a:t>wl </a:t>
            </a:r>
            <a:r>
              <a:rPr lang="en-US" sz="2700">
                <a:solidFill>
                  <a:srgbClr val="2A3040"/>
                </a:solidFill>
                <a:latin typeface="Arial"/>
                <a:ea typeface="Arial"/>
                <a:cs typeface="Arial"/>
              </a:rPr>
              <a:t>, which is the WiFi radio.</a:t>
            </a:r>
            <a:endParaRPr lang="en-US" sz="2700"/>
          </a:p>
        </p:txBody>
      </p:sp>
      <p:sp>
        <p:nvSpPr>
          <p:cNvPr id="1411390919" name="Shape 8"/>
          <p:cNvSpPr/>
          <p:nvPr/>
        </p:nvSpPr>
        <p:spPr bwMode="auto">
          <a:xfrm>
            <a:off x="1257300" y="5328603"/>
            <a:ext cx="16059150" cy="1496854"/>
          </a:xfrm>
          <a:prstGeom prst="roundRect">
            <a:avLst>
              <a:gd name="adj" fmla="val 6363"/>
            </a:avLst>
          </a:prstGeom>
          <a:ln/>
          <a:effectLst>
            <a:outerShdw blurRad="323850" dist="114300" dir="5400000" sx="100000" sy="100000" kx="0" ky="0" algn="bl" rotWithShape="0">
              <a:srgbClr val="002060">
                <a:alpha val="18000"/>
              </a:srgbClr>
            </a:outerShdw>
          </a:effectLst>
        </p:spPr>
      </p:sp>
      <p:sp>
        <p:nvSpPr>
          <p:cNvPr id="1661021215" name="Shape 9"/>
          <p:cNvSpPr/>
          <p:nvPr/>
        </p:nvSpPr>
        <p:spPr bwMode="auto">
          <a:xfrm>
            <a:off x="1257300" y="5328603"/>
            <a:ext cx="16059150" cy="666750"/>
          </a:xfrm>
          <a:prstGeom prst="rect">
            <a:avLst/>
          </a:prstGeom>
          <a:solidFill>
            <a:srgbClr val="5E2750"/>
          </a:solidFill>
          <a:ln/>
        </p:spPr>
      </p:sp>
      <p:sp>
        <p:nvSpPr>
          <p:cNvPr id="1581832876" name="Shape 10"/>
          <p:cNvSpPr/>
          <p:nvPr/>
        </p:nvSpPr>
        <p:spPr bwMode="auto">
          <a:xfrm>
            <a:off x="1524000" y="5461952"/>
            <a:ext cx="1802448" cy="400050"/>
          </a:xfrm>
          <a:prstGeom prst="roundRect">
            <a:avLst>
              <a:gd name="adj" fmla="val 14286"/>
            </a:avLst>
          </a:prstGeom>
          <a:solidFill>
            <a:srgbClr val="FFFFFF"/>
          </a:solidFill>
          <a:ln/>
        </p:spPr>
      </p:sp>
      <p:sp>
        <p:nvSpPr>
          <p:cNvPr id="653963583" name="Text 11"/>
          <p:cNvSpPr/>
          <p:nvPr/>
        </p:nvSpPr>
        <p:spPr bwMode="auto">
          <a:xfrm>
            <a:off x="1714500" y="5519103"/>
            <a:ext cx="1497648" cy="323850"/>
          </a:xfrm>
          <a:prstGeom prst="rect">
            <a:avLst/>
          </a:prstGeom>
          <a:noFill/>
          <a:ln/>
        </p:spPr>
        <p:txBody>
          <a:bodyPr wrap="none" lIns="25400" tIns="25400" rIns="25400" bIns="25400" rtlCol="0" anchor="ctr">
            <a:normAutofit/>
          </a:bodyPr>
          <a:lstStyle/>
          <a:p>
            <a:pPr marL="0" indent="0" algn="l">
              <a:lnSpc>
                <a:spcPct val="104956"/>
              </a:lnSpc>
              <a:buNone/>
              <a:defRPr/>
            </a:pPr>
            <a:r>
              <a:rPr lang="en-US" sz="1900" b="1">
                <a:solidFill>
                  <a:srgbClr val="772953"/>
                </a:solidFill>
                <a:latin typeface="Arial"/>
                <a:ea typeface="Arial"/>
                <a:cs typeface="Arial"/>
              </a:rPr>
              <a:t>Your device</a:t>
            </a:r>
            <a:endParaRPr lang="en-US" sz="1900"/>
          </a:p>
        </p:txBody>
      </p:sp>
      <p:sp>
        <p:nvSpPr>
          <p:cNvPr id="581428122" name="Text 12"/>
          <p:cNvSpPr/>
          <p:nvPr/>
        </p:nvSpPr>
        <p:spPr bwMode="auto">
          <a:xfrm>
            <a:off x="3535998" y="5489734"/>
            <a:ext cx="4826810" cy="382587"/>
          </a:xfrm>
          <a:prstGeom prst="rect">
            <a:avLst/>
          </a:prstGeom>
          <a:noFill/>
          <a:ln/>
        </p:spPr>
        <p:txBody>
          <a:bodyPr wrap="square" lIns="25400" tIns="25400" rIns="25400" bIns="25400" rtlCol="0" anchor="t">
            <a:normAutofit/>
          </a:bodyPr>
          <a:lstStyle/>
          <a:p>
            <a:pPr marL="0" indent="0" algn="l">
              <a:buNone/>
              <a:defRPr/>
            </a:pPr>
            <a:r>
              <a:rPr lang="en-US" sz="1800">
                <a:solidFill>
                  <a:srgbClr val="FFFFFF">
                    <a:alpha val="82000"/>
                  </a:srgbClr>
                </a:solidFill>
                <a:latin typeface="Arial"/>
                <a:ea typeface="Arial"/>
                <a:cs typeface="Arial"/>
              </a:rPr>
              <a:t>Look for the row where TYPE is ethernet</a:t>
            </a:r>
            <a:endParaRPr lang="en-US" sz="1800"/>
          </a:p>
        </p:txBody>
      </p:sp>
      <p:sp>
        <p:nvSpPr>
          <p:cNvPr id="1898415655" name="Shape 13"/>
          <p:cNvSpPr/>
          <p:nvPr/>
        </p:nvSpPr>
        <p:spPr bwMode="auto">
          <a:xfrm>
            <a:off x="1257300" y="5995353"/>
            <a:ext cx="16059150" cy="830104"/>
          </a:xfrm>
          <a:prstGeom prst="rect">
            <a:avLst/>
          </a:prstGeom>
          <a:solidFill>
            <a:srgbClr val="0E1013"/>
          </a:solidFill>
          <a:ln/>
        </p:spPr>
      </p:sp>
      <p:sp>
        <p:nvSpPr>
          <p:cNvPr id="1534260909" name="Shape 14"/>
          <p:cNvSpPr/>
          <p:nvPr/>
        </p:nvSpPr>
        <p:spPr bwMode="auto">
          <a:xfrm>
            <a:off x="1257300" y="5995353"/>
            <a:ext cx="111125" cy="830104"/>
          </a:xfrm>
          <a:prstGeom prst="rect">
            <a:avLst/>
          </a:prstGeom>
          <a:solidFill>
            <a:srgbClr val="772953"/>
          </a:solidFill>
          <a:ln/>
        </p:spPr>
      </p:sp>
      <p:sp>
        <p:nvSpPr>
          <p:cNvPr id="1718659301" name="Text 15"/>
          <p:cNvSpPr/>
          <p:nvPr/>
        </p:nvSpPr>
        <p:spPr bwMode="auto">
          <a:xfrm>
            <a:off x="1654175" y="6223953"/>
            <a:ext cx="15858299" cy="411004"/>
          </a:xfrm>
          <a:prstGeom prst="rect">
            <a:avLst/>
          </a:prstGeom>
          <a:noFill/>
          <a:ln/>
        </p:spPr>
        <p:txBody>
          <a:bodyPr wrap="square" lIns="25400" tIns="25400" rIns="25400" bIns="25400" rtlCol="0" anchor="t">
            <a:normAutofit/>
          </a:bodyPr>
          <a:lstStyle/>
          <a:p>
            <a:pPr marL="0" indent="0" algn="l">
              <a:lnSpc>
                <a:spcPct val="126631"/>
              </a:lnSpc>
              <a:buNone/>
              <a:defRPr/>
            </a:pPr>
            <a:r>
              <a:rPr lang="en-US" sz="2050">
                <a:solidFill>
                  <a:srgbClr val="7FD1A6"/>
                </a:solidFill>
                <a:latin typeface="Courier New"/>
                <a:ea typeface="Courier New"/>
                <a:cs typeface="Courier New"/>
              </a:rPr>
              <a:t>$</a:t>
            </a:r>
            <a:r>
              <a:rPr lang="en-US" sz="2050">
                <a:solidFill>
                  <a:srgbClr val="F2F4F7"/>
                </a:solidFill>
                <a:highlight>
                  <a:srgbClr val="0E1013"/>
                </a:highlight>
                <a:latin typeface="Courier New"/>
                <a:ea typeface="Courier New"/>
                <a:cs typeface="Courier New"/>
              </a:rPr>
              <a:t> nmcli device status</a:t>
            </a:r>
            <a:endParaRPr lang="en-US" sz="2050"/>
          </a:p>
        </p:txBody>
      </p:sp>
      <p:sp>
        <p:nvSpPr>
          <p:cNvPr id="221323959" name="Shape 16"/>
          <p:cNvSpPr/>
          <p:nvPr/>
        </p:nvSpPr>
        <p:spPr bwMode="auto">
          <a:xfrm>
            <a:off x="1257300" y="7111206"/>
            <a:ext cx="15160625" cy="1230630"/>
          </a:xfrm>
          <a:prstGeom prst="roundRect">
            <a:avLst>
              <a:gd name="adj" fmla="val 6192"/>
            </a:avLst>
          </a:prstGeom>
          <a:solidFill>
            <a:srgbClr val="F3E2CD"/>
          </a:solidFill>
          <a:ln/>
        </p:spPr>
      </p:sp>
      <p:sp>
        <p:nvSpPr>
          <p:cNvPr id="1446161649" name="Shape 17"/>
          <p:cNvSpPr/>
          <p:nvPr/>
        </p:nvSpPr>
        <p:spPr bwMode="auto">
          <a:xfrm>
            <a:off x="1257300" y="7111206"/>
            <a:ext cx="111125" cy="1230630"/>
          </a:xfrm>
          <a:prstGeom prst="rect">
            <a:avLst/>
          </a:prstGeom>
          <a:solidFill>
            <a:srgbClr val="002060"/>
          </a:solidFill>
          <a:ln/>
        </p:spPr>
      </p:sp>
      <p:sp>
        <p:nvSpPr>
          <p:cNvPr id="992284278" name="Text 18"/>
          <p:cNvSpPr/>
          <p:nvPr/>
        </p:nvSpPr>
        <p:spPr bwMode="auto">
          <a:xfrm>
            <a:off x="1654175" y="7339806"/>
            <a:ext cx="347504" cy="426720"/>
          </a:xfrm>
          <a:prstGeom prst="rect">
            <a:avLst/>
          </a:prstGeom>
          <a:noFill/>
          <a:ln/>
        </p:spPr>
        <p:txBody>
          <a:bodyPr wrap="square" lIns="25400" tIns="25400" rIns="25400" bIns="25400" rtlCol="0" anchor="t">
            <a:normAutofit/>
          </a:bodyPr>
          <a:lstStyle/>
          <a:p>
            <a:pPr marL="0" indent="0" algn="l">
              <a:lnSpc>
                <a:spcPct val="105973"/>
              </a:lnSpc>
              <a:buNone/>
              <a:defRPr/>
            </a:pPr>
            <a:r>
              <a:rPr lang="en-US" sz="2550">
                <a:solidFill>
                  <a:srgbClr val="002060"/>
                </a:solidFill>
                <a:latin typeface="Arial"/>
                <a:ea typeface="Arial"/>
                <a:cs typeface="Arial"/>
              </a:rPr>
              <a:t>→</a:t>
            </a:r>
            <a:endParaRPr lang="en-US" sz="2550"/>
          </a:p>
        </p:txBody>
      </p:sp>
      <p:sp>
        <p:nvSpPr>
          <p:cNvPr id="1623262604" name="Text 19"/>
          <p:cNvSpPr/>
          <p:nvPr/>
        </p:nvSpPr>
        <p:spPr bwMode="auto">
          <a:xfrm>
            <a:off x="2135029" y="7339806"/>
            <a:ext cx="14417060" cy="811530"/>
          </a:xfrm>
          <a:prstGeom prst="rect">
            <a:avLst/>
          </a:prstGeom>
          <a:noFill/>
          <a:ln/>
        </p:spPr>
        <p:txBody>
          <a:bodyPr wrap="square" lIns="25400" tIns="25400" rIns="25400" bIns="25400" rtlCol="0" anchor="t">
            <a:normAutofit/>
          </a:bodyPr>
          <a:lstStyle/>
          <a:p>
            <a:pPr marL="0" indent="0" algn="l">
              <a:lnSpc>
                <a:spcPct val="122105"/>
              </a:lnSpc>
              <a:buNone/>
              <a:defRPr/>
            </a:pPr>
            <a:r>
              <a:rPr lang="en-US" sz="2200">
                <a:solidFill>
                  <a:srgbClr val="14161C"/>
                </a:solidFill>
                <a:latin typeface="Arial"/>
                <a:ea typeface="Arial"/>
                <a:cs typeface="Arial"/>
              </a:rPr>
              <a:t>Before the cable is in, that row reads </a:t>
            </a:r>
            <a:r>
              <a:rPr lang="en-US" sz="2050">
                <a:solidFill>
                  <a:srgbClr val="14161C"/>
                </a:solidFill>
                <a:latin typeface="Courier New"/>
                <a:ea typeface="Courier New"/>
                <a:cs typeface="Courier New"/>
              </a:rPr>
              <a:t>unavailable</a:t>
            </a:r>
            <a:r>
              <a:rPr lang="en-US" sz="2200">
                <a:solidFill>
                  <a:srgbClr val="14161C"/>
                </a:solidFill>
                <a:latin typeface="Arial"/>
                <a:ea typeface="Arial"/>
                <a:cs typeface="Arial"/>
              </a:rPr>
              <a:t>. Plug both ends in and run it again — it flips to </a:t>
            </a:r>
            <a:r>
              <a:rPr lang="en-US" sz="2050">
                <a:solidFill>
                  <a:srgbClr val="14161C"/>
                </a:solidFill>
                <a:latin typeface="Courier New"/>
                <a:ea typeface="Courier New"/>
                <a:cs typeface="Courier New"/>
              </a:rPr>
              <a:t>connecting </a:t>
            </a:r>
            <a:r>
              <a:rPr lang="en-US" sz="2200">
                <a:solidFill>
                  <a:srgbClr val="14161C"/>
                </a:solidFill>
                <a:latin typeface="Arial"/>
                <a:ea typeface="Arial"/>
                <a:cs typeface="Arial"/>
              </a:rPr>
              <a:t>or </a:t>
            </a:r>
            <a:r>
              <a:rPr lang="en-US" sz="2050">
                <a:solidFill>
                  <a:srgbClr val="14161C"/>
                </a:solidFill>
                <a:latin typeface="Courier New"/>
                <a:ea typeface="Courier New"/>
                <a:cs typeface="Courier New"/>
              </a:rPr>
              <a:t>disconnected</a:t>
            </a:r>
            <a:r>
              <a:rPr lang="en-US" sz="2200">
                <a:solidFill>
                  <a:srgbClr val="14161C"/>
                </a:solidFill>
                <a:latin typeface="Arial"/>
                <a:ea typeface="Arial"/>
                <a:cs typeface="Arial"/>
              </a:rPr>
              <a:t>. That is your interface.</a:t>
            </a:r>
            <a:endParaRPr lang="en-US" sz="2200"/>
          </a:p>
        </p:txBody>
      </p:sp>
      <p:sp>
        <p:nvSpPr>
          <p:cNvPr id="1635229642" name="Shape 20"/>
          <p:cNvSpPr/>
          <p:nvPr/>
        </p:nvSpPr>
        <p:spPr bwMode="auto">
          <a:xfrm>
            <a:off x="1257300" y="8627586"/>
            <a:ext cx="15160625" cy="1230630"/>
          </a:xfrm>
          <a:prstGeom prst="roundRect">
            <a:avLst>
              <a:gd name="adj" fmla="val 6192"/>
            </a:avLst>
          </a:prstGeom>
          <a:solidFill>
            <a:srgbClr val="F3E2CD"/>
          </a:solidFill>
          <a:ln/>
        </p:spPr>
      </p:sp>
      <p:sp>
        <p:nvSpPr>
          <p:cNvPr id="297593349" name="Shape 21"/>
          <p:cNvSpPr/>
          <p:nvPr/>
        </p:nvSpPr>
        <p:spPr bwMode="auto">
          <a:xfrm>
            <a:off x="1257300" y="8627586"/>
            <a:ext cx="111125" cy="1230630"/>
          </a:xfrm>
          <a:prstGeom prst="rect">
            <a:avLst/>
          </a:prstGeom>
          <a:solidFill>
            <a:srgbClr val="DB5817"/>
          </a:solidFill>
          <a:ln/>
        </p:spPr>
      </p:sp>
      <p:sp>
        <p:nvSpPr>
          <p:cNvPr id="1265883128" name="Text 22"/>
          <p:cNvSpPr/>
          <p:nvPr/>
        </p:nvSpPr>
        <p:spPr bwMode="auto">
          <a:xfrm>
            <a:off x="1654175" y="8856186"/>
            <a:ext cx="166846" cy="426720"/>
          </a:xfrm>
          <a:prstGeom prst="rect">
            <a:avLst/>
          </a:prstGeom>
          <a:noFill/>
          <a:ln/>
        </p:spPr>
        <p:txBody>
          <a:bodyPr wrap="square" lIns="25400" tIns="25400" rIns="25400" bIns="25400" rtlCol="0" anchor="t">
            <a:normAutofit/>
          </a:bodyPr>
          <a:lstStyle/>
          <a:p>
            <a:pPr marL="0" indent="0" algn="l">
              <a:lnSpc>
                <a:spcPct val="105973"/>
              </a:lnSpc>
              <a:buNone/>
              <a:defRPr/>
            </a:pPr>
            <a:r>
              <a:rPr lang="en-US" sz="2550">
                <a:solidFill>
                  <a:srgbClr val="DB5817"/>
                </a:solidFill>
                <a:latin typeface="Arial"/>
                <a:ea typeface="Arial"/>
                <a:cs typeface="Arial"/>
              </a:rPr>
              <a:t>!</a:t>
            </a:r>
            <a:endParaRPr lang="en-US" sz="2550"/>
          </a:p>
        </p:txBody>
      </p:sp>
      <p:sp>
        <p:nvSpPr>
          <p:cNvPr id="331647247" name="Text 23"/>
          <p:cNvSpPr/>
          <p:nvPr/>
        </p:nvSpPr>
        <p:spPr bwMode="auto">
          <a:xfrm>
            <a:off x="1954371" y="8856186"/>
            <a:ext cx="14603139" cy="811530"/>
          </a:xfrm>
          <a:prstGeom prst="rect">
            <a:avLst/>
          </a:prstGeom>
          <a:noFill/>
          <a:ln/>
        </p:spPr>
        <p:txBody>
          <a:bodyPr wrap="square" lIns="25400" tIns="25400" rIns="25400" bIns="25400" rtlCol="0" anchor="t">
            <a:normAutofit/>
          </a:bodyPr>
          <a:lstStyle/>
          <a:p>
            <a:pPr marL="0" indent="0" algn="l">
              <a:lnSpc>
                <a:spcPct val="122105"/>
              </a:lnSpc>
              <a:buNone/>
              <a:defRPr/>
            </a:pPr>
            <a:r>
              <a:rPr lang="en-US" sz="2200">
                <a:solidFill>
                  <a:srgbClr val="14161C"/>
                </a:solidFill>
                <a:latin typeface="Arial"/>
                <a:ea typeface="Arial"/>
                <a:cs typeface="Arial"/>
              </a:rPr>
              <a:t>Two ethernet rows, from a built-in port plus a USB dongle? Unplug, re-run, plug back in — </a:t>
            </a:r>
            <a:r>
              <a:rPr lang="en-US" sz="2200" b="1">
                <a:solidFill>
                  <a:srgbClr val="002060"/>
                </a:solidFill>
                <a:latin typeface="Arial"/>
                <a:ea typeface="Arial"/>
                <a:cs typeface="Arial"/>
              </a:rPr>
              <a:t>whichever row changes </a:t>
            </a:r>
            <a:r>
              <a:rPr lang="en-US" sz="2200">
                <a:solidFill>
                  <a:srgbClr val="14161C"/>
                </a:solidFill>
                <a:latin typeface="Arial"/>
                <a:ea typeface="Arial"/>
                <a:cs typeface="Arial"/>
              </a:rPr>
              <a:t>is yours.</a:t>
            </a:r>
            <a:endParaRPr lang="en-US" sz="2200"/>
          </a:p>
        </p:txBody>
      </p:sp>
      <p:pic>
        <p:nvPicPr>
          <p:cNvPr id="290473454" name="Image 1" descr="preencoded.png"/>
          <p:cNvPicPr>
            <a:picLocks noChangeAspect="1"/>
          </p:cNvPicPr>
          <p:nvPr/>
        </p:nvPicPr>
        <p:blipFill rotWithShape="1">
          <a:blip r:embed="rId4"/>
          <a:stretch/>
        </p:blipFill>
        <p:spPr bwMode="auto">
          <a:xfrm>
            <a:off x="17442656" y="9561512"/>
            <a:ext cx="216694" cy="34448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6">
    <p:bg>
      <p:bgPr shadeToTitle="0">
        <a:solidFill>
          <a:srgbClr val="FFFFFF"/>
        </a:solidFill>
      </p:bgPr>
    </p:bg>
    <p:spTree>
      <p:nvGrpSpPr>
        <p:cNvPr id="1" name=""/>
        <p:cNvGrpSpPr/>
        <p:nvPr/>
      </p:nvGrpSpPr>
      <p:grpSpPr bwMode="auto">
        <a:xfrm>
          <a:off x="0" y="0"/>
          <a:ext cx="0" cy="0"/>
          <a:chOff x="0" y="0"/>
          <a:chExt cx="0" cy="0"/>
        </a:xfrm>
      </p:grpSpPr>
      <p:sp>
        <p:nvSpPr>
          <p:cNvPr id="589612094" name="Shape 0"/>
          <p:cNvSpPr/>
          <p:nvPr/>
        </p:nvSpPr>
        <p:spPr bwMode="auto">
          <a:xfrm>
            <a:off x="971550" y="0"/>
            <a:ext cx="28575" cy="10287000"/>
          </a:xfrm>
          <a:prstGeom prst="rect">
            <a:avLst/>
          </a:prstGeom>
          <a:solidFill>
            <a:srgbClr val="002060">
              <a:alpha val="15999"/>
            </a:srgbClr>
          </a:solidFill>
          <a:ln/>
        </p:spPr>
      </p:sp>
      <p:sp>
        <p:nvSpPr>
          <p:cNvPr id="1732654559" name="Shape 1"/>
          <p:cNvSpPr/>
          <p:nvPr/>
        </p:nvSpPr>
        <p:spPr bwMode="auto">
          <a:xfrm>
            <a:off x="971550" y="1009650"/>
            <a:ext cx="16687800" cy="28575"/>
          </a:xfrm>
          <a:prstGeom prst="rect">
            <a:avLst/>
          </a:prstGeom>
          <a:solidFill>
            <a:srgbClr val="002060">
              <a:alpha val="15999"/>
            </a:srgbClr>
          </a:solidFill>
          <a:ln/>
        </p:spPr>
      </p:sp>
      <p:pic>
        <p:nvPicPr>
          <p:cNvPr id="1702580183" name="Image 0" descr="preencoded.png"/>
          <p:cNvPicPr>
            <a:picLocks noChangeAspect="1"/>
          </p:cNvPicPr>
          <p:nvPr/>
        </p:nvPicPr>
        <p:blipFill rotWithShape="1">
          <a:blip r:embed="rId3"/>
          <a:stretch/>
        </p:blipFill>
        <p:spPr bwMode="auto">
          <a:xfrm>
            <a:off x="1257300" y="209550"/>
            <a:ext cx="779621" cy="647700"/>
          </a:xfrm>
          <a:prstGeom prst="rect">
            <a:avLst/>
          </a:prstGeom>
        </p:spPr>
      </p:pic>
      <p:sp>
        <p:nvSpPr>
          <p:cNvPr id="920227814" name="Text 2"/>
          <p:cNvSpPr/>
          <p:nvPr/>
        </p:nvSpPr>
        <p:spPr bwMode="auto">
          <a:xfrm>
            <a:off x="14455616" y="400050"/>
            <a:ext cx="3524107" cy="393700"/>
          </a:xfrm>
          <a:prstGeom prst="rect">
            <a:avLst/>
          </a:prstGeom>
          <a:noFill/>
          <a:ln/>
        </p:spPr>
        <p:txBody>
          <a:bodyPr wrap="square" lIns="25400" tIns="25400" rIns="25400" bIns="25400" rtlCol="0" anchor="t">
            <a:normAutofit/>
          </a:bodyPr>
          <a:lstStyle/>
          <a:p>
            <a:pPr marL="0" indent="0" algn="l">
              <a:buNone/>
              <a:defRPr/>
            </a:pPr>
            <a:r>
              <a:rPr lang="en-US" sz="1900" spc="75">
                <a:solidFill>
                  <a:srgbClr val="DB5817"/>
                </a:solidFill>
                <a:latin typeface="Arial"/>
                <a:ea typeface="Arial"/>
                <a:cs typeface="Arial"/>
              </a:rPr>
              <a:t>www.centex-sarawak.my</a:t>
            </a:r>
            <a:endParaRPr lang="en-US" sz="1900"/>
          </a:p>
        </p:txBody>
      </p:sp>
      <p:sp>
        <p:nvSpPr>
          <p:cNvPr id="1157417290" name="Shape 3"/>
          <p:cNvSpPr/>
          <p:nvPr/>
        </p:nvSpPr>
        <p:spPr bwMode="auto">
          <a:xfrm>
            <a:off x="1257300" y="1905000"/>
            <a:ext cx="617537" cy="530225"/>
          </a:xfrm>
          <a:prstGeom prst="roundRect">
            <a:avLst>
              <a:gd name="adj" fmla="val 14371"/>
            </a:avLst>
          </a:prstGeom>
          <a:solidFill>
            <a:srgbClr val="DB5817"/>
          </a:solidFill>
          <a:ln/>
        </p:spPr>
      </p:sp>
      <p:sp>
        <p:nvSpPr>
          <p:cNvPr id="871044913" name="Text 4"/>
          <p:cNvSpPr/>
          <p:nvPr/>
        </p:nvSpPr>
        <p:spPr bwMode="auto">
          <a:xfrm>
            <a:off x="1466849" y="1981200"/>
            <a:ext cx="274637" cy="415925"/>
          </a:xfrm>
          <a:prstGeom prst="rect">
            <a:avLst/>
          </a:prstGeom>
          <a:noFill/>
          <a:ln/>
        </p:spPr>
        <p:txBody>
          <a:bodyPr wrap="square" lIns="25400" tIns="25400" rIns="25400" bIns="25400" rtlCol="0" anchor="t">
            <a:normAutofit/>
          </a:bodyPr>
          <a:lstStyle/>
          <a:p>
            <a:pPr marL="0" indent="0" algn="l">
              <a:buNone/>
              <a:defRPr/>
            </a:pPr>
            <a:r>
              <a:rPr lang="en-US" sz="2550">
                <a:solidFill>
                  <a:srgbClr val="FFFFFF"/>
                </a:solidFill>
                <a:latin typeface="Arial"/>
                <a:ea typeface="Arial"/>
                <a:cs typeface="Arial"/>
              </a:rPr>
              <a:t>B</a:t>
            </a:r>
            <a:endParaRPr lang="en-US" sz="2550"/>
          </a:p>
        </p:txBody>
      </p:sp>
      <p:sp>
        <p:nvSpPr>
          <p:cNvPr id="585448141" name="Text 5"/>
          <p:cNvSpPr/>
          <p:nvPr/>
        </p:nvSpPr>
        <p:spPr bwMode="auto">
          <a:xfrm>
            <a:off x="2084387" y="1983899"/>
            <a:ext cx="2876947" cy="410369"/>
          </a:xfrm>
          <a:prstGeom prst="rect">
            <a:avLst/>
          </a:prstGeom>
          <a:noFill/>
          <a:ln/>
        </p:spPr>
        <p:txBody>
          <a:bodyPr wrap="square" lIns="25400" tIns="25400" rIns="25400" bIns="25400" rtlCol="0" anchor="t">
            <a:normAutofit/>
          </a:bodyPr>
          <a:lstStyle/>
          <a:p>
            <a:pPr marL="0" indent="0" algn="l">
              <a:buNone/>
              <a:defRPr/>
            </a:pPr>
            <a:r>
              <a:rPr lang="en-US" sz="1950" b="1" spc="311">
                <a:solidFill>
                  <a:srgbClr val="DB5817"/>
                </a:solidFill>
                <a:latin typeface="Arial"/>
                <a:ea typeface="Arial"/>
                <a:cs typeface="Arial"/>
              </a:rPr>
              <a:t>ROUTE B · STEP 2</a:t>
            </a:r>
            <a:endParaRPr lang="en-US" sz="1950"/>
          </a:p>
        </p:txBody>
      </p:sp>
      <p:sp>
        <p:nvSpPr>
          <p:cNvPr id="1677124974" name="Text 6"/>
          <p:cNvSpPr/>
          <p:nvPr/>
        </p:nvSpPr>
        <p:spPr bwMode="auto">
          <a:xfrm>
            <a:off x="1257300" y="2606675"/>
            <a:ext cx="17665065" cy="805497"/>
          </a:xfrm>
          <a:prstGeom prst="rect">
            <a:avLst/>
          </a:prstGeom>
          <a:noFill/>
          <a:ln/>
        </p:spPr>
        <p:txBody>
          <a:bodyPr wrap="square" lIns="25400" tIns="25400" rIns="25400" bIns="25400" rtlCol="0" anchor="t">
            <a:normAutofit/>
          </a:bodyPr>
          <a:lstStyle/>
          <a:p>
            <a:pPr marL="0" indent="0" algn="l">
              <a:lnSpc>
                <a:spcPct val="94599"/>
              </a:lnSpc>
              <a:buNone/>
              <a:defRPr/>
            </a:pPr>
            <a:r>
              <a:rPr lang="en-US" sz="5700" b="1" spc="-57">
                <a:solidFill>
                  <a:srgbClr val="002060"/>
                </a:solidFill>
                <a:latin typeface="Arial"/>
                <a:ea typeface="Arial"/>
                <a:cs typeface="Arial"/>
              </a:rPr>
              <a:t>Give each end its address</a:t>
            </a:r>
            <a:endParaRPr lang="en-US" sz="5700"/>
          </a:p>
        </p:txBody>
      </p:sp>
      <p:sp>
        <p:nvSpPr>
          <p:cNvPr id="399830369" name="Shape 7"/>
          <p:cNvSpPr/>
          <p:nvPr/>
        </p:nvSpPr>
        <p:spPr bwMode="auto">
          <a:xfrm>
            <a:off x="1257300" y="3621723"/>
            <a:ext cx="16059150" cy="2615565"/>
          </a:xfrm>
          <a:prstGeom prst="roundRect">
            <a:avLst>
              <a:gd name="adj" fmla="val 3642"/>
            </a:avLst>
          </a:prstGeom>
          <a:ln/>
          <a:effectLst>
            <a:outerShdw blurRad="323850" dist="114300" dir="5400000" sx="100000" sy="100000" kx="0" ky="0" algn="bl" rotWithShape="0">
              <a:srgbClr val="002060">
                <a:alpha val="18000"/>
              </a:srgbClr>
            </a:outerShdw>
          </a:effectLst>
        </p:spPr>
      </p:sp>
      <p:sp>
        <p:nvSpPr>
          <p:cNvPr id="1616933208" name="Shape 8"/>
          <p:cNvSpPr/>
          <p:nvPr/>
        </p:nvSpPr>
        <p:spPr bwMode="auto">
          <a:xfrm>
            <a:off x="1257300" y="3621723"/>
            <a:ext cx="16059150" cy="666750"/>
          </a:xfrm>
          <a:prstGeom prst="rect">
            <a:avLst/>
          </a:prstGeom>
          <a:solidFill>
            <a:srgbClr val="5E2750"/>
          </a:solidFill>
          <a:ln/>
        </p:spPr>
      </p:sp>
      <p:sp>
        <p:nvSpPr>
          <p:cNvPr id="1185300596" name="Shape 9"/>
          <p:cNvSpPr/>
          <p:nvPr/>
        </p:nvSpPr>
        <p:spPr bwMode="auto">
          <a:xfrm>
            <a:off x="1524000" y="3755072"/>
            <a:ext cx="1802448" cy="400050"/>
          </a:xfrm>
          <a:prstGeom prst="roundRect">
            <a:avLst>
              <a:gd name="adj" fmla="val 14286"/>
            </a:avLst>
          </a:prstGeom>
          <a:solidFill>
            <a:srgbClr val="FFFFFF"/>
          </a:solidFill>
          <a:ln/>
        </p:spPr>
      </p:sp>
      <p:sp>
        <p:nvSpPr>
          <p:cNvPr id="1771139410" name="Text 10"/>
          <p:cNvSpPr/>
          <p:nvPr/>
        </p:nvSpPr>
        <p:spPr bwMode="auto">
          <a:xfrm>
            <a:off x="1714500" y="3812223"/>
            <a:ext cx="1497648" cy="323850"/>
          </a:xfrm>
          <a:prstGeom prst="rect">
            <a:avLst/>
          </a:prstGeom>
          <a:noFill/>
          <a:ln/>
        </p:spPr>
        <p:txBody>
          <a:bodyPr wrap="none" lIns="25400" tIns="25400" rIns="25400" bIns="25400" rtlCol="0" anchor="ctr">
            <a:normAutofit/>
          </a:bodyPr>
          <a:lstStyle/>
          <a:p>
            <a:pPr marL="0" indent="0" algn="l">
              <a:lnSpc>
                <a:spcPct val="104956"/>
              </a:lnSpc>
              <a:buNone/>
              <a:defRPr/>
            </a:pPr>
            <a:r>
              <a:rPr lang="en-US" sz="1900" b="1">
                <a:solidFill>
                  <a:srgbClr val="772953"/>
                </a:solidFill>
                <a:latin typeface="Arial"/>
                <a:ea typeface="Arial"/>
                <a:cs typeface="Arial"/>
              </a:rPr>
              <a:t>Your device</a:t>
            </a:r>
            <a:endParaRPr lang="en-US" sz="1900"/>
          </a:p>
        </p:txBody>
      </p:sp>
      <p:sp>
        <p:nvSpPr>
          <p:cNvPr id="1332301634" name="Text 11"/>
          <p:cNvSpPr/>
          <p:nvPr/>
        </p:nvSpPr>
        <p:spPr bwMode="auto">
          <a:xfrm>
            <a:off x="3535998" y="3782854"/>
            <a:ext cx="6402451" cy="382588"/>
          </a:xfrm>
          <a:prstGeom prst="rect">
            <a:avLst/>
          </a:prstGeom>
          <a:noFill/>
          <a:ln/>
        </p:spPr>
        <p:txBody>
          <a:bodyPr wrap="square" lIns="25400" tIns="25400" rIns="25400" bIns="25400" rtlCol="0" anchor="t">
            <a:normAutofit/>
          </a:bodyPr>
          <a:lstStyle/>
          <a:p>
            <a:pPr marL="0" indent="0" algn="l">
              <a:buNone/>
              <a:defRPr/>
            </a:pPr>
            <a:r>
              <a:rPr lang="en-US" sz="1800">
                <a:solidFill>
                  <a:srgbClr val="FFFFFF">
                    <a:alpha val="82000"/>
                  </a:srgbClr>
                </a:solidFill>
                <a:latin typeface="Arial"/>
                <a:ea typeface="Arial"/>
                <a:cs typeface="Arial"/>
              </a:rPr>
              <a:t>Do not paste as-is — replace the highlighted name</a:t>
            </a:r>
            <a:endParaRPr lang="en-US" sz="1800"/>
          </a:p>
        </p:txBody>
      </p:sp>
      <p:sp>
        <p:nvSpPr>
          <p:cNvPr id="1677750536" name="Shape 12"/>
          <p:cNvSpPr/>
          <p:nvPr/>
        </p:nvSpPr>
        <p:spPr bwMode="auto">
          <a:xfrm>
            <a:off x="1257300" y="4288473"/>
            <a:ext cx="16059150" cy="1948815"/>
          </a:xfrm>
          <a:prstGeom prst="rect">
            <a:avLst/>
          </a:prstGeom>
          <a:solidFill>
            <a:srgbClr val="0E1013"/>
          </a:solidFill>
          <a:ln/>
        </p:spPr>
      </p:sp>
      <p:sp>
        <p:nvSpPr>
          <p:cNvPr id="2000670176" name="Shape 13"/>
          <p:cNvSpPr/>
          <p:nvPr/>
        </p:nvSpPr>
        <p:spPr bwMode="auto">
          <a:xfrm>
            <a:off x="1257300" y="4288473"/>
            <a:ext cx="111125" cy="1948815"/>
          </a:xfrm>
          <a:prstGeom prst="rect">
            <a:avLst/>
          </a:prstGeom>
          <a:solidFill>
            <a:srgbClr val="772953"/>
          </a:solidFill>
          <a:ln/>
        </p:spPr>
      </p:sp>
      <p:sp>
        <p:nvSpPr>
          <p:cNvPr id="1636929221" name="Text 14"/>
          <p:cNvSpPr/>
          <p:nvPr/>
        </p:nvSpPr>
        <p:spPr bwMode="auto">
          <a:xfrm>
            <a:off x="1566068" y="4498022"/>
            <a:ext cx="15858299" cy="1529715"/>
          </a:xfrm>
          <a:prstGeom prst="rect">
            <a:avLst/>
          </a:prstGeom>
          <a:noFill/>
          <a:ln/>
        </p:spPr>
        <p:txBody>
          <a:bodyPr vertOverflow="overflow" horzOverflow="overflow" vert="horz" wrap="square" lIns="25399" tIns="25399" rIns="25399" bIns="25399" numCol="1" spcCol="0" rtlCol="0" fromWordArt="0" anchor="t" anchorCtr="0" forceAA="0" upright="0" compatLnSpc="0">
            <a:normAutofit fontScale="95000" lnSpcReduction="1000"/>
          </a:bodyPr>
          <a:lstStyle/>
          <a:p>
            <a:pPr marL="0" indent="0" algn="l">
              <a:lnSpc>
                <a:spcPct val="126631"/>
              </a:lnSpc>
              <a:buNone/>
              <a:defRPr/>
            </a:pPr>
            <a:r>
              <a:rPr lang="en-US" sz="2050">
                <a:solidFill>
                  <a:srgbClr val="7FD1A6"/>
                </a:solidFill>
                <a:latin typeface="Courier New"/>
                <a:ea typeface="Courier New"/>
                <a:cs typeface="Courier New"/>
              </a:rPr>
              <a:t>$ </a:t>
            </a:r>
            <a:r>
              <a:rPr lang="en-US" sz="2050">
                <a:solidFill>
                  <a:srgbClr val="F2F4F7"/>
                </a:solidFill>
                <a:highlight>
                  <a:srgbClr val="0E1013"/>
                </a:highlight>
                <a:latin typeface="Courier New"/>
                <a:ea typeface="Courier New"/>
                <a:cs typeface="Courier New"/>
              </a:rPr>
              <a:t> sudo nmcli connection add type ethernet con-name robot-link </a:t>
            </a:r>
            <a:r>
              <a:rPr lang="en-US" sz="2050">
                <a:solidFill>
                  <a:srgbClr val="F2F4F7"/>
                </a:solidFill>
                <a:highlight>
                  <a:srgbClr val="0E1013"/>
                </a:highlight>
                <a:latin typeface="Courier New"/>
                <a:ea typeface="Courier New"/>
                <a:cs typeface="Courier New"/>
              </a:rPr>
              <a:t>ifname  </a:t>
            </a:r>
            <a:r>
              <a:rPr lang="en-US" sz="2050">
                <a:solidFill>
                  <a:srgbClr val="F5A97F"/>
                </a:solidFill>
                <a:latin typeface="Courier New"/>
                <a:ea typeface="Courier New"/>
                <a:cs typeface="Courier New"/>
              </a:rPr>
              <a:t>&lt;the en… name from the last slide&gt; </a:t>
            </a:r>
            <a:r>
              <a:rPr lang="en-US" sz="2050">
                <a:solidFill>
                  <a:srgbClr val="F2F4F7"/>
                </a:solidFill>
                <a:highlight>
                  <a:srgbClr val="0E1013"/>
                </a:highlight>
                <a:latin typeface="Courier New"/>
                <a:ea typeface="Courier New"/>
                <a:cs typeface="Courier New"/>
              </a:rPr>
              <a:t> \</a:t>
            </a:r>
            <a:endParaRPr lang="en-US" sz="2050"/>
          </a:p>
          <a:p>
            <a:pPr marL="0" indent="0" algn="l">
              <a:lnSpc>
                <a:spcPct val="126631"/>
              </a:lnSpc>
              <a:buNone/>
              <a:defRPr/>
            </a:pPr>
            <a:r>
              <a:rPr lang="en-US" sz="2050">
                <a:solidFill>
                  <a:srgbClr val="F2F4F7"/>
                </a:solidFill>
                <a:highlight>
                  <a:srgbClr val="0E1013"/>
                </a:highlight>
                <a:latin typeface="Courier New"/>
                <a:ea typeface="Courier New"/>
                <a:cs typeface="Courier New"/>
              </a:rPr>
              <a:t>    ipv4.method manual ipv4.addresses 10.0.0.250/24 connection.autoconnect yes </a:t>
            </a:r>
            <a:endParaRPr lang="en-US" sz="2050"/>
          </a:p>
          <a:p>
            <a:pPr marL="0" indent="0" algn="l">
              <a:lnSpc>
                <a:spcPct val="126631"/>
              </a:lnSpc>
              <a:buNone/>
              <a:defRPr/>
            </a:pPr>
            <a:r>
              <a:rPr lang="en-US" sz="2050">
                <a:solidFill>
                  <a:srgbClr val="7FD1A6"/>
                </a:solidFill>
                <a:latin typeface="Courier New"/>
                <a:ea typeface="Courier New"/>
                <a:cs typeface="Courier New"/>
              </a:rPr>
              <a:t>$</a:t>
            </a:r>
            <a:r>
              <a:rPr lang="en-US" sz="2050">
                <a:solidFill>
                  <a:srgbClr val="F2F4F7"/>
                </a:solidFill>
                <a:highlight>
                  <a:srgbClr val="0E1013"/>
                </a:highlight>
                <a:latin typeface="Courier New"/>
                <a:ea typeface="Courier New"/>
                <a:cs typeface="Courier New"/>
              </a:rPr>
              <a:t> sudo nmcli connection up robot-link</a:t>
            </a:r>
            <a:endParaRPr lang="en-US" sz="2050"/>
          </a:p>
        </p:txBody>
      </p:sp>
      <p:sp>
        <p:nvSpPr>
          <p:cNvPr id="910255979" name="Shape 15"/>
          <p:cNvSpPr/>
          <p:nvPr/>
        </p:nvSpPr>
        <p:spPr bwMode="auto">
          <a:xfrm>
            <a:off x="1257300" y="6484937"/>
            <a:ext cx="16059150" cy="2242661"/>
          </a:xfrm>
          <a:prstGeom prst="roundRect">
            <a:avLst>
              <a:gd name="adj" fmla="val 4247"/>
            </a:avLst>
          </a:prstGeom>
          <a:ln/>
          <a:effectLst>
            <a:outerShdw blurRad="323850" dist="114300" dir="5400000" sx="100000" sy="100000" kx="0" ky="0" algn="bl" rotWithShape="0">
              <a:srgbClr val="002060">
                <a:alpha val="18000"/>
              </a:srgbClr>
            </a:outerShdw>
          </a:effectLst>
        </p:spPr>
      </p:sp>
      <p:sp>
        <p:nvSpPr>
          <p:cNvPr id="519728329" name="Shape 16"/>
          <p:cNvSpPr/>
          <p:nvPr/>
        </p:nvSpPr>
        <p:spPr bwMode="auto">
          <a:xfrm>
            <a:off x="1257300" y="6484937"/>
            <a:ext cx="16059150" cy="666750"/>
          </a:xfrm>
          <a:prstGeom prst="rect">
            <a:avLst/>
          </a:prstGeom>
          <a:solidFill>
            <a:srgbClr val="23262E"/>
          </a:solidFill>
          <a:ln/>
        </p:spPr>
      </p:sp>
      <p:sp>
        <p:nvSpPr>
          <p:cNvPr id="1617454688" name="Shape 17"/>
          <p:cNvSpPr/>
          <p:nvPr/>
        </p:nvSpPr>
        <p:spPr bwMode="auto">
          <a:xfrm>
            <a:off x="1524000" y="6618287"/>
            <a:ext cx="2937986" cy="400050"/>
          </a:xfrm>
          <a:prstGeom prst="roundRect">
            <a:avLst>
              <a:gd name="adj" fmla="val 14286"/>
            </a:avLst>
          </a:prstGeom>
          <a:solidFill>
            <a:srgbClr val="C51A4A"/>
          </a:solidFill>
          <a:ln/>
        </p:spPr>
      </p:sp>
      <p:sp>
        <p:nvSpPr>
          <p:cNvPr id="1726699799" name="Text 18"/>
          <p:cNvSpPr/>
          <p:nvPr/>
        </p:nvSpPr>
        <p:spPr bwMode="auto">
          <a:xfrm>
            <a:off x="1714500" y="6675437"/>
            <a:ext cx="2645126" cy="323850"/>
          </a:xfrm>
          <a:prstGeom prst="rect">
            <a:avLst/>
          </a:prstGeom>
          <a:noFill/>
          <a:ln/>
        </p:spPr>
        <p:txBody>
          <a:bodyPr wrap="none" lIns="25400" tIns="25400" rIns="25400" bIns="25400" rtlCol="0" anchor="ctr">
            <a:normAutofit/>
          </a:bodyPr>
          <a:lstStyle/>
          <a:p>
            <a:pPr marL="0" indent="0" algn="l">
              <a:lnSpc>
                <a:spcPct val="104956"/>
              </a:lnSpc>
              <a:buNone/>
              <a:defRPr/>
            </a:pPr>
            <a:r>
              <a:rPr lang="en-US" sz="1900" b="1">
                <a:solidFill>
                  <a:srgbClr val="FFFFFF"/>
                </a:solidFill>
                <a:latin typeface="Arial"/>
                <a:ea typeface="Arial"/>
                <a:cs typeface="Arial"/>
              </a:rPr>
              <a:t>A2Bot — Raspberry Pi</a:t>
            </a:r>
            <a:endParaRPr lang="en-US" sz="1900"/>
          </a:p>
        </p:txBody>
      </p:sp>
      <p:sp>
        <p:nvSpPr>
          <p:cNvPr id="1066531729" name="Text 19"/>
          <p:cNvSpPr/>
          <p:nvPr/>
        </p:nvSpPr>
        <p:spPr bwMode="auto">
          <a:xfrm>
            <a:off x="4671536" y="6646069"/>
            <a:ext cx="8497951" cy="382588"/>
          </a:xfrm>
          <a:prstGeom prst="rect">
            <a:avLst/>
          </a:prstGeom>
          <a:noFill/>
          <a:ln/>
        </p:spPr>
        <p:txBody>
          <a:bodyPr wrap="square" lIns="25400" tIns="25400" rIns="25400" bIns="25400" rtlCol="0" anchor="t">
            <a:normAutofit/>
          </a:bodyPr>
          <a:lstStyle/>
          <a:p>
            <a:pPr marL="0" indent="0" algn="l">
              <a:buNone/>
              <a:defRPr/>
            </a:pPr>
            <a:r>
              <a:rPr lang="en-US" sz="1800">
                <a:solidFill>
                  <a:srgbClr val="FFFFFF">
                    <a:alpha val="82000"/>
                  </a:srgbClr>
                </a:solidFill>
                <a:latin typeface="Arial"/>
                <a:ea typeface="Arial"/>
                <a:cs typeface="Arial"/>
              </a:rPr>
              <a:t>Already done on classroom robots — this is what is on the other end</a:t>
            </a:r>
            <a:endParaRPr lang="en-US" sz="1800"/>
          </a:p>
        </p:txBody>
      </p:sp>
      <p:sp>
        <p:nvSpPr>
          <p:cNvPr id="2047903869" name="Shape 20"/>
          <p:cNvSpPr/>
          <p:nvPr/>
        </p:nvSpPr>
        <p:spPr bwMode="auto">
          <a:xfrm>
            <a:off x="1257300" y="7151687"/>
            <a:ext cx="16059150" cy="1575911"/>
          </a:xfrm>
          <a:prstGeom prst="rect">
            <a:avLst/>
          </a:prstGeom>
          <a:solidFill>
            <a:srgbClr val="0E1013"/>
          </a:solidFill>
          <a:ln/>
        </p:spPr>
      </p:sp>
      <p:sp>
        <p:nvSpPr>
          <p:cNvPr id="16198573" name="Shape 21"/>
          <p:cNvSpPr/>
          <p:nvPr/>
        </p:nvSpPr>
        <p:spPr bwMode="auto">
          <a:xfrm>
            <a:off x="1257300" y="7151687"/>
            <a:ext cx="111125" cy="1575911"/>
          </a:xfrm>
          <a:prstGeom prst="rect">
            <a:avLst/>
          </a:prstGeom>
          <a:solidFill>
            <a:srgbClr val="C51A4A"/>
          </a:solidFill>
          <a:ln/>
        </p:spPr>
      </p:sp>
      <p:sp>
        <p:nvSpPr>
          <p:cNvPr id="161794378" name="Text 22"/>
          <p:cNvSpPr/>
          <p:nvPr/>
        </p:nvSpPr>
        <p:spPr bwMode="auto">
          <a:xfrm>
            <a:off x="1654175" y="7380287"/>
            <a:ext cx="15858299" cy="1156811"/>
          </a:xfrm>
          <a:prstGeom prst="rect">
            <a:avLst/>
          </a:prstGeom>
          <a:noFill/>
          <a:ln/>
        </p:spPr>
        <p:txBody>
          <a:bodyPr wrap="square" lIns="25400" tIns="25400" rIns="25400" bIns="25400" rtlCol="0" anchor="t">
            <a:normAutofit/>
          </a:bodyPr>
          <a:lstStyle/>
          <a:p>
            <a:pPr marL="0" indent="0" algn="l">
              <a:lnSpc>
                <a:spcPct val="126631"/>
              </a:lnSpc>
              <a:buNone/>
              <a:defRPr/>
            </a:pPr>
            <a:r>
              <a:rPr lang="en-US" sz="2050">
                <a:solidFill>
                  <a:srgbClr val="7FD1A6"/>
                </a:solidFill>
                <a:latin typeface="Courier New"/>
                <a:ea typeface="Courier New"/>
                <a:cs typeface="Courier New"/>
              </a:rPr>
              <a:t>$ </a:t>
            </a:r>
            <a:r>
              <a:rPr lang="en-US" sz="2050">
                <a:solidFill>
                  <a:srgbClr val="F2F4F7"/>
                </a:solidFill>
                <a:highlight>
                  <a:srgbClr val="0E1013"/>
                </a:highlight>
                <a:latin typeface="Courier New"/>
                <a:ea typeface="Courier New"/>
                <a:cs typeface="Courier New"/>
              </a:rPr>
              <a:t> sudo nmcli connection add type ethernet con-name eth0-static ifname eth0 \</a:t>
            </a:r>
            <a:endParaRPr lang="en-US" sz="2050"/>
          </a:p>
          <a:p>
            <a:pPr marL="0" indent="0" algn="l">
              <a:lnSpc>
                <a:spcPct val="126631"/>
              </a:lnSpc>
              <a:buNone/>
              <a:defRPr/>
            </a:pPr>
            <a:r>
              <a:rPr lang="en-US" sz="2050">
                <a:solidFill>
                  <a:srgbClr val="F2F4F7"/>
                </a:solidFill>
                <a:highlight>
                  <a:srgbClr val="0E1013"/>
                </a:highlight>
                <a:latin typeface="Courier New"/>
                <a:ea typeface="Courier New"/>
                <a:cs typeface="Courier New"/>
              </a:rPr>
              <a:t>    ipv4.method manual ipv4.addresses 10.0.0.10X/24 connection.autoconnect yes </a:t>
            </a:r>
            <a:endParaRPr lang="en-US" sz="2050"/>
          </a:p>
          <a:p>
            <a:pPr marL="0" indent="0" algn="l">
              <a:lnSpc>
                <a:spcPct val="126631"/>
              </a:lnSpc>
              <a:buNone/>
              <a:defRPr/>
            </a:pPr>
            <a:r>
              <a:rPr lang="en-US" sz="2050">
                <a:solidFill>
                  <a:srgbClr val="7FD1A6"/>
                </a:solidFill>
                <a:latin typeface="Courier New"/>
                <a:ea typeface="Courier New"/>
                <a:cs typeface="Courier New"/>
              </a:rPr>
              <a:t>$</a:t>
            </a:r>
            <a:r>
              <a:rPr lang="en-US" sz="2050">
                <a:solidFill>
                  <a:srgbClr val="F2F4F7"/>
                </a:solidFill>
                <a:highlight>
                  <a:srgbClr val="0E1013"/>
                </a:highlight>
                <a:latin typeface="Courier New"/>
                <a:ea typeface="Courier New"/>
                <a:cs typeface="Courier New"/>
              </a:rPr>
              <a:t> sudo nmcli connection up eth0-static</a:t>
            </a:r>
            <a:endParaRPr lang="en-US" sz="2050"/>
          </a:p>
        </p:txBody>
      </p:sp>
      <p:sp>
        <p:nvSpPr>
          <p:cNvPr id="633954749" name="Shape 23"/>
          <p:cNvSpPr/>
          <p:nvPr/>
        </p:nvSpPr>
        <p:spPr bwMode="auto">
          <a:xfrm>
            <a:off x="1257300" y="8956199"/>
            <a:ext cx="15160625" cy="1230630"/>
          </a:xfrm>
          <a:prstGeom prst="roundRect">
            <a:avLst>
              <a:gd name="adj" fmla="val 6192"/>
            </a:avLst>
          </a:prstGeom>
          <a:solidFill>
            <a:srgbClr val="F3E2CD"/>
          </a:solidFill>
          <a:ln/>
        </p:spPr>
      </p:sp>
      <p:sp>
        <p:nvSpPr>
          <p:cNvPr id="910578171" name="Shape 24"/>
          <p:cNvSpPr/>
          <p:nvPr/>
        </p:nvSpPr>
        <p:spPr bwMode="auto">
          <a:xfrm>
            <a:off x="1257300" y="8956199"/>
            <a:ext cx="111125" cy="1230630"/>
          </a:xfrm>
          <a:prstGeom prst="rect">
            <a:avLst/>
          </a:prstGeom>
          <a:solidFill>
            <a:srgbClr val="DB5817"/>
          </a:solidFill>
          <a:ln/>
        </p:spPr>
      </p:sp>
      <p:sp>
        <p:nvSpPr>
          <p:cNvPr id="138804662" name="Text 25"/>
          <p:cNvSpPr/>
          <p:nvPr/>
        </p:nvSpPr>
        <p:spPr bwMode="auto">
          <a:xfrm>
            <a:off x="1654175" y="9184799"/>
            <a:ext cx="166846" cy="426720"/>
          </a:xfrm>
          <a:prstGeom prst="rect">
            <a:avLst/>
          </a:prstGeom>
          <a:noFill/>
          <a:ln/>
        </p:spPr>
        <p:txBody>
          <a:bodyPr wrap="square" lIns="25400" tIns="25400" rIns="25400" bIns="25400" rtlCol="0" anchor="t">
            <a:normAutofit/>
          </a:bodyPr>
          <a:lstStyle/>
          <a:p>
            <a:pPr marL="0" indent="0" algn="l">
              <a:lnSpc>
                <a:spcPct val="105973"/>
              </a:lnSpc>
              <a:buNone/>
              <a:defRPr/>
            </a:pPr>
            <a:r>
              <a:rPr lang="en-US" sz="2550">
                <a:solidFill>
                  <a:srgbClr val="DB5817"/>
                </a:solidFill>
                <a:latin typeface="Arial"/>
                <a:ea typeface="Arial"/>
                <a:cs typeface="Arial"/>
              </a:rPr>
              <a:t>!</a:t>
            </a:r>
            <a:endParaRPr lang="en-US" sz="2550"/>
          </a:p>
        </p:txBody>
      </p:sp>
      <p:sp>
        <p:nvSpPr>
          <p:cNvPr id="358189049" name="Text 26"/>
          <p:cNvSpPr/>
          <p:nvPr/>
        </p:nvSpPr>
        <p:spPr bwMode="auto">
          <a:xfrm>
            <a:off x="1954371" y="9184799"/>
            <a:ext cx="14603139" cy="811530"/>
          </a:xfrm>
          <a:prstGeom prst="rect">
            <a:avLst/>
          </a:prstGeom>
          <a:noFill/>
          <a:ln/>
        </p:spPr>
        <p:txBody>
          <a:bodyPr wrap="square" lIns="25400" tIns="25400" rIns="25400" bIns="25400" rtlCol="0" anchor="t">
            <a:normAutofit/>
          </a:bodyPr>
          <a:lstStyle/>
          <a:p>
            <a:pPr marL="0" indent="0" algn="l">
              <a:lnSpc>
                <a:spcPct val="122105"/>
              </a:lnSpc>
              <a:buNone/>
              <a:defRPr/>
            </a:pPr>
            <a:r>
              <a:rPr lang="en-US" sz="2200" b="1">
                <a:solidFill>
                  <a:srgbClr val="002060"/>
                </a:solidFill>
                <a:latin typeface="Arial"/>
                <a:ea typeface="Arial"/>
                <a:cs typeface="Arial"/>
              </a:rPr>
              <a:t>After </a:t>
            </a:r>
            <a:r>
              <a:rPr lang="en-US" sz="2050" b="1">
                <a:solidFill>
                  <a:srgbClr val="002060"/>
                </a:solidFill>
                <a:latin typeface="Courier New"/>
                <a:ea typeface="Courier New"/>
                <a:cs typeface="Courier New"/>
              </a:rPr>
              <a:t>ifname </a:t>
            </a:r>
            <a:r>
              <a:rPr lang="en-US" sz="2200" b="1">
                <a:solidFill>
                  <a:srgbClr val="002060"/>
                </a:solidFill>
                <a:latin typeface="Arial"/>
                <a:ea typeface="Arial"/>
                <a:cs typeface="Arial"/>
              </a:rPr>
              <a:t>goes your own </a:t>
            </a:r>
            <a:r>
              <a:rPr lang="en-US" sz="2050" b="1">
                <a:solidFill>
                  <a:srgbClr val="002060"/>
                </a:solidFill>
                <a:latin typeface="Courier New"/>
                <a:ea typeface="Courier New"/>
                <a:cs typeface="Courier New"/>
              </a:rPr>
              <a:t>en… </a:t>
            </a:r>
            <a:r>
              <a:rPr lang="en-US" sz="2200" b="1">
                <a:solidFill>
                  <a:srgbClr val="002060"/>
                </a:solidFill>
                <a:latin typeface="Arial"/>
                <a:ea typeface="Arial"/>
                <a:cs typeface="Arial"/>
              </a:rPr>
              <a:t>name from the last slide </a:t>
            </a:r>
            <a:r>
              <a:rPr lang="en-US" sz="2200">
                <a:solidFill>
                  <a:srgbClr val="14161C"/>
                </a:solidFill>
                <a:latin typeface="Arial"/>
                <a:ea typeface="Arial"/>
                <a:cs typeface="Arial"/>
              </a:rPr>
              <a:t>— pasted unchanged this fails. </a:t>
            </a:r>
            <a:r>
              <a:rPr lang="en-US" sz="2050">
                <a:solidFill>
                  <a:srgbClr val="14161C"/>
                </a:solidFill>
                <a:latin typeface="Courier New"/>
                <a:ea typeface="Courier New"/>
                <a:cs typeface="Courier New"/>
              </a:rPr>
              <a:t>con-name robot-link </a:t>
            </a:r>
            <a:r>
              <a:rPr lang="en-US" sz="2200">
                <a:solidFill>
                  <a:srgbClr val="14161C"/>
                </a:solidFill>
                <a:latin typeface="Arial"/>
                <a:ea typeface="Arial"/>
                <a:cs typeface="Arial"/>
              </a:rPr>
              <a:t>is only a label; leave it. Then test with </a:t>
            </a:r>
            <a:r>
              <a:rPr lang="en-US" sz="2050">
                <a:solidFill>
                  <a:srgbClr val="14161C"/>
                </a:solidFill>
                <a:latin typeface="Courier New"/>
                <a:ea typeface="Courier New"/>
                <a:cs typeface="Courier New"/>
              </a:rPr>
              <a:t>ping 10.0.0.10X</a:t>
            </a:r>
            <a:r>
              <a:rPr lang="en-US" sz="2200">
                <a:solidFill>
                  <a:srgbClr val="14161C"/>
                </a:solidFill>
                <a:latin typeface="Arial"/>
                <a:ea typeface="Arial"/>
                <a:cs typeface="Arial"/>
              </a:rPr>
              <a:t>.</a:t>
            </a:r>
            <a:endParaRPr lang="en-US" sz="2200"/>
          </a:p>
        </p:txBody>
      </p:sp>
      <p:pic>
        <p:nvPicPr>
          <p:cNvPr id="1610992336" name="Image 1" descr="preencoded.png"/>
          <p:cNvPicPr>
            <a:picLocks noChangeAspect="1"/>
          </p:cNvPicPr>
          <p:nvPr/>
        </p:nvPicPr>
        <p:blipFill rotWithShape="1">
          <a:blip r:embed="rId4"/>
          <a:stretch/>
        </p:blipFill>
        <p:spPr bwMode="auto">
          <a:xfrm>
            <a:off x="17441069" y="9561512"/>
            <a:ext cx="218281" cy="34448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7">
    <p:bg>
      <p:bgPr shadeToTitle="0">
        <a:solidFill>
          <a:srgbClr val="FFFFFF"/>
        </a:solidFill>
      </p:bgPr>
    </p:bg>
    <p:spTree>
      <p:nvGrpSpPr>
        <p:cNvPr id="1" name=""/>
        <p:cNvGrpSpPr/>
        <p:nvPr/>
      </p:nvGrpSpPr>
      <p:grpSpPr bwMode="auto">
        <a:xfrm>
          <a:off x="0" y="0"/>
          <a:ext cx="0" cy="0"/>
          <a:chOff x="0" y="0"/>
          <a:chExt cx="0" cy="0"/>
        </a:xfrm>
      </p:grpSpPr>
      <p:sp>
        <p:nvSpPr>
          <p:cNvPr id="148129572" name="Shape 0"/>
          <p:cNvSpPr/>
          <p:nvPr/>
        </p:nvSpPr>
        <p:spPr bwMode="auto">
          <a:xfrm>
            <a:off x="971550" y="0"/>
            <a:ext cx="28575" cy="10287000"/>
          </a:xfrm>
          <a:prstGeom prst="rect">
            <a:avLst/>
          </a:prstGeom>
          <a:solidFill>
            <a:srgbClr val="002060">
              <a:alpha val="15999"/>
            </a:srgbClr>
          </a:solidFill>
          <a:ln/>
        </p:spPr>
      </p:sp>
      <p:sp>
        <p:nvSpPr>
          <p:cNvPr id="1950478737" name="Shape 1"/>
          <p:cNvSpPr/>
          <p:nvPr/>
        </p:nvSpPr>
        <p:spPr bwMode="auto">
          <a:xfrm>
            <a:off x="971550" y="1009650"/>
            <a:ext cx="16687800" cy="28575"/>
          </a:xfrm>
          <a:prstGeom prst="rect">
            <a:avLst/>
          </a:prstGeom>
          <a:solidFill>
            <a:srgbClr val="002060">
              <a:alpha val="15999"/>
            </a:srgbClr>
          </a:solidFill>
          <a:ln/>
        </p:spPr>
      </p:sp>
      <p:pic>
        <p:nvPicPr>
          <p:cNvPr id="2137604491" name="Image 0" descr="preencoded.png"/>
          <p:cNvPicPr>
            <a:picLocks noChangeAspect="1"/>
          </p:cNvPicPr>
          <p:nvPr/>
        </p:nvPicPr>
        <p:blipFill rotWithShape="1">
          <a:blip r:embed="rId3"/>
          <a:stretch/>
        </p:blipFill>
        <p:spPr bwMode="auto">
          <a:xfrm>
            <a:off x="1257300" y="209550"/>
            <a:ext cx="779621" cy="647700"/>
          </a:xfrm>
          <a:prstGeom prst="rect">
            <a:avLst/>
          </a:prstGeom>
        </p:spPr>
      </p:pic>
      <p:sp>
        <p:nvSpPr>
          <p:cNvPr id="1324082152" name="Text 2"/>
          <p:cNvSpPr/>
          <p:nvPr/>
        </p:nvSpPr>
        <p:spPr bwMode="auto">
          <a:xfrm>
            <a:off x="14455616" y="400050"/>
            <a:ext cx="3524107" cy="393700"/>
          </a:xfrm>
          <a:prstGeom prst="rect">
            <a:avLst/>
          </a:prstGeom>
          <a:noFill/>
          <a:ln/>
        </p:spPr>
        <p:txBody>
          <a:bodyPr wrap="square" lIns="25400" tIns="25400" rIns="25400" bIns="25400" rtlCol="0" anchor="t">
            <a:normAutofit/>
          </a:bodyPr>
          <a:lstStyle/>
          <a:p>
            <a:pPr marL="0" indent="0" algn="l">
              <a:buNone/>
              <a:defRPr/>
            </a:pPr>
            <a:r>
              <a:rPr lang="en-US" sz="1900" spc="75">
                <a:solidFill>
                  <a:srgbClr val="DB5817"/>
                </a:solidFill>
                <a:latin typeface="Arial"/>
                <a:ea typeface="Arial"/>
                <a:cs typeface="Arial"/>
              </a:rPr>
              <a:t>www.centex-sarawak.my</a:t>
            </a:r>
            <a:endParaRPr lang="en-US" sz="1900"/>
          </a:p>
        </p:txBody>
      </p:sp>
      <p:sp>
        <p:nvSpPr>
          <p:cNvPr id="1443675663" name="Text 3"/>
          <p:cNvSpPr/>
          <p:nvPr/>
        </p:nvSpPr>
        <p:spPr bwMode="auto">
          <a:xfrm>
            <a:off x="1257300" y="1905000"/>
            <a:ext cx="17665065" cy="410369"/>
          </a:xfrm>
          <a:prstGeom prst="rect">
            <a:avLst/>
          </a:prstGeom>
          <a:noFill/>
          <a:ln/>
        </p:spPr>
        <p:txBody>
          <a:bodyPr wrap="square" lIns="25400" tIns="25400" rIns="25400" bIns="25400" rtlCol="0" anchor="t">
            <a:normAutofit/>
          </a:bodyPr>
          <a:lstStyle/>
          <a:p>
            <a:pPr marL="0" indent="0" algn="l">
              <a:buNone/>
              <a:defRPr/>
            </a:pPr>
            <a:r>
              <a:rPr lang="en-US" sz="1950" b="1" spc="311">
                <a:solidFill>
                  <a:srgbClr val="DB5817"/>
                </a:solidFill>
                <a:latin typeface="Arial"/>
                <a:ea typeface="Arial"/>
                <a:cs typeface="Arial"/>
              </a:rPr>
              <a:t>STEP 3 · GET A TERMINAL ON THE ROBOT</a:t>
            </a:r>
            <a:endParaRPr lang="en-US" sz="1950"/>
          </a:p>
        </p:txBody>
      </p:sp>
      <p:sp>
        <p:nvSpPr>
          <p:cNvPr id="124488930" name="Text 4"/>
          <p:cNvSpPr/>
          <p:nvPr/>
        </p:nvSpPr>
        <p:spPr bwMode="auto">
          <a:xfrm>
            <a:off x="1257300" y="2486819"/>
            <a:ext cx="17665065" cy="805497"/>
          </a:xfrm>
          <a:prstGeom prst="rect">
            <a:avLst/>
          </a:prstGeom>
          <a:noFill/>
          <a:ln/>
        </p:spPr>
        <p:txBody>
          <a:bodyPr wrap="square" lIns="25400" tIns="25400" rIns="25400" bIns="25400" rtlCol="0" anchor="t">
            <a:normAutofit/>
          </a:bodyPr>
          <a:lstStyle/>
          <a:p>
            <a:pPr marL="0" indent="0" algn="l">
              <a:lnSpc>
                <a:spcPct val="94599"/>
              </a:lnSpc>
              <a:buNone/>
              <a:defRPr/>
            </a:pPr>
            <a:r>
              <a:rPr lang="en-US" sz="5700" b="1" spc="-57">
                <a:solidFill>
                  <a:srgbClr val="002060"/>
                </a:solidFill>
                <a:latin typeface="Arial"/>
                <a:ea typeface="Arial"/>
                <a:cs typeface="Arial"/>
              </a:rPr>
              <a:t>SSH into the Raspberry Pi</a:t>
            </a:r>
            <a:endParaRPr lang="en-US" sz="5700"/>
          </a:p>
        </p:txBody>
      </p:sp>
      <p:sp>
        <p:nvSpPr>
          <p:cNvPr id="1348472847" name="Shape 5"/>
          <p:cNvSpPr/>
          <p:nvPr/>
        </p:nvSpPr>
        <p:spPr bwMode="auto">
          <a:xfrm>
            <a:off x="1257300" y="3539966"/>
            <a:ext cx="7772400" cy="1565910"/>
          </a:xfrm>
          <a:prstGeom prst="roundRect">
            <a:avLst>
              <a:gd name="adj" fmla="val 6083"/>
            </a:avLst>
          </a:prstGeom>
          <a:ln/>
          <a:effectLst>
            <a:outerShdw blurRad="323850" dist="114300" dir="5400000" sx="100000" sy="100000" kx="0" ky="0" algn="bl" rotWithShape="0">
              <a:srgbClr val="002060">
                <a:alpha val="18000"/>
              </a:srgbClr>
            </a:outerShdw>
          </a:effectLst>
        </p:spPr>
      </p:sp>
      <p:sp>
        <p:nvSpPr>
          <p:cNvPr id="813592426" name="Shape 6"/>
          <p:cNvSpPr/>
          <p:nvPr/>
        </p:nvSpPr>
        <p:spPr bwMode="auto">
          <a:xfrm>
            <a:off x="1257300" y="3539966"/>
            <a:ext cx="7772400" cy="666750"/>
          </a:xfrm>
          <a:prstGeom prst="rect">
            <a:avLst/>
          </a:prstGeom>
          <a:solidFill>
            <a:srgbClr val="5E2750"/>
          </a:solidFill>
          <a:ln/>
        </p:spPr>
      </p:sp>
      <p:sp>
        <p:nvSpPr>
          <p:cNvPr id="381628511" name="Shape 7"/>
          <p:cNvSpPr/>
          <p:nvPr/>
        </p:nvSpPr>
        <p:spPr bwMode="auto">
          <a:xfrm>
            <a:off x="1524000" y="3673316"/>
            <a:ext cx="1802448" cy="400050"/>
          </a:xfrm>
          <a:prstGeom prst="roundRect">
            <a:avLst>
              <a:gd name="adj" fmla="val 14286"/>
            </a:avLst>
          </a:prstGeom>
          <a:solidFill>
            <a:srgbClr val="FFFFFF"/>
          </a:solidFill>
          <a:ln/>
        </p:spPr>
      </p:sp>
      <p:sp>
        <p:nvSpPr>
          <p:cNvPr id="1338281749" name="Text 8"/>
          <p:cNvSpPr/>
          <p:nvPr/>
        </p:nvSpPr>
        <p:spPr bwMode="auto">
          <a:xfrm>
            <a:off x="1714500" y="3730466"/>
            <a:ext cx="1497648" cy="323850"/>
          </a:xfrm>
          <a:prstGeom prst="rect">
            <a:avLst/>
          </a:prstGeom>
          <a:noFill/>
          <a:ln/>
        </p:spPr>
        <p:txBody>
          <a:bodyPr wrap="none" lIns="25400" tIns="25400" rIns="25400" bIns="25400" rtlCol="0" anchor="ctr">
            <a:normAutofit/>
          </a:bodyPr>
          <a:lstStyle/>
          <a:p>
            <a:pPr marL="0" indent="0" algn="l">
              <a:lnSpc>
                <a:spcPct val="104956"/>
              </a:lnSpc>
              <a:buNone/>
              <a:defRPr/>
            </a:pPr>
            <a:r>
              <a:rPr lang="en-US" sz="1900" b="1">
                <a:solidFill>
                  <a:srgbClr val="772953"/>
                </a:solidFill>
                <a:latin typeface="Arial"/>
                <a:ea typeface="Arial"/>
                <a:cs typeface="Arial"/>
              </a:rPr>
              <a:t>Your device</a:t>
            </a:r>
            <a:endParaRPr lang="en-US" sz="1900"/>
          </a:p>
        </p:txBody>
      </p:sp>
      <p:sp>
        <p:nvSpPr>
          <p:cNvPr id="1594215552" name="Text 9"/>
          <p:cNvSpPr/>
          <p:nvPr/>
        </p:nvSpPr>
        <p:spPr bwMode="auto">
          <a:xfrm>
            <a:off x="3535998" y="3701097"/>
            <a:ext cx="5238226" cy="382588"/>
          </a:xfrm>
          <a:prstGeom prst="rect">
            <a:avLst/>
          </a:prstGeom>
          <a:noFill/>
          <a:ln/>
        </p:spPr>
        <p:txBody>
          <a:bodyPr wrap="square" lIns="25400" tIns="25400" rIns="25400" bIns="25400" rtlCol="0" anchor="t">
            <a:normAutofit/>
          </a:bodyPr>
          <a:lstStyle/>
          <a:p>
            <a:pPr marL="0" indent="0" algn="l">
              <a:buNone/>
              <a:defRPr/>
            </a:pPr>
            <a:r>
              <a:rPr lang="en-US" sz="1800">
                <a:solidFill>
                  <a:srgbClr val="FFFFFF">
                    <a:alpha val="82000"/>
                  </a:srgbClr>
                </a:solidFill>
                <a:latin typeface="Arial"/>
                <a:ea typeface="Arial"/>
                <a:cs typeface="Arial"/>
              </a:rPr>
              <a:t>Password from the dashboard or QR label</a:t>
            </a:r>
            <a:endParaRPr lang="en-US" sz="1800"/>
          </a:p>
        </p:txBody>
      </p:sp>
      <p:sp>
        <p:nvSpPr>
          <p:cNvPr id="776188836" name="Shape 10"/>
          <p:cNvSpPr/>
          <p:nvPr/>
        </p:nvSpPr>
        <p:spPr bwMode="auto">
          <a:xfrm>
            <a:off x="1257300" y="4206716"/>
            <a:ext cx="7772400" cy="899160"/>
          </a:xfrm>
          <a:prstGeom prst="rect">
            <a:avLst/>
          </a:prstGeom>
          <a:solidFill>
            <a:srgbClr val="0E1013"/>
          </a:solidFill>
          <a:ln/>
        </p:spPr>
      </p:sp>
      <p:sp>
        <p:nvSpPr>
          <p:cNvPr id="1890517769" name="Shape 11"/>
          <p:cNvSpPr/>
          <p:nvPr/>
        </p:nvSpPr>
        <p:spPr bwMode="auto">
          <a:xfrm>
            <a:off x="1257300" y="4206716"/>
            <a:ext cx="111125" cy="899160"/>
          </a:xfrm>
          <a:prstGeom prst="rect">
            <a:avLst/>
          </a:prstGeom>
          <a:solidFill>
            <a:srgbClr val="772953"/>
          </a:solidFill>
          <a:ln/>
        </p:spPr>
      </p:sp>
      <p:sp>
        <p:nvSpPr>
          <p:cNvPr id="1682030684" name="Text 12"/>
          <p:cNvSpPr/>
          <p:nvPr/>
        </p:nvSpPr>
        <p:spPr bwMode="auto">
          <a:xfrm>
            <a:off x="1654175" y="4435316"/>
            <a:ext cx="7322947" cy="480060"/>
          </a:xfrm>
          <a:prstGeom prst="rect">
            <a:avLst/>
          </a:prstGeom>
          <a:noFill/>
          <a:ln/>
        </p:spPr>
        <p:txBody>
          <a:bodyPr wrap="square" lIns="25400" tIns="25400" rIns="25400" bIns="25400" rtlCol="0" anchor="t">
            <a:normAutofit/>
          </a:bodyPr>
          <a:lstStyle/>
          <a:p>
            <a:pPr marL="0" indent="0" algn="l">
              <a:lnSpc>
                <a:spcPct val="126259"/>
              </a:lnSpc>
              <a:buNone/>
              <a:defRPr/>
            </a:pPr>
            <a:r>
              <a:rPr lang="en-US" sz="2400">
                <a:solidFill>
                  <a:srgbClr val="7FD1A6"/>
                </a:solidFill>
                <a:latin typeface="Courier New"/>
                <a:ea typeface="Courier New"/>
                <a:cs typeface="Courier New"/>
              </a:rPr>
              <a:t>$</a:t>
            </a:r>
            <a:r>
              <a:rPr lang="en-US" sz="2400">
                <a:solidFill>
                  <a:srgbClr val="F2F4F7"/>
                </a:solidFill>
                <a:highlight>
                  <a:srgbClr val="0E1013"/>
                </a:highlight>
                <a:latin typeface="Courier New"/>
                <a:ea typeface="Courier New"/>
                <a:cs typeface="Courier New"/>
              </a:rPr>
              <a:t> ssh a2botX@a2botX-host.local</a:t>
            </a:r>
            <a:endParaRPr lang="en-US" sz="2400"/>
          </a:p>
        </p:txBody>
      </p:sp>
      <p:sp>
        <p:nvSpPr>
          <p:cNvPr id="229627437" name="Shape 13"/>
          <p:cNvSpPr/>
          <p:nvPr/>
        </p:nvSpPr>
        <p:spPr bwMode="auto">
          <a:xfrm>
            <a:off x="1257300" y="5353526"/>
            <a:ext cx="7772400" cy="1496854"/>
          </a:xfrm>
          <a:prstGeom prst="roundRect">
            <a:avLst>
              <a:gd name="adj" fmla="val 6363"/>
            </a:avLst>
          </a:prstGeom>
          <a:ln/>
          <a:effectLst>
            <a:outerShdw blurRad="323850" dist="114300" dir="5400000" sx="100000" sy="100000" kx="0" ky="0" algn="bl" rotWithShape="0">
              <a:srgbClr val="002060">
                <a:alpha val="18000"/>
              </a:srgbClr>
            </a:outerShdw>
          </a:effectLst>
        </p:spPr>
      </p:sp>
      <p:sp>
        <p:nvSpPr>
          <p:cNvPr id="1961497900" name="Shape 14"/>
          <p:cNvSpPr/>
          <p:nvPr/>
        </p:nvSpPr>
        <p:spPr bwMode="auto">
          <a:xfrm>
            <a:off x="1257300" y="5353526"/>
            <a:ext cx="7772400" cy="666750"/>
          </a:xfrm>
          <a:prstGeom prst="rect">
            <a:avLst/>
          </a:prstGeom>
          <a:solidFill>
            <a:srgbClr val="5E2750"/>
          </a:solidFill>
          <a:ln/>
        </p:spPr>
      </p:sp>
      <p:sp>
        <p:nvSpPr>
          <p:cNvPr id="1866029539" name="Shape 15"/>
          <p:cNvSpPr/>
          <p:nvPr/>
        </p:nvSpPr>
        <p:spPr bwMode="auto">
          <a:xfrm>
            <a:off x="1524000" y="5486876"/>
            <a:ext cx="1802448" cy="400050"/>
          </a:xfrm>
          <a:prstGeom prst="roundRect">
            <a:avLst>
              <a:gd name="adj" fmla="val 14286"/>
            </a:avLst>
          </a:prstGeom>
          <a:solidFill>
            <a:srgbClr val="FFFFFF"/>
          </a:solidFill>
          <a:ln/>
        </p:spPr>
      </p:sp>
      <p:sp>
        <p:nvSpPr>
          <p:cNvPr id="1668133012" name="Text 16"/>
          <p:cNvSpPr/>
          <p:nvPr/>
        </p:nvSpPr>
        <p:spPr bwMode="auto">
          <a:xfrm>
            <a:off x="1714500" y="5544025"/>
            <a:ext cx="1497648" cy="323850"/>
          </a:xfrm>
          <a:prstGeom prst="rect">
            <a:avLst/>
          </a:prstGeom>
          <a:noFill/>
          <a:ln/>
        </p:spPr>
        <p:txBody>
          <a:bodyPr wrap="none" lIns="25400" tIns="25400" rIns="25400" bIns="25400" rtlCol="0" anchor="ctr">
            <a:normAutofit/>
          </a:bodyPr>
          <a:lstStyle/>
          <a:p>
            <a:pPr marL="0" indent="0" algn="l">
              <a:lnSpc>
                <a:spcPct val="104956"/>
              </a:lnSpc>
              <a:buNone/>
              <a:defRPr/>
            </a:pPr>
            <a:r>
              <a:rPr lang="en-US" sz="1900" b="1">
                <a:solidFill>
                  <a:srgbClr val="772953"/>
                </a:solidFill>
                <a:latin typeface="Arial"/>
                <a:ea typeface="Arial"/>
                <a:cs typeface="Arial"/>
              </a:rPr>
              <a:t>Your device</a:t>
            </a:r>
            <a:endParaRPr lang="en-US" sz="1900"/>
          </a:p>
        </p:txBody>
      </p:sp>
      <p:sp>
        <p:nvSpPr>
          <p:cNvPr id="1048095310" name="Text 17"/>
          <p:cNvSpPr/>
          <p:nvPr/>
        </p:nvSpPr>
        <p:spPr bwMode="auto">
          <a:xfrm>
            <a:off x="3535998" y="5514658"/>
            <a:ext cx="5382292" cy="382588"/>
          </a:xfrm>
          <a:prstGeom prst="rect">
            <a:avLst/>
          </a:prstGeom>
          <a:noFill/>
          <a:ln/>
        </p:spPr>
        <p:txBody>
          <a:bodyPr wrap="square" lIns="25400" tIns="25400" rIns="25400" bIns="25400" rtlCol="0" anchor="t">
            <a:normAutofit/>
          </a:bodyPr>
          <a:lstStyle/>
          <a:p>
            <a:pPr marL="0" indent="0" algn="l">
              <a:buNone/>
              <a:defRPr/>
            </a:pPr>
            <a:r>
              <a:rPr lang="en-US" sz="1800">
                <a:solidFill>
                  <a:srgbClr val="FFFFFF">
                    <a:alpha val="82000"/>
                  </a:srgbClr>
                </a:solidFill>
                <a:latin typeface="Arial"/>
                <a:ea typeface="Arial"/>
                <a:cs typeface="Arial"/>
              </a:rPr>
              <a:t>If the .local name will not resolve, use the IP</a:t>
            </a:r>
            <a:endParaRPr lang="en-US" sz="1800"/>
          </a:p>
        </p:txBody>
      </p:sp>
      <p:sp>
        <p:nvSpPr>
          <p:cNvPr id="246460107" name="Shape 18"/>
          <p:cNvSpPr/>
          <p:nvPr/>
        </p:nvSpPr>
        <p:spPr bwMode="auto">
          <a:xfrm>
            <a:off x="1257300" y="6020276"/>
            <a:ext cx="7772400" cy="830104"/>
          </a:xfrm>
          <a:prstGeom prst="rect">
            <a:avLst/>
          </a:prstGeom>
          <a:solidFill>
            <a:srgbClr val="0E1013"/>
          </a:solidFill>
          <a:ln/>
        </p:spPr>
      </p:sp>
      <p:sp>
        <p:nvSpPr>
          <p:cNvPr id="436223023" name="Shape 19"/>
          <p:cNvSpPr/>
          <p:nvPr/>
        </p:nvSpPr>
        <p:spPr bwMode="auto">
          <a:xfrm>
            <a:off x="1257300" y="6020276"/>
            <a:ext cx="111125" cy="830104"/>
          </a:xfrm>
          <a:prstGeom prst="rect">
            <a:avLst/>
          </a:prstGeom>
          <a:solidFill>
            <a:srgbClr val="772953"/>
          </a:solidFill>
          <a:ln/>
        </p:spPr>
      </p:sp>
      <p:sp>
        <p:nvSpPr>
          <p:cNvPr id="1855297377" name="Text 20"/>
          <p:cNvSpPr/>
          <p:nvPr/>
        </p:nvSpPr>
        <p:spPr bwMode="auto">
          <a:xfrm>
            <a:off x="1654175" y="6248876"/>
            <a:ext cx="7322947" cy="411004"/>
          </a:xfrm>
          <a:prstGeom prst="rect">
            <a:avLst/>
          </a:prstGeom>
          <a:noFill/>
          <a:ln/>
        </p:spPr>
        <p:txBody>
          <a:bodyPr wrap="square" lIns="25400" tIns="25400" rIns="25400" bIns="25400" rtlCol="0" anchor="t">
            <a:normAutofit/>
          </a:bodyPr>
          <a:lstStyle/>
          <a:p>
            <a:pPr marL="0" indent="0" algn="l">
              <a:lnSpc>
                <a:spcPct val="126631"/>
              </a:lnSpc>
              <a:buNone/>
              <a:defRPr/>
            </a:pPr>
            <a:r>
              <a:rPr lang="en-US" sz="2050">
                <a:solidFill>
                  <a:srgbClr val="7FD1A6"/>
                </a:solidFill>
                <a:latin typeface="Courier New"/>
                <a:ea typeface="Courier New"/>
                <a:cs typeface="Courier New"/>
              </a:rPr>
              <a:t>$</a:t>
            </a:r>
            <a:r>
              <a:rPr lang="en-US" sz="2050">
                <a:solidFill>
                  <a:srgbClr val="F2F4F7"/>
                </a:solidFill>
                <a:highlight>
                  <a:srgbClr val="0E1013"/>
                </a:highlight>
                <a:latin typeface="Courier New"/>
                <a:ea typeface="Courier New"/>
                <a:cs typeface="Courier New"/>
              </a:rPr>
              <a:t> ssh a2botX@10.0.0.10X</a:t>
            </a:r>
            <a:endParaRPr lang="en-US" sz="2050"/>
          </a:p>
        </p:txBody>
      </p:sp>
      <p:sp>
        <p:nvSpPr>
          <p:cNvPr id="680001982" name="Shape 21"/>
          <p:cNvSpPr/>
          <p:nvPr/>
        </p:nvSpPr>
        <p:spPr bwMode="auto">
          <a:xfrm>
            <a:off x="1257300" y="7136130"/>
            <a:ext cx="7772400" cy="1634014"/>
          </a:xfrm>
          <a:prstGeom prst="roundRect">
            <a:avLst>
              <a:gd name="adj" fmla="val 4663"/>
            </a:avLst>
          </a:prstGeom>
          <a:solidFill>
            <a:srgbClr val="F3E2CD"/>
          </a:solidFill>
          <a:ln/>
        </p:spPr>
      </p:sp>
      <p:sp>
        <p:nvSpPr>
          <p:cNvPr id="1368112659" name="Shape 22"/>
          <p:cNvSpPr/>
          <p:nvPr/>
        </p:nvSpPr>
        <p:spPr bwMode="auto">
          <a:xfrm>
            <a:off x="1257300" y="7136130"/>
            <a:ext cx="111125" cy="1634014"/>
          </a:xfrm>
          <a:prstGeom prst="rect">
            <a:avLst/>
          </a:prstGeom>
          <a:solidFill>
            <a:srgbClr val="DB5817"/>
          </a:solidFill>
          <a:ln/>
        </p:spPr>
      </p:sp>
      <p:sp>
        <p:nvSpPr>
          <p:cNvPr id="2034124694" name="Text 23"/>
          <p:cNvSpPr/>
          <p:nvPr/>
        </p:nvSpPr>
        <p:spPr bwMode="auto">
          <a:xfrm>
            <a:off x="1654175" y="7364730"/>
            <a:ext cx="166846" cy="426720"/>
          </a:xfrm>
          <a:prstGeom prst="rect">
            <a:avLst/>
          </a:prstGeom>
          <a:noFill/>
          <a:ln/>
        </p:spPr>
        <p:txBody>
          <a:bodyPr wrap="square" lIns="25400" tIns="25400" rIns="25400" bIns="25400" rtlCol="0" anchor="t">
            <a:normAutofit/>
          </a:bodyPr>
          <a:lstStyle/>
          <a:p>
            <a:pPr marL="0" indent="0" algn="l">
              <a:lnSpc>
                <a:spcPct val="105973"/>
              </a:lnSpc>
              <a:buNone/>
              <a:defRPr/>
            </a:pPr>
            <a:r>
              <a:rPr lang="en-US" sz="2550">
                <a:solidFill>
                  <a:srgbClr val="DB5817"/>
                </a:solidFill>
                <a:latin typeface="Arial"/>
                <a:ea typeface="Arial"/>
                <a:cs typeface="Arial"/>
              </a:rPr>
              <a:t>!</a:t>
            </a:r>
            <a:endParaRPr lang="en-US" sz="2550"/>
          </a:p>
        </p:txBody>
      </p:sp>
      <p:sp>
        <p:nvSpPr>
          <p:cNvPr id="508457165" name="Text 24"/>
          <p:cNvSpPr/>
          <p:nvPr/>
        </p:nvSpPr>
        <p:spPr bwMode="auto">
          <a:xfrm>
            <a:off x="1954371" y="7364730"/>
            <a:ext cx="6993266" cy="1214914"/>
          </a:xfrm>
          <a:prstGeom prst="rect">
            <a:avLst/>
          </a:prstGeom>
          <a:noFill/>
          <a:ln/>
        </p:spPr>
        <p:txBody>
          <a:bodyPr wrap="square" lIns="25400" tIns="25400" rIns="25400" bIns="25400" rtlCol="0" anchor="t">
            <a:normAutofit/>
          </a:bodyPr>
          <a:lstStyle/>
          <a:p>
            <a:pPr marL="0" indent="0" algn="l">
              <a:lnSpc>
                <a:spcPct val="123859"/>
              </a:lnSpc>
              <a:buNone/>
              <a:defRPr/>
            </a:pPr>
            <a:r>
              <a:rPr lang="en-US" sz="2200">
                <a:solidFill>
                  <a:srgbClr val="2A3040"/>
                </a:solidFill>
                <a:latin typeface="Arial"/>
                <a:ea typeface="Arial"/>
                <a:cs typeface="Arial"/>
              </a:rPr>
              <a:t>Password rejected? </a:t>
            </a:r>
            <a:r>
              <a:rPr lang="en-US" sz="2200" b="1">
                <a:solidFill>
                  <a:srgbClr val="002060"/>
                </a:solidFill>
                <a:latin typeface="Arial"/>
                <a:ea typeface="Arial"/>
                <a:cs typeface="Arial"/>
              </a:rPr>
              <a:t>Check the username first </a:t>
            </a:r>
            <a:r>
              <a:rPr lang="en-US" sz="2200">
                <a:solidFill>
                  <a:srgbClr val="2A3040"/>
                </a:solidFill>
                <a:latin typeface="Arial"/>
                <a:ea typeface="Arial"/>
                <a:cs typeface="Arial"/>
              </a:rPr>
              <a:t>— a wrong robot number is far more common than a wrong password.</a:t>
            </a:r>
            <a:endParaRPr lang="en-US" sz="2200"/>
          </a:p>
        </p:txBody>
      </p:sp>
      <p:sp>
        <p:nvSpPr>
          <p:cNvPr id="776976087" name="Shape 25"/>
          <p:cNvSpPr/>
          <p:nvPr/>
        </p:nvSpPr>
        <p:spPr bwMode="auto">
          <a:xfrm>
            <a:off x="9544050" y="3539966"/>
            <a:ext cx="7772400" cy="2988469"/>
          </a:xfrm>
          <a:prstGeom prst="roundRect">
            <a:avLst>
              <a:gd name="adj" fmla="val 3187"/>
            </a:avLst>
          </a:prstGeom>
          <a:ln/>
          <a:effectLst>
            <a:outerShdw blurRad="323850" dist="114300" dir="5400000" sx="100000" sy="100000" kx="0" ky="0" algn="bl" rotWithShape="0">
              <a:srgbClr val="002060">
                <a:alpha val="18000"/>
              </a:srgbClr>
            </a:outerShdw>
          </a:effectLst>
        </p:spPr>
      </p:sp>
      <p:sp>
        <p:nvSpPr>
          <p:cNvPr id="1463674437" name="Shape 26"/>
          <p:cNvSpPr/>
          <p:nvPr/>
        </p:nvSpPr>
        <p:spPr bwMode="auto">
          <a:xfrm>
            <a:off x="9544050" y="3539966"/>
            <a:ext cx="7772400" cy="666750"/>
          </a:xfrm>
          <a:prstGeom prst="rect">
            <a:avLst/>
          </a:prstGeom>
          <a:solidFill>
            <a:srgbClr val="23262E"/>
          </a:solidFill>
          <a:ln/>
        </p:spPr>
      </p:sp>
      <p:sp>
        <p:nvSpPr>
          <p:cNvPr id="80401658" name="Shape 27"/>
          <p:cNvSpPr/>
          <p:nvPr/>
        </p:nvSpPr>
        <p:spPr bwMode="auto">
          <a:xfrm>
            <a:off x="9810750" y="3673316"/>
            <a:ext cx="2937986" cy="400050"/>
          </a:xfrm>
          <a:prstGeom prst="roundRect">
            <a:avLst>
              <a:gd name="adj" fmla="val 14286"/>
            </a:avLst>
          </a:prstGeom>
          <a:solidFill>
            <a:srgbClr val="C51A4A"/>
          </a:solidFill>
          <a:ln/>
        </p:spPr>
      </p:sp>
      <p:sp>
        <p:nvSpPr>
          <p:cNvPr id="808385092" name="Text 28"/>
          <p:cNvSpPr/>
          <p:nvPr/>
        </p:nvSpPr>
        <p:spPr bwMode="auto">
          <a:xfrm>
            <a:off x="10001250" y="3730466"/>
            <a:ext cx="2645126" cy="323850"/>
          </a:xfrm>
          <a:prstGeom prst="rect">
            <a:avLst/>
          </a:prstGeom>
          <a:noFill/>
          <a:ln/>
        </p:spPr>
        <p:txBody>
          <a:bodyPr wrap="none" lIns="25400" tIns="25400" rIns="25400" bIns="25400" rtlCol="0" anchor="ctr">
            <a:normAutofit/>
          </a:bodyPr>
          <a:lstStyle/>
          <a:p>
            <a:pPr marL="0" indent="0" algn="l">
              <a:lnSpc>
                <a:spcPct val="104956"/>
              </a:lnSpc>
              <a:buNone/>
              <a:defRPr/>
            </a:pPr>
            <a:r>
              <a:rPr lang="en-US" sz="1900" b="1">
                <a:solidFill>
                  <a:srgbClr val="FFFFFF"/>
                </a:solidFill>
                <a:latin typeface="Arial"/>
                <a:ea typeface="Arial"/>
                <a:cs typeface="Arial"/>
              </a:rPr>
              <a:t>A2Bot — Raspberry Pi</a:t>
            </a:r>
            <a:endParaRPr lang="en-US" sz="1900"/>
          </a:p>
        </p:txBody>
      </p:sp>
      <p:sp>
        <p:nvSpPr>
          <p:cNvPr id="1226986837" name="Text 29"/>
          <p:cNvSpPr/>
          <p:nvPr/>
        </p:nvSpPr>
        <p:spPr bwMode="auto">
          <a:xfrm>
            <a:off x="12958286" y="3701097"/>
            <a:ext cx="3768931" cy="382588"/>
          </a:xfrm>
          <a:prstGeom prst="rect">
            <a:avLst/>
          </a:prstGeom>
          <a:noFill/>
          <a:ln/>
        </p:spPr>
        <p:txBody>
          <a:bodyPr wrap="square" lIns="25400" tIns="25400" rIns="25400" bIns="25400" rtlCol="0" anchor="t">
            <a:normAutofit/>
          </a:bodyPr>
          <a:lstStyle/>
          <a:p>
            <a:pPr marL="0" indent="0" algn="l">
              <a:buNone/>
              <a:defRPr/>
            </a:pPr>
            <a:r>
              <a:rPr lang="en-US" sz="1800">
                <a:solidFill>
                  <a:srgbClr val="FFFFFF">
                    <a:alpha val="82000"/>
                  </a:srgbClr>
                </a:solidFill>
                <a:latin typeface="Arial"/>
                <a:ea typeface="Arial"/>
                <a:cs typeface="Arial"/>
              </a:rPr>
              <a:t>First time only — this is normal</a:t>
            </a:r>
            <a:endParaRPr lang="en-US" sz="1800"/>
          </a:p>
        </p:txBody>
      </p:sp>
      <p:sp>
        <p:nvSpPr>
          <p:cNvPr id="915038277" name="Shape 30"/>
          <p:cNvSpPr/>
          <p:nvPr/>
        </p:nvSpPr>
        <p:spPr bwMode="auto">
          <a:xfrm>
            <a:off x="9544050" y="4206716"/>
            <a:ext cx="7772400" cy="2321719"/>
          </a:xfrm>
          <a:prstGeom prst="rect">
            <a:avLst/>
          </a:prstGeom>
          <a:solidFill>
            <a:srgbClr val="0E1013"/>
          </a:solidFill>
          <a:ln/>
        </p:spPr>
      </p:sp>
      <p:sp>
        <p:nvSpPr>
          <p:cNvPr id="624496432" name="Shape 31"/>
          <p:cNvSpPr/>
          <p:nvPr/>
        </p:nvSpPr>
        <p:spPr bwMode="auto">
          <a:xfrm>
            <a:off x="9544050" y="4206716"/>
            <a:ext cx="111125" cy="2321719"/>
          </a:xfrm>
          <a:prstGeom prst="rect">
            <a:avLst/>
          </a:prstGeom>
          <a:solidFill>
            <a:srgbClr val="C51A4A"/>
          </a:solidFill>
          <a:ln/>
        </p:spPr>
      </p:sp>
      <p:sp>
        <p:nvSpPr>
          <p:cNvPr id="520801218" name="Text 32"/>
          <p:cNvSpPr/>
          <p:nvPr/>
        </p:nvSpPr>
        <p:spPr bwMode="auto">
          <a:xfrm>
            <a:off x="9940925" y="4435316"/>
            <a:ext cx="7322947" cy="1902619"/>
          </a:xfrm>
          <a:prstGeom prst="rect">
            <a:avLst/>
          </a:prstGeom>
          <a:noFill/>
          <a:ln/>
        </p:spPr>
        <p:txBody>
          <a:bodyPr vertOverflow="overflow" horzOverflow="overflow" vert="horz" wrap="square" lIns="25399" tIns="25399" rIns="25399" bIns="25399" numCol="1" spcCol="0" rtlCol="0" fromWordArt="0" anchor="t" anchorCtr="0" forceAA="0" upright="0" compatLnSpc="0">
            <a:normAutofit fontScale="95000" lnSpcReduction="1000"/>
          </a:bodyPr>
          <a:lstStyle/>
          <a:p>
            <a:pPr marL="0" indent="0" algn="l">
              <a:lnSpc>
                <a:spcPct val="126631"/>
              </a:lnSpc>
              <a:buNone/>
              <a:defRPr/>
            </a:pPr>
            <a:r>
              <a:rPr lang="en-US" sz="2050">
                <a:solidFill>
                  <a:srgbClr val="F2F4F7"/>
                </a:solidFill>
                <a:highlight>
                  <a:srgbClr val="0E1013"/>
                </a:highlight>
                <a:latin typeface="Courier New"/>
                <a:ea typeface="Courier New"/>
                <a:cs typeface="Courier New"/>
              </a:rPr>
              <a:t>The authenticity of host 'a2bot5-host.local</a:t>
            </a:r>
            <a:endParaRPr lang="en-US" sz="2050"/>
          </a:p>
          <a:p>
            <a:pPr marL="0" indent="0" algn="l">
              <a:lnSpc>
                <a:spcPct val="126631"/>
              </a:lnSpc>
              <a:buNone/>
              <a:defRPr/>
            </a:pPr>
            <a:r>
              <a:rPr lang="en-US" sz="2050">
                <a:solidFill>
                  <a:srgbClr val="F2F4F7"/>
                </a:solidFill>
                <a:highlight>
                  <a:srgbClr val="0E1013"/>
                </a:highlight>
                <a:latin typeface="Courier New"/>
                <a:ea typeface="Courier New"/>
                <a:cs typeface="Courier New"/>
              </a:rPr>
              <a:t>(10.42.0.5)' can't be established.</a:t>
            </a:r>
            <a:endParaRPr lang="en-US" sz="2050"/>
          </a:p>
          <a:p>
            <a:pPr marL="0" indent="0" algn="l">
              <a:lnSpc>
                <a:spcPct val="126631"/>
              </a:lnSpc>
              <a:buNone/>
              <a:defRPr/>
            </a:pPr>
            <a:r>
              <a:rPr lang="en-US" sz="2050">
                <a:solidFill>
                  <a:srgbClr val="F2F4F7"/>
                </a:solidFill>
                <a:highlight>
                  <a:srgbClr val="0E1013"/>
                </a:highlight>
                <a:latin typeface="Courier New"/>
                <a:ea typeface="Courier New"/>
                <a:cs typeface="Courier New"/>
              </a:rPr>
              <a:t>ED25519 key fingerprint is SHA256:....</a:t>
            </a:r>
            <a:endParaRPr lang="en-US" sz="2050"/>
          </a:p>
          <a:p>
            <a:pPr marL="0" indent="0" algn="l">
              <a:lnSpc>
                <a:spcPct val="126631"/>
              </a:lnSpc>
              <a:buNone/>
              <a:defRPr/>
            </a:pPr>
            <a:r>
              <a:rPr lang="en-US" sz="2050">
                <a:solidFill>
                  <a:srgbClr val="F2F4F7"/>
                </a:solidFill>
                <a:highlight>
                  <a:srgbClr val="0E1013"/>
                </a:highlight>
                <a:latin typeface="Courier New"/>
                <a:ea typeface="Courier New"/>
                <a:cs typeface="Courier New"/>
              </a:rPr>
              <a:t>Are you sure you want to continue</a:t>
            </a:r>
            <a:endParaRPr lang="en-US" sz="2050"/>
          </a:p>
          <a:p>
            <a:pPr marL="0" indent="0" algn="l">
              <a:lnSpc>
                <a:spcPct val="126631"/>
              </a:lnSpc>
              <a:buNone/>
              <a:defRPr/>
            </a:pPr>
            <a:r>
              <a:rPr lang="en-US" sz="2050">
                <a:solidFill>
                  <a:srgbClr val="F2F4F7"/>
                </a:solidFill>
                <a:highlight>
                  <a:srgbClr val="0E1013"/>
                </a:highlight>
                <a:latin typeface="Courier New"/>
                <a:ea typeface="Courier New"/>
                <a:cs typeface="Courier New"/>
              </a:rPr>
              <a:t>connecting (yes/no/[fingerprint])?  </a:t>
            </a:r>
            <a:r>
              <a:rPr lang="en-US" sz="2050">
                <a:solidFill>
                  <a:srgbClr val="F5A97F"/>
                </a:solidFill>
                <a:latin typeface="Courier New"/>
                <a:ea typeface="Courier New"/>
                <a:cs typeface="Courier New"/>
              </a:rPr>
              <a:t>yes</a:t>
            </a:r>
            <a:endParaRPr lang="en-US" sz="2050"/>
          </a:p>
        </p:txBody>
      </p:sp>
      <p:sp>
        <p:nvSpPr>
          <p:cNvPr id="7496340" name="Shape 33"/>
          <p:cNvSpPr/>
          <p:nvPr/>
        </p:nvSpPr>
        <p:spPr bwMode="auto">
          <a:xfrm>
            <a:off x="9544050" y="6814185"/>
            <a:ext cx="7772400" cy="2026285"/>
          </a:xfrm>
          <a:prstGeom prst="roundRect">
            <a:avLst>
              <a:gd name="adj" fmla="val 3761"/>
            </a:avLst>
          </a:prstGeom>
          <a:solidFill>
            <a:srgbClr val="F3E2CD"/>
          </a:solidFill>
          <a:ln/>
        </p:spPr>
      </p:sp>
      <p:sp>
        <p:nvSpPr>
          <p:cNvPr id="1959724711" name="Shape 34"/>
          <p:cNvSpPr/>
          <p:nvPr/>
        </p:nvSpPr>
        <p:spPr bwMode="auto">
          <a:xfrm>
            <a:off x="9544050" y="6814185"/>
            <a:ext cx="111125" cy="2026285"/>
          </a:xfrm>
          <a:prstGeom prst="rect">
            <a:avLst/>
          </a:prstGeom>
          <a:solidFill>
            <a:srgbClr val="002060"/>
          </a:solidFill>
          <a:ln/>
        </p:spPr>
      </p:sp>
      <p:sp>
        <p:nvSpPr>
          <p:cNvPr id="48524527" name="Text 35"/>
          <p:cNvSpPr/>
          <p:nvPr/>
        </p:nvSpPr>
        <p:spPr bwMode="auto">
          <a:xfrm>
            <a:off x="9940925" y="7042785"/>
            <a:ext cx="347504" cy="426720"/>
          </a:xfrm>
          <a:prstGeom prst="rect">
            <a:avLst/>
          </a:prstGeom>
          <a:noFill/>
          <a:ln/>
        </p:spPr>
        <p:txBody>
          <a:bodyPr wrap="square" lIns="25400" tIns="25400" rIns="25400" bIns="25400" rtlCol="0" anchor="t">
            <a:normAutofit/>
          </a:bodyPr>
          <a:lstStyle/>
          <a:p>
            <a:pPr marL="0" indent="0" algn="l">
              <a:lnSpc>
                <a:spcPct val="105973"/>
              </a:lnSpc>
              <a:buNone/>
              <a:defRPr/>
            </a:pPr>
            <a:r>
              <a:rPr lang="en-US" sz="2550">
                <a:solidFill>
                  <a:srgbClr val="002060"/>
                </a:solidFill>
                <a:latin typeface="Arial"/>
                <a:ea typeface="Arial"/>
                <a:cs typeface="Arial"/>
              </a:rPr>
              <a:t>→</a:t>
            </a:r>
            <a:endParaRPr lang="en-US" sz="2550"/>
          </a:p>
        </p:txBody>
      </p:sp>
      <p:sp>
        <p:nvSpPr>
          <p:cNvPr id="1566687928" name="Text 36"/>
          <p:cNvSpPr/>
          <p:nvPr/>
        </p:nvSpPr>
        <p:spPr bwMode="auto">
          <a:xfrm>
            <a:off x="10421779" y="7042785"/>
            <a:ext cx="6807189" cy="1607185"/>
          </a:xfrm>
          <a:prstGeom prst="rect">
            <a:avLst/>
          </a:prstGeom>
          <a:noFill/>
          <a:ln/>
        </p:spPr>
        <p:txBody>
          <a:bodyPr wrap="square" lIns="25400" tIns="25400" rIns="25400" bIns="25400" rtlCol="0" anchor="t">
            <a:normAutofit/>
          </a:bodyPr>
          <a:lstStyle/>
          <a:p>
            <a:pPr marL="0" indent="0" algn="l">
              <a:lnSpc>
                <a:spcPct val="123859"/>
              </a:lnSpc>
              <a:buNone/>
              <a:defRPr/>
            </a:pPr>
            <a:r>
              <a:rPr lang="en-US" sz="2200">
                <a:solidFill>
                  <a:srgbClr val="2A3040"/>
                </a:solidFill>
                <a:latin typeface="Arial"/>
                <a:ea typeface="Arial"/>
                <a:cs typeface="Arial"/>
              </a:rPr>
              <a:t>Not an error. SSH has no record of this robot yet and is asking you to confirm it is the right machine. </a:t>
            </a:r>
            <a:r>
              <a:rPr lang="en-US" sz="2200" b="1">
                <a:solidFill>
                  <a:srgbClr val="002060"/>
                </a:solidFill>
                <a:latin typeface="Arial"/>
                <a:ea typeface="Arial"/>
                <a:cs typeface="Arial"/>
              </a:rPr>
              <a:t>Type </a:t>
            </a:r>
            <a:r>
              <a:rPr lang="en-US" sz="2050" b="1">
                <a:solidFill>
                  <a:srgbClr val="002060"/>
                </a:solidFill>
                <a:latin typeface="Courier New"/>
                <a:ea typeface="Courier New"/>
                <a:cs typeface="Courier New"/>
              </a:rPr>
              <a:t>yes </a:t>
            </a:r>
            <a:r>
              <a:rPr lang="en-US" sz="2200">
                <a:solidFill>
                  <a:srgbClr val="2A3040"/>
                </a:solidFill>
                <a:latin typeface="Arial"/>
                <a:ea typeface="Arial"/>
                <a:cs typeface="Arial"/>
              </a:rPr>
              <a:t>— the full word — and press Enter. You will not be asked again for that robot.</a:t>
            </a:r>
            <a:endParaRPr lang="en-US" sz="2200"/>
          </a:p>
        </p:txBody>
      </p:sp>
      <p:sp>
        <p:nvSpPr>
          <p:cNvPr id="1201126667" name="Shape 37"/>
          <p:cNvSpPr/>
          <p:nvPr/>
        </p:nvSpPr>
        <p:spPr bwMode="auto">
          <a:xfrm>
            <a:off x="1257300" y="9323387"/>
            <a:ext cx="4960461" cy="601663"/>
          </a:xfrm>
          <a:prstGeom prst="roundRect">
            <a:avLst>
              <a:gd name="adj" fmla="val 50000"/>
            </a:avLst>
          </a:prstGeom>
          <a:ln w="27781">
            <a:solidFill>
              <a:srgbClr val="002060">
                <a:alpha val="15999"/>
              </a:srgbClr>
            </a:solidFill>
            <a:prstDash val="solid"/>
          </a:ln>
        </p:spPr>
      </p:sp>
      <p:sp>
        <p:nvSpPr>
          <p:cNvPr id="612471020" name="Text 38"/>
          <p:cNvSpPr/>
          <p:nvPr/>
        </p:nvSpPr>
        <p:spPr bwMode="auto">
          <a:xfrm>
            <a:off x="1532731" y="9446419"/>
            <a:ext cx="672147" cy="393700"/>
          </a:xfrm>
          <a:prstGeom prst="rect">
            <a:avLst/>
          </a:prstGeom>
          <a:noFill/>
          <a:ln/>
        </p:spPr>
        <p:txBody>
          <a:bodyPr wrap="square" lIns="25400" tIns="25400" rIns="25400" bIns="25400" rtlCol="0" anchor="t">
            <a:normAutofit/>
          </a:bodyPr>
          <a:lstStyle/>
          <a:p>
            <a:pPr marL="0" indent="0" algn="l">
              <a:buNone/>
              <a:defRPr/>
            </a:pPr>
            <a:r>
              <a:rPr lang="en-US" sz="1900" b="1">
                <a:solidFill>
                  <a:srgbClr val="DB5817"/>
                </a:solidFill>
                <a:latin typeface="Arial"/>
                <a:ea typeface="Arial"/>
                <a:cs typeface="Arial"/>
              </a:rPr>
              <a:t>Docs</a:t>
            </a:r>
            <a:endParaRPr lang="en-US" sz="1900"/>
          </a:p>
        </p:txBody>
      </p:sp>
      <p:sp>
        <p:nvSpPr>
          <p:cNvPr id="1138448126" name="Text 39"/>
          <p:cNvSpPr/>
          <p:nvPr/>
        </p:nvSpPr>
        <p:spPr bwMode="auto">
          <a:xfrm>
            <a:off x="2262029" y="9457531"/>
            <a:ext cx="3790710" cy="371475"/>
          </a:xfrm>
          <a:prstGeom prst="rect">
            <a:avLst/>
          </a:prstGeom>
          <a:noFill/>
          <a:ln/>
        </p:spPr>
        <p:txBody>
          <a:bodyPr wrap="square" lIns="0" tIns="0" rIns="0" bIns="0" rtlCol="0" anchor="t">
            <a:normAutofit/>
          </a:bodyPr>
          <a:lstStyle/>
          <a:p>
            <a:pPr marL="0" indent="0" algn="l">
              <a:buNone/>
              <a:defRPr/>
            </a:pPr>
            <a:r>
              <a:rPr lang="en-US" sz="1900">
                <a:solidFill>
                  <a:srgbClr val="002060"/>
                </a:solidFill>
                <a:latin typeface="Arial"/>
                <a:ea typeface="Arial"/>
                <a:cs typeface="Arial"/>
              </a:rPr>
              <a:t>Toolkit — SSH &amp; Remote Access</a:t>
            </a:r>
            <a:endParaRPr lang="en-US" sz="1900"/>
          </a:p>
        </p:txBody>
      </p:sp>
      <p:pic>
        <p:nvPicPr>
          <p:cNvPr id="1392200430" name="Image 1" descr="preencoded.png"/>
          <p:cNvPicPr>
            <a:picLocks noChangeAspect="1"/>
          </p:cNvPicPr>
          <p:nvPr/>
        </p:nvPicPr>
        <p:blipFill rotWithShape="1">
          <a:blip r:embed="rId4"/>
          <a:stretch/>
        </p:blipFill>
        <p:spPr bwMode="auto">
          <a:xfrm>
            <a:off x="17461389" y="9561512"/>
            <a:ext cx="197960" cy="34448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8">
    <p:bg>
      <p:bgPr shadeToTitle="0">
        <a:solidFill>
          <a:srgbClr val="FFFFFF"/>
        </a:solidFill>
      </p:bgPr>
    </p:bg>
    <p:spTree>
      <p:nvGrpSpPr>
        <p:cNvPr id="1" name=""/>
        <p:cNvGrpSpPr/>
        <p:nvPr/>
      </p:nvGrpSpPr>
      <p:grpSpPr bwMode="auto">
        <a:xfrm>
          <a:off x="0" y="0"/>
          <a:ext cx="0" cy="0"/>
          <a:chOff x="0" y="0"/>
          <a:chExt cx="0" cy="0"/>
        </a:xfrm>
      </p:grpSpPr>
      <p:sp>
        <p:nvSpPr>
          <p:cNvPr id="862743807" name="Shape 0"/>
          <p:cNvSpPr/>
          <p:nvPr/>
        </p:nvSpPr>
        <p:spPr bwMode="auto">
          <a:xfrm>
            <a:off x="971550" y="0"/>
            <a:ext cx="28575" cy="10287000"/>
          </a:xfrm>
          <a:prstGeom prst="rect">
            <a:avLst/>
          </a:prstGeom>
          <a:solidFill>
            <a:srgbClr val="002060">
              <a:alpha val="15999"/>
            </a:srgbClr>
          </a:solidFill>
          <a:ln/>
        </p:spPr>
      </p:sp>
      <p:sp>
        <p:nvSpPr>
          <p:cNvPr id="743386965" name="Shape 1"/>
          <p:cNvSpPr/>
          <p:nvPr/>
        </p:nvSpPr>
        <p:spPr bwMode="auto">
          <a:xfrm>
            <a:off x="971550" y="1009650"/>
            <a:ext cx="16687800" cy="28575"/>
          </a:xfrm>
          <a:prstGeom prst="rect">
            <a:avLst/>
          </a:prstGeom>
          <a:solidFill>
            <a:srgbClr val="002060">
              <a:alpha val="15999"/>
            </a:srgbClr>
          </a:solidFill>
          <a:ln/>
        </p:spPr>
      </p:sp>
      <p:pic>
        <p:nvPicPr>
          <p:cNvPr id="165350383" name="Image 0" descr="preencoded.png"/>
          <p:cNvPicPr>
            <a:picLocks noChangeAspect="1"/>
          </p:cNvPicPr>
          <p:nvPr/>
        </p:nvPicPr>
        <p:blipFill rotWithShape="1">
          <a:blip r:embed="rId3"/>
          <a:stretch/>
        </p:blipFill>
        <p:spPr bwMode="auto">
          <a:xfrm>
            <a:off x="1257300" y="209550"/>
            <a:ext cx="779621" cy="647700"/>
          </a:xfrm>
          <a:prstGeom prst="rect">
            <a:avLst/>
          </a:prstGeom>
        </p:spPr>
      </p:pic>
      <p:sp>
        <p:nvSpPr>
          <p:cNvPr id="809715421" name="Text 2"/>
          <p:cNvSpPr/>
          <p:nvPr/>
        </p:nvSpPr>
        <p:spPr bwMode="auto">
          <a:xfrm>
            <a:off x="14455616" y="400050"/>
            <a:ext cx="3524107" cy="393700"/>
          </a:xfrm>
          <a:prstGeom prst="rect">
            <a:avLst/>
          </a:prstGeom>
          <a:noFill/>
          <a:ln/>
        </p:spPr>
        <p:txBody>
          <a:bodyPr wrap="square" lIns="25400" tIns="25400" rIns="25400" bIns="25400" rtlCol="0" anchor="t">
            <a:normAutofit/>
          </a:bodyPr>
          <a:lstStyle/>
          <a:p>
            <a:pPr marL="0" indent="0" algn="l">
              <a:buNone/>
              <a:defRPr/>
            </a:pPr>
            <a:r>
              <a:rPr lang="en-US" sz="1900" spc="75">
                <a:solidFill>
                  <a:srgbClr val="DB5817"/>
                </a:solidFill>
                <a:latin typeface="Arial"/>
                <a:ea typeface="Arial"/>
                <a:cs typeface="Arial"/>
              </a:rPr>
              <a:t>www.centex-sarawak.my</a:t>
            </a:r>
            <a:endParaRPr lang="en-US" sz="1900"/>
          </a:p>
        </p:txBody>
      </p:sp>
      <p:sp>
        <p:nvSpPr>
          <p:cNvPr id="894872726" name="Text 3"/>
          <p:cNvSpPr/>
          <p:nvPr/>
        </p:nvSpPr>
        <p:spPr bwMode="auto">
          <a:xfrm>
            <a:off x="1257300" y="1905000"/>
            <a:ext cx="17665065" cy="410369"/>
          </a:xfrm>
          <a:prstGeom prst="rect">
            <a:avLst/>
          </a:prstGeom>
          <a:noFill/>
          <a:ln/>
        </p:spPr>
        <p:txBody>
          <a:bodyPr wrap="square" lIns="25400" tIns="25400" rIns="25400" bIns="25400" rtlCol="0" anchor="t">
            <a:normAutofit/>
          </a:bodyPr>
          <a:lstStyle/>
          <a:p>
            <a:pPr marL="0" indent="0" algn="l">
              <a:buNone/>
              <a:defRPr/>
            </a:pPr>
            <a:r>
              <a:rPr lang="en-US" sz="1950" b="1" spc="311">
                <a:solidFill>
                  <a:srgbClr val="DB5817"/>
                </a:solidFill>
                <a:latin typeface="Arial"/>
                <a:ea typeface="Arial"/>
                <a:cs typeface="Arial"/>
              </a:rPr>
              <a:t>WORTH KNOWING</a:t>
            </a:r>
            <a:endParaRPr lang="en-US" sz="1950"/>
          </a:p>
        </p:txBody>
      </p:sp>
      <p:sp>
        <p:nvSpPr>
          <p:cNvPr id="1206241014" name="Text 4"/>
          <p:cNvSpPr/>
          <p:nvPr/>
        </p:nvSpPr>
        <p:spPr bwMode="auto">
          <a:xfrm>
            <a:off x="1257300" y="2486819"/>
            <a:ext cx="17665065" cy="805497"/>
          </a:xfrm>
          <a:prstGeom prst="rect">
            <a:avLst/>
          </a:prstGeom>
          <a:noFill/>
          <a:ln/>
        </p:spPr>
        <p:txBody>
          <a:bodyPr wrap="square" lIns="25400" tIns="25400" rIns="25400" bIns="25400" rtlCol="0" anchor="t">
            <a:normAutofit/>
          </a:bodyPr>
          <a:lstStyle/>
          <a:p>
            <a:pPr marL="0" indent="0" algn="l">
              <a:lnSpc>
                <a:spcPct val="94599"/>
              </a:lnSpc>
              <a:buNone/>
              <a:defRPr/>
            </a:pPr>
            <a:r>
              <a:rPr lang="en-US" sz="5700" b="1" spc="-57">
                <a:solidFill>
                  <a:srgbClr val="002060"/>
                </a:solidFill>
                <a:latin typeface="Arial"/>
                <a:ea typeface="Arial"/>
                <a:cs typeface="Arial"/>
              </a:rPr>
              <a:t>Ask the robot for its own address</a:t>
            </a:r>
            <a:endParaRPr lang="en-US" sz="5700"/>
          </a:p>
        </p:txBody>
      </p:sp>
      <p:sp>
        <p:nvSpPr>
          <p:cNvPr id="1767053836" name="Text 5"/>
          <p:cNvSpPr/>
          <p:nvPr/>
        </p:nvSpPr>
        <p:spPr bwMode="auto">
          <a:xfrm>
            <a:off x="1257300" y="3444716"/>
            <a:ext cx="13101276" cy="998220"/>
          </a:xfrm>
          <a:prstGeom prst="rect">
            <a:avLst/>
          </a:prstGeom>
          <a:noFill/>
          <a:ln/>
        </p:spPr>
        <p:txBody>
          <a:bodyPr wrap="square" lIns="25400" tIns="25400" rIns="25400" bIns="25400" rtlCol="0" anchor="t">
            <a:normAutofit/>
          </a:bodyPr>
          <a:lstStyle/>
          <a:p>
            <a:pPr marL="0" indent="0" algn="l">
              <a:lnSpc>
                <a:spcPct val="123429"/>
              </a:lnSpc>
              <a:buNone/>
              <a:defRPr/>
            </a:pPr>
            <a:r>
              <a:rPr lang="en-US" sz="2700">
                <a:solidFill>
                  <a:srgbClr val="2A3040"/>
                </a:solidFill>
                <a:latin typeface="Arial"/>
                <a:ea typeface="Arial"/>
                <a:cs typeface="Arial"/>
              </a:rPr>
              <a:t>On a phone hotspot or the lab WiFi the address is handed out by the network, not fixed. Ask the robot directly.</a:t>
            </a:r>
            <a:endParaRPr lang="en-US" sz="2700"/>
          </a:p>
        </p:txBody>
      </p:sp>
      <p:sp>
        <p:nvSpPr>
          <p:cNvPr id="1435669750" name="Shape 6"/>
          <p:cNvSpPr/>
          <p:nvPr/>
        </p:nvSpPr>
        <p:spPr bwMode="auto">
          <a:xfrm>
            <a:off x="1257300" y="4614386"/>
            <a:ext cx="16059150" cy="2007870"/>
          </a:xfrm>
          <a:prstGeom prst="roundRect">
            <a:avLst>
              <a:gd name="adj" fmla="val 4744"/>
            </a:avLst>
          </a:prstGeom>
          <a:ln/>
          <a:effectLst>
            <a:outerShdw blurRad="323850" dist="114300" dir="5400000" sx="100000" sy="100000" kx="0" ky="0" algn="bl" rotWithShape="0">
              <a:srgbClr val="002060">
                <a:alpha val="18000"/>
              </a:srgbClr>
            </a:outerShdw>
          </a:effectLst>
        </p:spPr>
      </p:sp>
      <p:sp>
        <p:nvSpPr>
          <p:cNvPr id="687913474" name="Shape 7"/>
          <p:cNvSpPr/>
          <p:nvPr/>
        </p:nvSpPr>
        <p:spPr bwMode="auto">
          <a:xfrm>
            <a:off x="1257300" y="4614386"/>
            <a:ext cx="16059150" cy="666750"/>
          </a:xfrm>
          <a:prstGeom prst="rect">
            <a:avLst/>
          </a:prstGeom>
          <a:solidFill>
            <a:srgbClr val="23262E"/>
          </a:solidFill>
          <a:ln/>
        </p:spPr>
      </p:sp>
      <p:sp>
        <p:nvSpPr>
          <p:cNvPr id="547584851" name="Shape 8"/>
          <p:cNvSpPr/>
          <p:nvPr/>
        </p:nvSpPr>
        <p:spPr bwMode="auto">
          <a:xfrm>
            <a:off x="1524000" y="4747736"/>
            <a:ext cx="2937986" cy="400050"/>
          </a:xfrm>
          <a:prstGeom prst="roundRect">
            <a:avLst>
              <a:gd name="adj" fmla="val 14286"/>
            </a:avLst>
          </a:prstGeom>
          <a:solidFill>
            <a:srgbClr val="C51A4A"/>
          </a:solidFill>
          <a:ln/>
        </p:spPr>
      </p:sp>
      <p:sp>
        <p:nvSpPr>
          <p:cNvPr id="506511186" name="Text 9"/>
          <p:cNvSpPr/>
          <p:nvPr/>
        </p:nvSpPr>
        <p:spPr bwMode="auto">
          <a:xfrm>
            <a:off x="1714500" y="4804885"/>
            <a:ext cx="2645126" cy="323850"/>
          </a:xfrm>
          <a:prstGeom prst="rect">
            <a:avLst/>
          </a:prstGeom>
          <a:noFill/>
          <a:ln/>
        </p:spPr>
        <p:txBody>
          <a:bodyPr wrap="none" lIns="25400" tIns="25400" rIns="25400" bIns="25400" rtlCol="0" anchor="ctr">
            <a:normAutofit/>
          </a:bodyPr>
          <a:lstStyle/>
          <a:p>
            <a:pPr marL="0" indent="0" algn="l">
              <a:lnSpc>
                <a:spcPct val="104956"/>
              </a:lnSpc>
              <a:buNone/>
              <a:defRPr/>
            </a:pPr>
            <a:r>
              <a:rPr lang="en-US" sz="1900" b="1">
                <a:solidFill>
                  <a:srgbClr val="FFFFFF"/>
                </a:solidFill>
                <a:latin typeface="Arial"/>
                <a:ea typeface="Arial"/>
                <a:cs typeface="Arial"/>
              </a:rPr>
              <a:t>A2Bot — Raspberry Pi</a:t>
            </a:r>
            <a:endParaRPr lang="en-US" sz="1900"/>
          </a:p>
        </p:txBody>
      </p:sp>
      <p:sp>
        <p:nvSpPr>
          <p:cNvPr id="1729675081" name="Text 10"/>
          <p:cNvSpPr/>
          <p:nvPr/>
        </p:nvSpPr>
        <p:spPr bwMode="auto">
          <a:xfrm>
            <a:off x="4671536" y="4775518"/>
            <a:ext cx="6479286" cy="382588"/>
          </a:xfrm>
          <a:prstGeom prst="rect">
            <a:avLst/>
          </a:prstGeom>
          <a:noFill/>
          <a:ln/>
        </p:spPr>
        <p:txBody>
          <a:bodyPr wrap="square" lIns="25400" tIns="25400" rIns="25400" bIns="25400" rtlCol="0" anchor="t">
            <a:normAutofit/>
          </a:bodyPr>
          <a:lstStyle/>
          <a:p>
            <a:pPr marL="0" indent="0" algn="l">
              <a:buNone/>
              <a:defRPr/>
            </a:pPr>
            <a:r>
              <a:rPr lang="en-US" sz="1800">
                <a:solidFill>
                  <a:srgbClr val="FFFFFF">
                    <a:alpha val="82000"/>
                  </a:srgbClr>
                </a:solidFill>
                <a:latin typeface="Arial"/>
                <a:ea typeface="Arial"/>
                <a:cs typeface="Arial"/>
              </a:rPr>
              <a:t>Run this on the robot — prints every address it holds</a:t>
            </a:r>
            <a:endParaRPr lang="en-US" sz="1800"/>
          </a:p>
        </p:txBody>
      </p:sp>
      <p:sp>
        <p:nvSpPr>
          <p:cNvPr id="1279284638" name="Shape 11"/>
          <p:cNvSpPr/>
          <p:nvPr/>
        </p:nvSpPr>
        <p:spPr bwMode="auto">
          <a:xfrm>
            <a:off x="1257300" y="5281136"/>
            <a:ext cx="16059150" cy="1341120"/>
          </a:xfrm>
          <a:prstGeom prst="rect">
            <a:avLst/>
          </a:prstGeom>
          <a:solidFill>
            <a:srgbClr val="0E1013"/>
          </a:solidFill>
          <a:ln/>
        </p:spPr>
      </p:sp>
      <p:sp>
        <p:nvSpPr>
          <p:cNvPr id="271470101" name="Shape 12"/>
          <p:cNvSpPr/>
          <p:nvPr/>
        </p:nvSpPr>
        <p:spPr bwMode="auto">
          <a:xfrm>
            <a:off x="1257300" y="5281136"/>
            <a:ext cx="111125" cy="1341120"/>
          </a:xfrm>
          <a:prstGeom prst="rect">
            <a:avLst/>
          </a:prstGeom>
          <a:solidFill>
            <a:srgbClr val="C51A4A"/>
          </a:solidFill>
          <a:ln/>
        </p:spPr>
      </p:sp>
      <p:sp>
        <p:nvSpPr>
          <p:cNvPr id="582810886" name="Text 13"/>
          <p:cNvSpPr/>
          <p:nvPr/>
        </p:nvSpPr>
        <p:spPr bwMode="auto">
          <a:xfrm>
            <a:off x="1654175" y="5509736"/>
            <a:ext cx="15858299" cy="922020"/>
          </a:xfrm>
          <a:prstGeom prst="rect">
            <a:avLst/>
          </a:prstGeom>
          <a:noFill/>
          <a:ln/>
        </p:spPr>
        <p:txBody>
          <a:bodyPr wrap="square" lIns="25400" tIns="25400" rIns="25400" bIns="25400" rtlCol="0" anchor="t">
            <a:normAutofit/>
          </a:bodyPr>
          <a:lstStyle/>
          <a:p>
            <a:pPr marL="0" indent="0" algn="l">
              <a:lnSpc>
                <a:spcPct val="126259"/>
              </a:lnSpc>
              <a:buNone/>
              <a:defRPr/>
            </a:pPr>
            <a:r>
              <a:rPr lang="en-US" sz="2400">
                <a:solidFill>
                  <a:srgbClr val="7FD1A6"/>
                </a:solidFill>
                <a:latin typeface="Courier New"/>
                <a:ea typeface="Courier New"/>
                <a:cs typeface="Courier New"/>
              </a:rPr>
              <a:t>a2botX@a2botX-host:~$</a:t>
            </a:r>
            <a:r>
              <a:rPr lang="en-US" sz="2400">
                <a:solidFill>
                  <a:srgbClr val="F2F4F7"/>
                </a:solidFill>
                <a:highlight>
                  <a:srgbClr val="0E1013"/>
                </a:highlight>
                <a:latin typeface="Courier New"/>
                <a:ea typeface="Courier New"/>
                <a:cs typeface="Courier New"/>
              </a:rPr>
              <a:t> hostname -I </a:t>
            </a:r>
            <a:endParaRPr lang="en-US" sz="2400">
              <a:solidFill>
                <a:srgbClr val="F5A97F"/>
              </a:solidFill>
              <a:latin typeface="Courier New"/>
              <a:ea typeface="Courier New"/>
              <a:cs typeface="Courier New"/>
            </a:endParaRPr>
          </a:p>
          <a:p>
            <a:pPr marL="0" indent="0" algn="l">
              <a:lnSpc>
                <a:spcPct val="126259"/>
              </a:lnSpc>
              <a:buNone/>
              <a:defRPr/>
            </a:pPr>
            <a:r>
              <a:rPr lang="en-US" sz="2400">
                <a:solidFill>
                  <a:srgbClr val="F5A97F"/>
                </a:solidFill>
                <a:latin typeface="Courier New"/>
                <a:ea typeface="Courier New"/>
                <a:cs typeface="Courier New"/>
              </a:rPr>
              <a:t>10.42.0.5  192.168.43.117</a:t>
            </a:r>
            <a:endParaRPr lang="en-US" sz="2400"/>
          </a:p>
        </p:txBody>
      </p:sp>
      <p:sp>
        <p:nvSpPr>
          <p:cNvPr id="130478554" name="Shape 14"/>
          <p:cNvSpPr/>
          <p:nvPr/>
        </p:nvSpPr>
        <p:spPr bwMode="auto">
          <a:xfrm>
            <a:off x="1257300" y="6908006"/>
            <a:ext cx="15160625" cy="845820"/>
          </a:xfrm>
          <a:prstGeom prst="roundRect">
            <a:avLst>
              <a:gd name="adj" fmla="val 9009"/>
            </a:avLst>
          </a:prstGeom>
          <a:solidFill>
            <a:srgbClr val="F3E2CD"/>
          </a:solidFill>
          <a:ln/>
        </p:spPr>
      </p:sp>
      <p:sp>
        <p:nvSpPr>
          <p:cNvPr id="1446293853" name="Shape 15"/>
          <p:cNvSpPr/>
          <p:nvPr/>
        </p:nvSpPr>
        <p:spPr bwMode="auto">
          <a:xfrm>
            <a:off x="1257300" y="6908006"/>
            <a:ext cx="111125" cy="845820"/>
          </a:xfrm>
          <a:prstGeom prst="rect">
            <a:avLst/>
          </a:prstGeom>
          <a:solidFill>
            <a:srgbClr val="002060"/>
          </a:solidFill>
          <a:ln/>
        </p:spPr>
      </p:sp>
      <p:sp>
        <p:nvSpPr>
          <p:cNvPr id="1859409517" name="Text 16"/>
          <p:cNvSpPr/>
          <p:nvPr/>
        </p:nvSpPr>
        <p:spPr bwMode="auto">
          <a:xfrm>
            <a:off x="1654175" y="7136606"/>
            <a:ext cx="347504" cy="426720"/>
          </a:xfrm>
          <a:prstGeom prst="rect">
            <a:avLst/>
          </a:prstGeom>
          <a:noFill/>
          <a:ln/>
        </p:spPr>
        <p:txBody>
          <a:bodyPr wrap="square" lIns="25400" tIns="25400" rIns="25400" bIns="25400" rtlCol="0" anchor="t">
            <a:normAutofit/>
          </a:bodyPr>
          <a:lstStyle/>
          <a:p>
            <a:pPr marL="0" indent="0" algn="l">
              <a:lnSpc>
                <a:spcPct val="105973"/>
              </a:lnSpc>
              <a:buNone/>
              <a:defRPr/>
            </a:pPr>
            <a:r>
              <a:rPr lang="en-US" sz="2550">
                <a:solidFill>
                  <a:srgbClr val="002060"/>
                </a:solidFill>
                <a:latin typeface="Arial"/>
                <a:ea typeface="Arial"/>
                <a:cs typeface="Arial"/>
              </a:rPr>
              <a:t>→</a:t>
            </a:r>
            <a:endParaRPr lang="en-US" sz="2550"/>
          </a:p>
        </p:txBody>
      </p:sp>
      <p:sp>
        <p:nvSpPr>
          <p:cNvPr id="1384955425" name="Text 17"/>
          <p:cNvSpPr/>
          <p:nvPr/>
        </p:nvSpPr>
        <p:spPr bwMode="auto">
          <a:xfrm>
            <a:off x="2135029" y="7136606"/>
            <a:ext cx="8060166" cy="424815"/>
          </a:xfrm>
          <a:prstGeom prst="rect">
            <a:avLst/>
          </a:prstGeom>
          <a:noFill/>
          <a:ln/>
        </p:spPr>
        <p:txBody>
          <a:bodyPr vertOverflow="overflow" horzOverflow="overflow" vert="horz" wrap="square" lIns="25399" tIns="25399" rIns="25399" bIns="25399" numCol="1" spcCol="0" rtlCol="0" fromWordArt="0" anchor="t" anchorCtr="0" forceAA="0" upright="0" compatLnSpc="0">
            <a:normAutofit fontScale="80000" lnSpcReduction="4000"/>
          </a:bodyPr>
          <a:lstStyle/>
          <a:p>
            <a:pPr marL="0" indent="0" algn="l">
              <a:lnSpc>
                <a:spcPct val="122105"/>
              </a:lnSpc>
              <a:buNone/>
              <a:defRPr/>
            </a:pPr>
            <a:r>
              <a:rPr lang="en-US" sz="2200">
                <a:solidFill>
                  <a:srgbClr val="14161C"/>
                </a:solidFill>
                <a:latin typeface="Arial"/>
                <a:ea typeface="Arial"/>
                <a:cs typeface="Arial"/>
              </a:rPr>
              <a:t>Write it down — that address plus a port is your way back in to the dashboard.</a:t>
            </a:r>
            <a:endParaRPr lang="en-US" sz="2200"/>
          </a:p>
        </p:txBody>
      </p:sp>
      <p:pic>
        <p:nvPicPr>
          <p:cNvPr id="89411355" name="Image 1" descr="preencoded.png"/>
          <p:cNvPicPr>
            <a:picLocks noChangeAspect="1"/>
          </p:cNvPicPr>
          <p:nvPr/>
        </p:nvPicPr>
        <p:blipFill rotWithShape="1">
          <a:blip r:embed="rId4"/>
          <a:stretch/>
        </p:blipFill>
        <p:spPr bwMode="auto">
          <a:xfrm>
            <a:off x="17441862" y="9561512"/>
            <a:ext cx="217487" cy="34448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9">
    <p:bg>
      <p:bgPr shadeToTitle="0">
        <a:solidFill>
          <a:srgbClr val="FFFFFF"/>
        </a:solidFill>
      </p:bgPr>
    </p:bg>
    <p:spTree>
      <p:nvGrpSpPr>
        <p:cNvPr id="1" name=""/>
        <p:cNvGrpSpPr/>
        <p:nvPr/>
      </p:nvGrpSpPr>
      <p:grpSpPr bwMode="auto">
        <a:xfrm>
          <a:off x="0" y="0"/>
          <a:ext cx="0" cy="0"/>
          <a:chOff x="0" y="0"/>
          <a:chExt cx="0" cy="0"/>
        </a:xfrm>
      </p:grpSpPr>
      <p:sp>
        <p:nvSpPr>
          <p:cNvPr id="545956855" name="Shape 0"/>
          <p:cNvSpPr/>
          <p:nvPr/>
        </p:nvSpPr>
        <p:spPr bwMode="auto">
          <a:xfrm>
            <a:off x="971550" y="0"/>
            <a:ext cx="28575" cy="10287000"/>
          </a:xfrm>
          <a:prstGeom prst="rect">
            <a:avLst/>
          </a:prstGeom>
          <a:solidFill>
            <a:srgbClr val="002060">
              <a:alpha val="15999"/>
            </a:srgbClr>
          </a:solidFill>
          <a:ln/>
        </p:spPr>
      </p:sp>
      <p:sp>
        <p:nvSpPr>
          <p:cNvPr id="842206576" name="Shape 1"/>
          <p:cNvSpPr/>
          <p:nvPr/>
        </p:nvSpPr>
        <p:spPr bwMode="auto">
          <a:xfrm>
            <a:off x="971550" y="1009650"/>
            <a:ext cx="16687800" cy="28575"/>
          </a:xfrm>
          <a:prstGeom prst="rect">
            <a:avLst/>
          </a:prstGeom>
          <a:solidFill>
            <a:srgbClr val="002060">
              <a:alpha val="15999"/>
            </a:srgbClr>
          </a:solidFill>
          <a:ln/>
        </p:spPr>
      </p:sp>
      <p:pic>
        <p:nvPicPr>
          <p:cNvPr id="759323225" name="Image 0" descr="preencoded.png"/>
          <p:cNvPicPr>
            <a:picLocks noChangeAspect="1"/>
          </p:cNvPicPr>
          <p:nvPr/>
        </p:nvPicPr>
        <p:blipFill rotWithShape="1">
          <a:blip r:embed="rId3"/>
          <a:stretch/>
        </p:blipFill>
        <p:spPr bwMode="auto">
          <a:xfrm>
            <a:off x="1257300" y="209550"/>
            <a:ext cx="779621" cy="647700"/>
          </a:xfrm>
          <a:prstGeom prst="rect">
            <a:avLst/>
          </a:prstGeom>
        </p:spPr>
      </p:pic>
      <p:sp>
        <p:nvSpPr>
          <p:cNvPr id="258705563" name="Text 2"/>
          <p:cNvSpPr/>
          <p:nvPr/>
        </p:nvSpPr>
        <p:spPr bwMode="auto">
          <a:xfrm>
            <a:off x="14455616" y="400050"/>
            <a:ext cx="3524107" cy="393700"/>
          </a:xfrm>
          <a:prstGeom prst="rect">
            <a:avLst/>
          </a:prstGeom>
          <a:noFill/>
          <a:ln/>
        </p:spPr>
        <p:txBody>
          <a:bodyPr wrap="square" lIns="25400" tIns="25400" rIns="25400" bIns="25400" rtlCol="0" anchor="t">
            <a:normAutofit/>
          </a:bodyPr>
          <a:lstStyle/>
          <a:p>
            <a:pPr marL="0" indent="0" algn="l">
              <a:buNone/>
              <a:defRPr/>
            </a:pPr>
            <a:r>
              <a:rPr lang="en-US" sz="1900" spc="75">
                <a:solidFill>
                  <a:srgbClr val="DB5817"/>
                </a:solidFill>
                <a:latin typeface="Arial"/>
                <a:ea typeface="Arial"/>
                <a:cs typeface="Arial"/>
              </a:rPr>
              <a:t>www.centex-sarawak.my</a:t>
            </a:r>
            <a:endParaRPr lang="en-US" sz="1900"/>
          </a:p>
        </p:txBody>
      </p:sp>
      <p:sp>
        <p:nvSpPr>
          <p:cNvPr id="1849527807" name="Text 3"/>
          <p:cNvSpPr/>
          <p:nvPr/>
        </p:nvSpPr>
        <p:spPr bwMode="auto">
          <a:xfrm>
            <a:off x="1257300" y="1905000"/>
            <a:ext cx="17665065" cy="410369"/>
          </a:xfrm>
          <a:prstGeom prst="rect">
            <a:avLst/>
          </a:prstGeom>
          <a:noFill/>
          <a:ln/>
        </p:spPr>
        <p:txBody>
          <a:bodyPr wrap="square" lIns="25400" tIns="25400" rIns="25400" bIns="25400" rtlCol="0" anchor="t">
            <a:normAutofit/>
          </a:bodyPr>
          <a:lstStyle/>
          <a:p>
            <a:pPr marL="0" indent="0" algn="l">
              <a:buNone/>
              <a:defRPr/>
            </a:pPr>
            <a:r>
              <a:rPr lang="en-US" sz="1950" b="1" spc="311">
                <a:solidFill>
                  <a:srgbClr val="DB5817"/>
                </a:solidFill>
                <a:latin typeface="Arial"/>
                <a:ea typeface="Arial"/>
                <a:cs typeface="Arial"/>
              </a:rPr>
              <a:t>STEP 4 · MATCH ROS 2</a:t>
            </a:r>
            <a:endParaRPr lang="en-US" sz="1950"/>
          </a:p>
        </p:txBody>
      </p:sp>
      <p:sp>
        <p:nvSpPr>
          <p:cNvPr id="20951643" name="Text 4"/>
          <p:cNvSpPr/>
          <p:nvPr/>
        </p:nvSpPr>
        <p:spPr bwMode="auto">
          <a:xfrm>
            <a:off x="1257300" y="2486819"/>
            <a:ext cx="17665065" cy="805497"/>
          </a:xfrm>
          <a:prstGeom prst="rect">
            <a:avLst/>
          </a:prstGeom>
          <a:noFill/>
          <a:ln/>
        </p:spPr>
        <p:txBody>
          <a:bodyPr wrap="square" lIns="25400" tIns="25400" rIns="25400" bIns="25400" rtlCol="0" anchor="t">
            <a:normAutofit/>
          </a:bodyPr>
          <a:lstStyle/>
          <a:p>
            <a:pPr marL="0" indent="0" algn="l">
              <a:lnSpc>
                <a:spcPct val="94599"/>
              </a:lnSpc>
              <a:buNone/>
              <a:defRPr/>
            </a:pPr>
            <a:r>
              <a:rPr lang="en-US" sz="5700" b="1" spc="-57">
                <a:solidFill>
                  <a:srgbClr val="002060"/>
                </a:solidFill>
                <a:latin typeface="Arial"/>
                <a:ea typeface="Arial"/>
                <a:cs typeface="Arial"/>
              </a:rPr>
              <a:t>Set your ROS domain</a:t>
            </a:r>
            <a:endParaRPr lang="en-US" sz="5700"/>
          </a:p>
        </p:txBody>
      </p:sp>
      <p:sp>
        <p:nvSpPr>
          <p:cNvPr id="1875637888" name="Text 5"/>
          <p:cNvSpPr/>
          <p:nvPr/>
        </p:nvSpPr>
        <p:spPr bwMode="auto">
          <a:xfrm>
            <a:off x="1257300" y="3520916"/>
            <a:ext cx="9528201" cy="1958340"/>
          </a:xfrm>
          <a:prstGeom prst="rect">
            <a:avLst/>
          </a:prstGeom>
          <a:noFill/>
          <a:ln/>
        </p:spPr>
        <p:txBody>
          <a:bodyPr wrap="square" lIns="25400" tIns="25400" rIns="25400" bIns="25400" rtlCol="0" anchor="t">
            <a:normAutofit/>
          </a:bodyPr>
          <a:lstStyle/>
          <a:p>
            <a:pPr marL="0" indent="0" algn="l">
              <a:lnSpc>
                <a:spcPct val="123429"/>
              </a:lnSpc>
              <a:buNone/>
              <a:defRPr/>
            </a:pPr>
            <a:r>
              <a:rPr lang="en-US" sz="2700">
                <a:solidFill>
                  <a:srgbClr val="2A3040"/>
                </a:solidFill>
                <a:latin typeface="Arial"/>
                <a:ea typeface="Arial"/>
                <a:cs typeface="Arial"/>
              </a:rPr>
              <a:t>Two machines can ping and SSH each other perfectly and still see none of each other's topics. The domain ID is what decides which ROS 2 processes are willing to find each other.</a:t>
            </a:r>
            <a:endParaRPr lang="en-US" sz="2700"/>
          </a:p>
        </p:txBody>
      </p:sp>
      <p:sp>
        <p:nvSpPr>
          <p:cNvPr id="1885569009" name="Shape 6"/>
          <p:cNvSpPr/>
          <p:nvPr/>
        </p:nvSpPr>
        <p:spPr bwMode="auto">
          <a:xfrm>
            <a:off x="1257300" y="5726906"/>
            <a:ext cx="16059150" cy="2242661"/>
          </a:xfrm>
          <a:prstGeom prst="roundRect">
            <a:avLst>
              <a:gd name="adj" fmla="val 4247"/>
            </a:avLst>
          </a:prstGeom>
          <a:ln/>
          <a:effectLst>
            <a:outerShdw blurRad="323850" dist="114300" dir="5400000" sx="100000" sy="100000" kx="0" ky="0" algn="bl" rotWithShape="0">
              <a:srgbClr val="002060">
                <a:alpha val="18000"/>
              </a:srgbClr>
            </a:outerShdw>
          </a:effectLst>
        </p:spPr>
      </p:sp>
      <p:sp>
        <p:nvSpPr>
          <p:cNvPr id="862716530" name="Shape 7"/>
          <p:cNvSpPr/>
          <p:nvPr/>
        </p:nvSpPr>
        <p:spPr bwMode="auto">
          <a:xfrm>
            <a:off x="1257300" y="5726906"/>
            <a:ext cx="16059150" cy="666750"/>
          </a:xfrm>
          <a:prstGeom prst="rect">
            <a:avLst/>
          </a:prstGeom>
          <a:solidFill>
            <a:srgbClr val="5E2750"/>
          </a:solidFill>
          <a:ln/>
        </p:spPr>
      </p:sp>
      <p:sp>
        <p:nvSpPr>
          <p:cNvPr id="1614173008" name="Shape 8"/>
          <p:cNvSpPr/>
          <p:nvPr/>
        </p:nvSpPr>
        <p:spPr bwMode="auto">
          <a:xfrm>
            <a:off x="1524000" y="5860256"/>
            <a:ext cx="1802448" cy="400050"/>
          </a:xfrm>
          <a:prstGeom prst="roundRect">
            <a:avLst>
              <a:gd name="adj" fmla="val 14286"/>
            </a:avLst>
          </a:prstGeom>
          <a:solidFill>
            <a:srgbClr val="FFFFFF"/>
          </a:solidFill>
          <a:ln/>
        </p:spPr>
      </p:sp>
      <p:sp>
        <p:nvSpPr>
          <p:cNvPr id="1032811410" name="Text 9"/>
          <p:cNvSpPr/>
          <p:nvPr/>
        </p:nvSpPr>
        <p:spPr bwMode="auto">
          <a:xfrm>
            <a:off x="1714500" y="5917406"/>
            <a:ext cx="1497648" cy="323850"/>
          </a:xfrm>
          <a:prstGeom prst="rect">
            <a:avLst/>
          </a:prstGeom>
          <a:noFill/>
          <a:ln/>
        </p:spPr>
        <p:txBody>
          <a:bodyPr wrap="none" lIns="25400" tIns="25400" rIns="25400" bIns="25400" rtlCol="0" anchor="ctr">
            <a:normAutofit/>
          </a:bodyPr>
          <a:lstStyle/>
          <a:p>
            <a:pPr marL="0" indent="0" algn="l">
              <a:lnSpc>
                <a:spcPct val="104956"/>
              </a:lnSpc>
              <a:buNone/>
              <a:defRPr/>
            </a:pPr>
            <a:r>
              <a:rPr lang="en-US" sz="1900" b="1">
                <a:solidFill>
                  <a:srgbClr val="772953"/>
                </a:solidFill>
                <a:latin typeface="Arial"/>
                <a:ea typeface="Arial"/>
                <a:cs typeface="Arial"/>
              </a:rPr>
              <a:t>Your device</a:t>
            </a:r>
            <a:endParaRPr lang="en-US" sz="1900"/>
          </a:p>
        </p:txBody>
      </p:sp>
      <p:sp>
        <p:nvSpPr>
          <p:cNvPr id="629223064" name="Text 10"/>
          <p:cNvSpPr/>
          <p:nvPr/>
        </p:nvSpPr>
        <p:spPr bwMode="auto">
          <a:xfrm>
            <a:off x="3535998" y="5888038"/>
            <a:ext cx="4498514" cy="382587"/>
          </a:xfrm>
          <a:prstGeom prst="rect">
            <a:avLst/>
          </a:prstGeom>
          <a:noFill/>
          <a:ln/>
        </p:spPr>
        <p:txBody>
          <a:bodyPr wrap="square" lIns="25400" tIns="25400" rIns="25400" bIns="25400" rtlCol="0" anchor="t">
            <a:normAutofit/>
          </a:bodyPr>
          <a:lstStyle/>
          <a:p>
            <a:pPr marL="0" indent="0" algn="l">
              <a:buNone/>
              <a:defRPr/>
            </a:pPr>
            <a:r>
              <a:rPr lang="en-US" sz="1800">
                <a:solidFill>
                  <a:srgbClr val="FFFFFF">
                    <a:alpha val="82000"/>
                  </a:srgbClr>
                </a:solidFill>
                <a:latin typeface="Arial"/>
                <a:ea typeface="Arial"/>
                <a:cs typeface="Arial"/>
              </a:rPr>
              <a:t>Substitute your robot's number for X</a:t>
            </a:r>
            <a:endParaRPr lang="en-US" sz="1800"/>
          </a:p>
        </p:txBody>
      </p:sp>
      <p:sp>
        <p:nvSpPr>
          <p:cNvPr id="571758022" name="Shape 11"/>
          <p:cNvSpPr/>
          <p:nvPr/>
        </p:nvSpPr>
        <p:spPr bwMode="auto">
          <a:xfrm>
            <a:off x="1257300" y="6393656"/>
            <a:ext cx="16059150" cy="1575911"/>
          </a:xfrm>
          <a:prstGeom prst="rect">
            <a:avLst/>
          </a:prstGeom>
          <a:solidFill>
            <a:srgbClr val="0E1013"/>
          </a:solidFill>
          <a:ln/>
        </p:spPr>
      </p:sp>
      <p:sp>
        <p:nvSpPr>
          <p:cNvPr id="573746585" name="Shape 12"/>
          <p:cNvSpPr/>
          <p:nvPr/>
        </p:nvSpPr>
        <p:spPr bwMode="auto">
          <a:xfrm>
            <a:off x="1257300" y="6393656"/>
            <a:ext cx="111125" cy="1575911"/>
          </a:xfrm>
          <a:prstGeom prst="rect">
            <a:avLst/>
          </a:prstGeom>
          <a:solidFill>
            <a:srgbClr val="772953"/>
          </a:solidFill>
          <a:ln/>
        </p:spPr>
      </p:sp>
      <p:sp>
        <p:nvSpPr>
          <p:cNvPr id="1396707700" name="Text 13"/>
          <p:cNvSpPr/>
          <p:nvPr/>
        </p:nvSpPr>
        <p:spPr bwMode="auto">
          <a:xfrm>
            <a:off x="1654175" y="6622256"/>
            <a:ext cx="15858299" cy="1156811"/>
          </a:xfrm>
          <a:prstGeom prst="rect">
            <a:avLst/>
          </a:prstGeom>
          <a:noFill/>
          <a:ln/>
        </p:spPr>
        <p:txBody>
          <a:bodyPr vertOverflow="overflow" horzOverflow="overflow" vert="horz" wrap="square" lIns="25399" tIns="25399" rIns="25399" bIns="25399" numCol="1" spcCol="0" rtlCol="0" fromWordArt="0" anchor="t" anchorCtr="0" forceAA="0" upright="0" compatLnSpc="0">
            <a:normAutofit fontScale="95000" lnSpcReduction="1000"/>
          </a:bodyPr>
          <a:lstStyle/>
          <a:p>
            <a:pPr marL="0" indent="0" algn="l">
              <a:lnSpc>
                <a:spcPct val="126631"/>
              </a:lnSpc>
              <a:buNone/>
              <a:defRPr/>
            </a:pPr>
            <a:r>
              <a:rPr lang="en-US" sz="2050">
                <a:solidFill>
                  <a:srgbClr val="7FD1A6"/>
                </a:solidFill>
                <a:latin typeface="Courier New"/>
                <a:ea typeface="Courier New"/>
                <a:cs typeface="Courier New"/>
              </a:rPr>
              <a:t>$</a:t>
            </a:r>
            <a:r>
              <a:rPr lang="en-US" sz="2050">
                <a:solidFill>
                  <a:srgbClr val="F2F4F7"/>
                </a:solidFill>
                <a:highlight>
                  <a:srgbClr val="0E1013"/>
                </a:highlight>
                <a:latin typeface="Courier New"/>
                <a:ea typeface="Courier New"/>
                <a:cs typeface="Courier New"/>
              </a:rPr>
              <a:t> echo "export ROS_DOMAIN_ID=X" &gt;&gt; ~/.bashrc </a:t>
            </a:r>
            <a:endParaRPr lang="en-US" sz="2050">
              <a:solidFill>
                <a:srgbClr val="7FD1A6"/>
              </a:solidFill>
              <a:latin typeface="Courier New"/>
              <a:ea typeface="Courier New"/>
              <a:cs typeface="Courier New"/>
            </a:endParaRPr>
          </a:p>
          <a:p>
            <a:pPr marL="0" indent="0" algn="l">
              <a:lnSpc>
                <a:spcPct val="126631"/>
              </a:lnSpc>
              <a:buNone/>
              <a:defRPr/>
            </a:pPr>
            <a:r>
              <a:rPr lang="en-US" sz="2050">
                <a:solidFill>
                  <a:srgbClr val="7FD1A6"/>
                </a:solidFill>
                <a:latin typeface="Courier New"/>
                <a:ea typeface="Courier New"/>
                <a:cs typeface="Courier New"/>
              </a:rPr>
              <a:t>$</a:t>
            </a:r>
            <a:r>
              <a:rPr lang="en-US" sz="2050">
                <a:solidFill>
                  <a:srgbClr val="F2F4F7"/>
                </a:solidFill>
                <a:highlight>
                  <a:srgbClr val="0E1013"/>
                </a:highlight>
                <a:latin typeface="Courier New"/>
                <a:ea typeface="Courier New"/>
                <a:cs typeface="Courier New"/>
              </a:rPr>
              <a:t> source ~/.bashrc </a:t>
            </a:r>
            <a:endParaRPr lang="en-US" sz="2050">
              <a:solidFill>
                <a:srgbClr val="7FD1A6"/>
              </a:solidFill>
              <a:latin typeface="Courier New"/>
              <a:ea typeface="Courier New"/>
              <a:cs typeface="Courier New"/>
            </a:endParaRPr>
          </a:p>
          <a:p>
            <a:pPr marL="0" indent="0" algn="l">
              <a:lnSpc>
                <a:spcPct val="126631"/>
              </a:lnSpc>
              <a:buNone/>
              <a:defRPr/>
            </a:pPr>
            <a:r>
              <a:rPr lang="en-US" sz="2050">
                <a:solidFill>
                  <a:srgbClr val="7FD1A6"/>
                </a:solidFill>
                <a:latin typeface="Courier New"/>
                <a:ea typeface="Courier New"/>
                <a:cs typeface="Courier New"/>
              </a:rPr>
              <a:t>$</a:t>
            </a:r>
            <a:r>
              <a:rPr lang="en-US" sz="2050">
                <a:solidFill>
                  <a:srgbClr val="F2F4F7"/>
                </a:solidFill>
                <a:highlight>
                  <a:srgbClr val="0E1013"/>
                </a:highlight>
                <a:latin typeface="Courier New"/>
                <a:ea typeface="Courier New"/>
                <a:cs typeface="Courier New"/>
              </a:rPr>
              <a:t> echo $ROS_DOMAIN_ID $RMW_IMPLEMENTATION   </a:t>
            </a:r>
            <a:r>
              <a:rPr lang="en-US" sz="2050">
                <a:solidFill>
                  <a:srgbClr val="F5A97F"/>
                </a:solidFill>
                <a:latin typeface="Courier New"/>
                <a:ea typeface="Courier New"/>
                <a:cs typeface="Courier New"/>
              </a:rPr>
              <a:t># both should print</a:t>
            </a:r>
            <a:endParaRPr lang="en-US" sz="2050"/>
          </a:p>
        </p:txBody>
      </p:sp>
      <p:sp>
        <p:nvSpPr>
          <p:cNvPr id="744114848" name="Shape 14"/>
          <p:cNvSpPr/>
          <p:nvPr/>
        </p:nvSpPr>
        <p:spPr bwMode="auto">
          <a:xfrm>
            <a:off x="1257300" y="8255318"/>
            <a:ext cx="15160625" cy="845820"/>
          </a:xfrm>
          <a:prstGeom prst="roundRect">
            <a:avLst>
              <a:gd name="adj" fmla="val 9009"/>
            </a:avLst>
          </a:prstGeom>
          <a:solidFill>
            <a:srgbClr val="F3E2CD"/>
          </a:solidFill>
          <a:ln/>
        </p:spPr>
      </p:sp>
      <p:sp>
        <p:nvSpPr>
          <p:cNvPr id="89334662" name="Shape 15"/>
          <p:cNvSpPr/>
          <p:nvPr/>
        </p:nvSpPr>
        <p:spPr bwMode="auto">
          <a:xfrm>
            <a:off x="1257300" y="8255318"/>
            <a:ext cx="111125" cy="845820"/>
          </a:xfrm>
          <a:prstGeom prst="rect">
            <a:avLst/>
          </a:prstGeom>
          <a:solidFill>
            <a:srgbClr val="002060"/>
          </a:solidFill>
          <a:ln/>
        </p:spPr>
      </p:sp>
      <p:sp>
        <p:nvSpPr>
          <p:cNvPr id="846702402" name="Text 16"/>
          <p:cNvSpPr/>
          <p:nvPr/>
        </p:nvSpPr>
        <p:spPr bwMode="auto">
          <a:xfrm>
            <a:off x="1654175" y="8483918"/>
            <a:ext cx="347504" cy="426720"/>
          </a:xfrm>
          <a:prstGeom prst="rect">
            <a:avLst/>
          </a:prstGeom>
          <a:noFill/>
          <a:ln/>
        </p:spPr>
        <p:txBody>
          <a:bodyPr wrap="square" lIns="25400" tIns="25400" rIns="25400" bIns="25400" rtlCol="0" anchor="t">
            <a:normAutofit/>
          </a:bodyPr>
          <a:lstStyle/>
          <a:p>
            <a:pPr marL="0" indent="0" algn="l">
              <a:lnSpc>
                <a:spcPct val="105973"/>
              </a:lnSpc>
              <a:buNone/>
              <a:defRPr/>
            </a:pPr>
            <a:r>
              <a:rPr lang="en-US" sz="2550">
                <a:solidFill>
                  <a:srgbClr val="002060"/>
                </a:solidFill>
                <a:latin typeface="Arial"/>
                <a:ea typeface="Arial"/>
                <a:cs typeface="Arial"/>
              </a:rPr>
              <a:t>→</a:t>
            </a:r>
            <a:endParaRPr lang="en-US" sz="2550"/>
          </a:p>
        </p:txBody>
      </p:sp>
      <p:sp>
        <p:nvSpPr>
          <p:cNvPr id="495260940" name="Text 17"/>
          <p:cNvSpPr/>
          <p:nvPr/>
        </p:nvSpPr>
        <p:spPr bwMode="auto">
          <a:xfrm>
            <a:off x="2135029" y="8483918"/>
            <a:ext cx="14125242" cy="424815"/>
          </a:xfrm>
          <a:prstGeom prst="rect">
            <a:avLst/>
          </a:prstGeom>
          <a:noFill/>
          <a:ln/>
        </p:spPr>
        <p:txBody>
          <a:bodyPr wrap="square" lIns="25400" tIns="25400" rIns="25400" bIns="25400" rtlCol="0" anchor="t">
            <a:normAutofit/>
          </a:bodyPr>
          <a:lstStyle/>
          <a:p>
            <a:pPr marL="0" indent="0" algn="l">
              <a:lnSpc>
                <a:spcPct val="122105"/>
              </a:lnSpc>
              <a:buNone/>
              <a:defRPr/>
            </a:pPr>
            <a:r>
              <a:rPr lang="en-US" sz="2200">
                <a:solidFill>
                  <a:srgbClr val="14161C"/>
                </a:solidFill>
                <a:latin typeface="Arial"/>
                <a:ea typeface="Arial"/>
                <a:cs typeface="Arial"/>
              </a:rPr>
              <a:t>Not sure of the number? Over SSH on the robot, </a:t>
            </a:r>
            <a:r>
              <a:rPr lang="en-US" sz="2050">
                <a:solidFill>
                  <a:srgbClr val="14161C"/>
                </a:solidFill>
                <a:latin typeface="Courier New"/>
                <a:ea typeface="Courier New"/>
                <a:cs typeface="Courier New"/>
              </a:rPr>
              <a:t>echo $ROS_DOMAIN_ID </a:t>
            </a:r>
            <a:r>
              <a:rPr lang="en-US" sz="2200">
                <a:solidFill>
                  <a:srgbClr val="14161C"/>
                </a:solidFill>
                <a:latin typeface="Arial"/>
                <a:ea typeface="Arial"/>
                <a:cs typeface="Arial"/>
              </a:rPr>
              <a:t>tells you exactly what it is using.</a:t>
            </a:r>
            <a:endParaRPr lang="en-US" sz="2200"/>
          </a:p>
        </p:txBody>
      </p:sp>
      <p:sp>
        <p:nvSpPr>
          <p:cNvPr id="658929064" name="Shape 18"/>
          <p:cNvSpPr/>
          <p:nvPr/>
        </p:nvSpPr>
        <p:spPr bwMode="auto">
          <a:xfrm>
            <a:off x="1257300" y="9323387"/>
            <a:ext cx="7426960" cy="601663"/>
          </a:xfrm>
          <a:prstGeom prst="roundRect">
            <a:avLst>
              <a:gd name="adj" fmla="val 50000"/>
            </a:avLst>
          </a:prstGeom>
          <a:ln w="27781">
            <a:solidFill>
              <a:srgbClr val="002060">
                <a:alpha val="15999"/>
              </a:srgbClr>
            </a:solidFill>
            <a:prstDash val="solid"/>
          </a:ln>
        </p:spPr>
      </p:sp>
      <p:sp>
        <p:nvSpPr>
          <p:cNvPr id="17583919" name="Text 19"/>
          <p:cNvSpPr/>
          <p:nvPr/>
        </p:nvSpPr>
        <p:spPr bwMode="auto">
          <a:xfrm>
            <a:off x="1532731" y="9446419"/>
            <a:ext cx="672147" cy="393700"/>
          </a:xfrm>
          <a:prstGeom prst="rect">
            <a:avLst/>
          </a:prstGeom>
          <a:noFill/>
          <a:ln/>
        </p:spPr>
        <p:txBody>
          <a:bodyPr wrap="square" lIns="25400" tIns="25400" rIns="25400" bIns="25400" rtlCol="0" anchor="t">
            <a:normAutofit/>
          </a:bodyPr>
          <a:lstStyle/>
          <a:p>
            <a:pPr marL="0" indent="0" algn="l">
              <a:buNone/>
              <a:defRPr/>
            </a:pPr>
            <a:r>
              <a:rPr lang="en-US" sz="1900" b="1">
                <a:solidFill>
                  <a:srgbClr val="DB5817"/>
                </a:solidFill>
                <a:latin typeface="Arial"/>
                <a:ea typeface="Arial"/>
                <a:cs typeface="Arial"/>
              </a:rPr>
              <a:t>Docs</a:t>
            </a:r>
            <a:endParaRPr lang="en-US" sz="1900"/>
          </a:p>
        </p:txBody>
      </p:sp>
      <p:sp>
        <p:nvSpPr>
          <p:cNvPr id="860793294" name="Text 20"/>
          <p:cNvSpPr/>
          <p:nvPr/>
        </p:nvSpPr>
        <p:spPr bwMode="auto">
          <a:xfrm>
            <a:off x="2262029" y="9457531"/>
            <a:ext cx="6331204" cy="371475"/>
          </a:xfrm>
          <a:prstGeom prst="rect">
            <a:avLst/>
          </a:prstGeom>
          <a:noFill/>
          <a:ln/>
        </p:spPr>
        <p:txBody>
          <a:bodyPr wrap="square" lIns="0" tIns="0" rIns="0" bIns="0" rtlCol="0" anchor="t">
            <a:normAutofit/>
          </a:bodyPr>
          <a:lstStyle/>
          <a:p>
            <a:pPr marL="0" indent="0" algn="l">
              <a:buNone/>
              <a:defRPr/>
            </a:pPr>
            <a:r>
              <a:rPr lang="en-US" sz="1900">
                <a:solidFill>
                  <a:srgbClr val="002060"/>
                </a:solidFill>
                <a:latin typeface="Arial"/>
                <a:ea typeface="Arial"/>
                <a:cs typeface="Arial"/>
              </a:rPr>
              <a:t>Part 3 — Setup 2, Laptop · step 4 · Toolkit — ~/.bashrc</a:t>
            </a:r>
            <a:endParaRPr lang="en-US" sz="1900"/>
          </a:p>
        </p:txBody>
      </p:sp>
      <p:pic>
        <p:nvPicPr>
          <p:cNvPr id="1514342834" name="Image 1" descr="preencoded.png"/>
          <p:cNvPicPr>
            <a:picLocks noChangeAspect="1"/>
          </p:cNvPicPr>
          <p:nvPr/>
        </p:nvPicPr>
        <p:blipFill rotWithShape="1">
          <a:blip r:embed="rId4"/>
          <a:stretch/>
        </p:blipFill>
        <p:spPr bwMode="auto">
          <a:xfrm>
            <a:off x="17442180" y="9561512"/>
            <a:ext cx="217170" cy="34448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0">
    <p:bg>
      <p:bgPr shadeToTitle="0">
        <a:solidFill>
          <a:srgbClr val="FFFFFF"/>
        </a:solidFill>
      </p:bgPr>
    </p:bg>
    <p:spTree>
      <p:nvGrpSpPr>
        <p:cNvPr id="1" name=""/>
        <p:cNvGrpSpPr/>
        <p:nvPr/>
      </p:nvGrpSpPr>
      <p:grpSpPr bwMode="auto">
        <a:xfrm>
          <a:off x="0" y="0"/>
          <a:ext cx="0" cy="0"/>
          <a:chOff x="0" y="0"/>
          <a:chExt cx="0" cy="0"/>
        </a:xfrm>
      </p:grpSpPr>
      <p:sp>
        <p:nvSpPr>
          <p:cNvPr id="1535179889" name="Shape 0"/>
          <p:cNvSpPr/>
          <p:nvPr/>
        </p:nvSpPr>
        <p:spPr bwMode="auto">
          <a:xfrm>
            <a:off x="971550" y="0"/>
            <a:ext cx="28575" cy="10287000"/>
          </a:xfrm>
          <a:prstGeom prst="rect">
            <a:avLst/>
          </a:prstGeom>
          <a:solidFill>
            <a:srgbClr val="002060">
              <a:alpha val="15999"/>
            </a:srgbClr>
          </a:solidFill>
          <a:ln/>
        </p:spPr>
      </p:sp>
      <p:sp>
        <p:nvSpPr>
          <p:cNvPr id="562344675" name="Shape 1"/>
          <p:cNvSpPr/>
          <p:nvPr/>
        </p:nvSpPr>
        <p:spPr bwMode="auto">
          <a:xfrm>
            <a:off x="971550" y="1009650"/>
            <a:ext cx="16687800" cy="28575"/>
          </a:xfrm>
          <a:prstGeom prst="rect">
            <a:avLst/>
          </a:prstGeom>
          <a:solidFill>
            <a:srgbClr val="002060">
              <a:alpha val="15999"/>
            </a:srgbClr>
          </a:solidFill>
          <a:ln/>
        </p:spPr>
      </p:sp>
      <p:pic>
        <p:nvPicPr>
          <p:cNvPr id="953571416" name="Image 0" descr="preencoded.png"/>
          <p:cNvPicPr>
            <a:picLocks noChangeAspect="1"/>
          </p:cNvPicPr>
          <p:nvPr/>
        </p:nvPicPr>
        <p:blipFill rotWithShape="1">
          <a:blip r:embed="rId3"/>
          <a:stretch/>
        </p:blipFill>
        <p:spPr bwMode="auto">
          <a:xfrm>
            <a:off x="1257300" y="209550"/>
            <a:ext cx="779621" cy="647700"/>
          </a:xfrm>
          <a:prstGeom prst="rect">
            <a:avLst/>
          </a:prstGeom>
        </p:spPr>
      </p:pic>
      <p:sp>
        <p:nvSpPr>
          <p:cNvPr id="1174741697" name="Text 2"/>
          <p:cNvSpPr/>
          <p:nvPr/>
        </p:nvSpPr>
        <p:spPr bwMode="auto">
          <a:xfrm>
            <a:off x="14455616" y="400050"/>
            <a:ext cx="3524107" cy="393700"/>
          </a:xfrm>
          <a:prstGeom prst="rect">
            <a:avLst/>
          </a:prstGeom>
          <a:noFill/>
          <a:ln/>
        </p:spPr>
        <p:txBody>
          <a:bodyPr wrap="square" lIns="25400" tIns="25400" rIns="25400" bIns="25400" rtlCol="0" anchor="t">
            <a:normAutofit/>
          </a:bodyPr>
          <a:lstStyle/>
          <a:p>
            <a:pPr marL="0" indent="0" algn="l">
              <a:buNone/>
              <a:defRPr/>
            </a:pPr>
            <a:r>
              <a:rPr lang="en-US" sz="1900" spc="75">
                <a:solidFill>
                  <a:srgbClr val="DB5817"/>
                </a:solidFill>
                <a:latin typeface="Arial"/>
                <a:ea typeface="Arial"/>
                <a:cs typeface="Arial"/>
              </a:rPr>
              <a:t>www.centex-sarawak.my</a:t>
            </a:r>
            <a:endParaRPr lang="en-US" sz="1900"/>
          </a:p>
        </p:txBody>
      </p:sp>
      <p:sp>
        <p:nvSpPr>
          <p:cNvPr id="1097850810" name="Text 3"/>
          <p:cNvSpPr/>
          <p:nvPr/>
        </p:nvSpPr>
        <p:spPr bwMode="auto">
          <a:xfrm>
            <a:off x="1257300" y="1905000"/>
            <a:ext cx="17665065" cy="410369"/>
          </a:xfrm>
          <a:prstGeom prst="rect">
            <a:avLst/>
          </a:prstGeom>
          <a:noFill/>
          <a:ln/>
        </p:spPr>
        <p:txBody>
          <a:bodyPr wrap="square" lIns="25400" tIns="25400" rIns="25400" bIns="25400" rtlCol="0" anchor="t">
            <a:normAutofit/>
          </a:bodyPr>
          <a:lstStyle/>
          <a:p>
            <a:pPr marL="0" indent="0" algn="l">
              <a:buNone/>
              <a:defRPr/>
            </a:pPr>
            <a:r>
              <a:rPr lang="en-US" sz="1950" b="1" spc="311">
                <a:solidFill>
                  <a:srgbClr val="DB5817"/>
                </a:solidFill>
                <a:latin typeface="Arial"/>
                <a:ea typeface="Arial"/>
                <a:cs typeface="Arial"/>
              </a:rPr>
              <a:t>PROOF</a:t>
            </a:r>
            <a:endParaRPr lang="en-US" sz="1950"/>
          </a:p>
        </p:txBody>
      </p:sp>
      <p:sp>
        <p:nvSpPr>
          <p:cNvPr id="592048217" name="Text 4"/>
          <p:cNvSpPr/>
          <p:nvPr/>
        </p:nvSpPr>
        <p:spPr bwMode="auto">
          <a:xfrm>
            <a:off x="1257300" y="2486819"/>
            <a:ext cx="17665065" cy="805497"/>
          </a:xfrm>
          <a:prstGeom prst="rect">
            <a:avLst/>
          </a:prstGeom>
          <a:noFill/>
          <a:ln/>
        </p:spPr>
        <p:txBody>
          <a:bodyPr wrap="square" lIns="25400" tIns="25400" rIns="25400" bIns="25400" rtlCol="0" anchor="t">
            <a:normAutofit/>
          </a:bodyPr>
          <a:lstStyle/>
          <a:p>
            <a:pPr marL="0" indent="0" algn="l">
              <a:lnSpc>
                <a:spcPct val="94599"/>
              </a:lnSpc>
              <a:buNone/>
              <a:defRPr/>
            </a:pPr>
            <a:r>
              <a:rPr lang="en-US" sz="5700" b="1" spc="-57">
                <a:solidFill>
                  <a:srgbClr val="002060"/>
                </a:solidFill>
                <a:latin typeface="Arial"/>
                <a:ea typeface="Arial"/>
                <a:cs typeface="Arial"/>
              </a:rPr>
              <a:t>Check that it actually works</a:t>
            </a:r>
            <a:endParaRPr lang="en-US" sz="5700"/>
          </a:p>
        </p:txBody>
      </p:sp>
      <p:sp>
        <p:nvSpPr>
          <p:cNvPr id="2029637749" name="Text 5"/>
          <p:cNvSpPr/>
          <p:nvPr/>
        </p:nvSpPr>
        <p:spPr bwMode="auto">
          <a:xfrm>
            <a:off x="1257300" y="3520916"/>
            <a:ext cx="9528201" cy="998220"/>
          </a:xfrm>
          <a:prstGeom prst="rect">
            <a:avLst/>
          </a:prstGeom>
          <a:noFill/>
          <a:ln/>
        </p:spPr>
        <p:txBody>
          <a:bodyPr wrap="square" lIns="25400" tIns="25400" rIns="25400" bIns="25400" rtlCol="0" anchor="t">
            <a:normAutofit/>
          </a:bodyPr>
          <a:lstStyle/>
          <a:p>
            <a:pPr marL="0" indent="0" algn="l">
              <a:lnSpc>
                <a:spcPct val="123429"/>
              </a:lnSpc>
              <a:buNone/>
              <a:defRPr/>
            </a:pPr>
            <a:r>
              <a:rPr lang="en-US" sz="2700">
                <a:solidFill>
                  <a:srgbClr val="2A3040"/>
                </a:solidFill>
                <a:latin typeface="Arial"/>
                <a:ea typeface="Arial"/>
                <a:cs typeface="Arial"/>
              </a:rPr>
              <a:t>You should see the robot's real topics — </a:t>
            </a:r>
            <a:r>
              <a:rPr lang="en-US" sz="2550">
                <a:solidFill>
                  <a:srgbClr val="2A3040"/>
                </a:solidFill>
                <a:latin typeface="Courier New"/>
                <a:ea typeface="Courier New"/>
                <a:cs typeface="Courier New"/>
              </a:rPr>
              <a:t>/odom</a:t>
            </a:r>
            <a:r>
              <a:rPr lang="en-US" sz="2700">
                <a:solidFill>
                  <a:srgbClr val="2A3040"/>
                </a:solidFill>
                <a:latin typeface="Arial"/>
                <a:ea typeface="Arial"/>
                <a:cs typeface="Arial"/>
              </a:rPr>
              <a:t>, </a:t>
            </a:r>
            <a:r>
              <a:rPr lang="en-US" sz="2550">
                <a:solidFill>
                  <a:srgbClr val="2A3040"/>
                </a:solidFill>
                <a:latin typeface="Courier New"/>
                <a:ea typeface="Courier New"/>
                <a:cs typeface="Courier New"/>
              </a:rPr>
              <a:t>/scan</a:t>
            </a:r>
            <a:r>
              <a:rPr lang="en-US" sz="2700">
                <a:solidFill>
                  <a:srgbClr val="2A3040"/>
                </a:solidFill>
                <a:latin typeface="Arial"/>
                <a:ea typeface="Arial"/>
                <a:cs typeface="Arial"/>
              </a:rPr>
              <a:t>, </a:t>
            </a:r>
            <a:r>
              <a:rPr lang="en-US" sz="2550">
                <a:solidFill>
                  <a:srgbClr val="2A3040"/>
                </a:solidFill>
                <a:latin typeface="Courier New"/>
                <a:ea typeface="Courier New"/>
                <a:cs typeface="Courier New"/>
              </a:rPr>
              <a:t>/joint_states </a:t>
            </a:r>
            <a:r>
              <a:rPr lang="en-US" sz="2700">
                <a:solidFill>
                  <a:srgbClr val="2A3040"/>
                </a:solidFill>
                <a:latin typeface="Arial"/>
                <a:ea typeface="Arial"/>
                <a:cs typeface="Arial"/>
              </a:rPr>
              <a:t>— not an empty list.</a:t>
            </a:r>
            <a:endParaRPr lang="en-US" sz="2700"/>
          </a:p>
        </p:txBody>
      </p:sp>
      <p:sp>
        <p:nvSpPr>
          <p:cNvPr id="1581211535" name="Shape 6"/>
          <p:cNvSpPr/>
          <p:nvPr/>
        </p:nvSpPr>
        <p:spPr bwMode="auto">
          <a:xfrm>
            <a:off x="1257300" y="4785836"/>
            <a:ext cx="16059150" cy="2242661"/>
          </a:xfrm>
          <a:prstGeom prst="roundRect">
            <a:avLst>
              <a:gd name="adj" fmla="val 4247"/>
            </a:avLst>
          </a:prstGeom>
          <a:ln/>
          <a:effectLst>
            <a:outerShdw blurRad="323850" dist="114300" dir="5400000" sx="100000" sy="100000" kx="0" ky="0" algn="bl" rotWithShape="0">
              <a:srgbClr val="002060">
                <a:alpha val="18000"/>
              </a:srgbClr>
            </a:outerShdw>
          </a:effectLst>
        </p:spPr>
      </p:sp>
      <p:sp>
        <p:nvSpPr>
          <p:cNvPr id="1559560597" name="Shape 7"/>
          <p:cNvSpPr/>
          <p:nvPr/>
        </p:nvSpPr>
        <p:spPr bwMode="auto">
          <a:xfrm>
            <a:off x="1257300" y="4785836"/>
            <a:ext cx="16059150" cy="666750"/>
          </a:xfrm>
          <a:prstGeom prst="rect">
            <a:avLst/>
          </a:prstGeom>
          <a:solidFill>
            <a:srgbClr val="5E2750"/>
          </a:solidFill>
          <a:ln/>
        </p:spPr>
      </p:sp>
      <p:sp>
        <p:nvSpPr>
          <p:cNvPr id="1738909284" name="Shape 8"/>
          <p:cNvSpPr/>
          <p:nvPr/>
        </p:nvSpPr>
        <p:spPr bwMode="auto">
          <a:xfrm>
            <a:off x="1524000" y="4919186"/>
            <a:ext cx="1802448" cy="400050"/>
          </a:xfrm>
          <a:prstGeom prst="roundRect">
            <a:avLst>
              <a:gd name="adj" fmla="val 14286"/>
            </a:avLst>
          </a:prstGeom>
          <a:solidFill>
            <a:srgbClr val="FFFFFF"/>
          </a:solidFill>
          <a:ln/>
        </p:spPr>
      </p:sp>
      <p:sp>
        <p:nvSpPr>
          <p:cNvPr id="1488364214" name="Text 9"/>
          <p:cNvSpPr/>
          <p:nvPr/>
        </p:nvSpPr>
        <p:spPr bwMode="auto">
          <a:xfrm>
            <a:off x="1714500" y="4976336"/>
            <a:ext cx="1497648" cy="323850"/>
          </a:xfrm>
          <a:prstGeom prst="rect">
            <a:avLst/>
          </a:prstGeom>
          <a:noFill/>
          <a:ln/>
        </p:spPr>
        <p:txBody>
          <a:bodyPr wrap="none" lIns="25400" tIns="25400" rIns="25400" bIns="25400" rtlCol="0" anchor="ctr">
            <a:normAutofit/>
          </a:bodyPr>
          <a:lstStyle/>
          <a:p>
            <a:pPr marL="0" indent="0" algn="l">
              <a:lnSpc>
                <a:spcPct val="104956"/>
              </a:lnSpc>
              <a:buNone/>
              <a:defRPr/>
            </a:pPr>
            <a:r>
              <a:rPr lang="en-US" sz="1900" b="1">
                <a:solidFill>
                  <a:srgbClr val="772953"/>
                </a:solidFill>
                <a:latin typeface="Arial"/>
                <a:ea typeface="Arial"/>
                <a:cs typeface="Arial"/>
              </a:rPr>
              <a:t>Your device</a:t>
            </a:r>
            <a:endParaRPr lang="en-US" sz="1900"/>
          </a:p>
        </p:txBody>
      </p:sp>
      <p:sp>
        <p:nvSpPr>
          <p:cNvPr id="1952685933" name="Text 10"/>
          <p:cNvSpPr/>
          <p:nvPr/>
        </p:nvSpPr>
        <p:spPr bwMode="auto">
          <a:xfrm>
            <a:off x="3535998" y="4946968"/>
            <a:ext cx="4834843" cy="382588"/>
          </a:xfrm>
          <a:prstGeom prst="rect">
            <a:avLst/>
          </a:prstGeom>
          <a:noFill/>
          <a:ln/>
        </p:spPr>
        <p:txBody>
          <a:bodyPr wrap="square" lIns="25400" tIns="25400" rIns="25400" bIns="25400" rtlCol="0" anchor="t">
            <a:normAutofit/>
          </a:bodyPr>
          <a:lstStyle/>
          <a:p>
            <a:pPr marL="0" indent="0" algn="l">
              <a:buNone/>
              <a:defRPr/>
            </a:pPr>
            <a:r>
              <a:rPr lang="en-US" sz="1800">
                <a:solidFill>
                  <a:srgbClr val="FFFFFF">
                    <a:alpha val="82000"/>
                  </a:srgbClr>
                </a:solidFill>
                <a:latin typeface="Arial"/>
                <a:ea typeface="Arial"/>
                <a:cs typeface="Arial"/>
              </a:rPr>
              <a:t>The checks that prove the whole chain</a:t>
            </a:r>
            <a:endParaRPr lang="en-US" sz="1800"/>
          </a:p>
        </p:txBody>
      </p:sp>
      <p:sp>
        <p:nvSpPr>
          <p:cNvPr id="619634328" name="Shape 11"/>
          <p:cNvSpPr/>
          <p:nvPr/>
        </p:nvSpPr>
        <p:spPr bwMode="auto">
          <a:xfrm>
            <a:off x="1257300" y="5452586"/>
            <a:ext cx="16059150" cy="1575911"/>
          </a:xfrm>
          <a:prstGeom prst="rect">
            <a:avLst/>
          </a:prstGeom>
          <a:solidFill>
            <a:srgbClr val="0E1013"/>
          </a:solidFill>
          <a:ln/>
        </p:spPr>
      </p:sp>
      <p:sp>
        <p:nvSpPr>
          <p:cNvPr id="332196118" name="Shape 12"/>
          <p:cNvSpPr/>
          <p:nvPr/>
        </p:nvSpPr>
        <p:spPr bwMode="auto">
          <a:xfrm>
            <a:off x="1257300" y="5452586"/>
            <a:ext cx="111125" cy="1575911"/>
          </a:xfrm>
          <a:prstGeom prst="rect">
            <a:avLst/>
          </a:prstGeom>
          <a:solidFill>
            <a:srgbClr val="772953"/>
          </a:solidFill>
          <a:ln/>
        </p:spPr>
      </p:sp>
      <p:sp>
        <p:nvSpPr>
          <p:cNvPr id="510237689" name="Text 13"/>
          <p:cNvSpPr/>
          <p:nvPr/>
        </p:nvSpPr>
        <p:spPr bwMode="auto">
          <a:xfrm>
            <a:off x="1654175" y="5681186"/>
            <a:ext cx="15858299" cy="1156811"/>
          </a:xfrm>
          <a:prstGeom prst="rect">
            <a:avLst/>
          </a:prstGeom>
          <a:noFill/>
          <a:ln/>
        </p:spPr>
        <p:txBody>
          <a:bodyPr vertOverflow="overflow" horzOverflow="overflow" vert="horz" wrap="square" lIns="25399" tIns="25399" rIns="25399" bIns="25399" numCol="1" spcCol="0" rtlCol="0" fromWordArt="0" anchor="t" anchorCtr="0" forceAA="0" upright="0" compatLnSpc="0">
            <a:normAutofit fontScale="95000" lnSpcReduction="1000"/>
          </a:bodyPr>
          <a:lstStyle/>
          <a:p>
            <a:pPr marL="0" indent="0" algn="l">
              <a:lnSpc>
                <a:spcPct val="126631"/>
              </a:lnSpc>
              <a:buNone/>
              <a:defRPr/>
            </a:pPr>
            <a:r>
              <a:rPr lang="en-US" sz="2050">
                <a:solidFill>
                  <a:srgbClr val="7FD1A6"/>
                </a:solidFill>
                <a:latin typeface="Courier New"/>
                <a:ea typeface="Courier New"/>
                <a:cs typeface="Courier New"/>
              </a:rPr>
              <a:t>$</a:t>
            </a:r>
            <a:r>
              <a:rPr lang="en-US" sz="2050">
                <a:solidFill>
                  <a:srgbClr val="F2F4F7"/>
                </a:solidFill>
                <a:highlight>
                  <a:srgbClr val="0E1013"/>
                </a:highlight>
                <a:latin typeface="Courier New"/>
                <a:ea typeface="Courier New"/>
                <a:cs typeface="Courier New"/>
              </a:rPr>
              <a:t> ros2 node list </a:t>
            </a:r>
            <a:endParaRPr lang="en-US" sz="2050">
              <a:solidFill>
                <a:srgbClr val="F2F4F7"/>
              </a:solidFill>
              <a:highlight>
                <a:srgbClr val="0E1013"/>
              </a:highlight>
              <a:latin typeface="Courier New"/>
              <a:ea typeface="Courier New"/>
              <a:cs typeface="Courier New"/>
            </a:endParaRPr>
          </a:p>
          <a:p>
            <a:pPr marL="0" indent="0" algn="l">
              <a:lnSpc>
                <a:spcPct val="126631"/>
              </a:lnSpc>
              <a:buNone/>
              <a:defRPr/>
            </a:pPr>
            <a:r>
              <a:rPr lang="en-US" sz="2050">
                <a:solidFill>
                  <a:srgbClr val="7FD1A6"/>
                </a:solidFill>
                <a:latin typeface="Courier New"/>
                <a:ea typeface="Courier New"/>
                <a:cs typeface="Courier New"/>
              </a:rPr>
              <a:t>$</a:t>
            </a:r>
            <a:r>
              <a:rPr lang="en-US" sz="2050">
                <a:solidFill>
                  <a:srgbClr val="F2F4F7"/>
                </a:solidFill>
                <a:highlight>
                  <a:srgbClr val="0E1013"/>
                </a:highlight>
                <a:latin typeface="Courier New"/>
                <a:ea typeface="Courier New"/>
                <a:cs typeface="Courier New"/>
              </a:rPr>
              <a:t> ros2 topic list </a:t>
            </a:r>
            <a:endParaRPr lang="en-US" sz="2050">
              <a:solidFill>
                <a:srgbClr val="F2F4F7"/>
              </a:solidFill>
              <a:highlight>
                <a:srgbClr val="0E1013"/>
              </a:highlight>
              <a:latin typeface="Courier New"/>
              <a:ea typeface="Courier New"/>
              <a:cs typeface="Courier New"/>
            </a:endParaRPr>
          </a:p>
          <a:p>
            <a:pPr marL="0" indent="0" algn="l">
              <a:lnSpc>
                <a:spcPct val="126631"/>
              </a:lnSpc>
              <a:buNone/>
              <a:defRPr/>
            </a:pPr>
            <a:r>
              <a:rPr lang="en-US" sz="2050">
                <a:solidFill>
                  <a:srgbClr val="7FD1A6"/>
                </a:solidFill>
                <a:latin typeface="Courier New"/>
                <a:ea typeface="Courier New"/>
                <a:cs typeface="Courier New"/>
              </a:rPr>
              <a:t>$</a:t>
            </a:r>
            <a:r>
              <a:rPr lang="en-US" sz="2050">
                <a:solidFill>
                  <a:srgbClr val="F2F4F7"/>
                </a:solidFill>
                <a:highlight>
                  <a:srgbClr val="0E1013"/>
                </a:highlight>
                <a:latin typeface="Courier New"/>
                <a:ea typeface="Courier New"/>
                <a:cs typeface="Courier New"/>
              </a:rPr>
              <a:t> ros2 topic hz /odom   </a:t>
            </a:r>
            <a:r>
              <a:rPr lang="en-US" sz="2050">
                <a:solidFill>
                  <a:srgbClr val="F5A97F"/>
                </a:solidFill>
                <a:latin typeface="Courier New"/>
                <a:ea typeface="Courier New"/>
                <a:cs typeface="Courier New"/>
              </a:rPr>
              <a:t># is data really flowing?</a:t>
            </a:r>
            <a:endParaRPr lang="en-US" sz="2050"/>
          </a:p>
        </p:txBody>
      </p:sp>
      <p:sp>
        <p:nvSpPr>
          <p:cNvPr id="1048327241" name="Shape 14"/>
          <p:cNvSpPr/>
          <p:nvPr/>
        </p:nvSpPr>
        <p:spPr bwMode="auto">
          <a:xfrm>
            <a:off x="1257300" y="7314248"/>
            <a:ext cx="15160625" cy="1230630"/>
          </a:xfrm>
          <a:prstGeom prst="roundRect">
            <a:avLst>
              <a:gd name="adj" fmla="val 6192"/>
            </a:avLst>
          </a:prstGeom>
          <a:solidFill>
            <a:srgbClr val="F3E2CD"/>
          </a:solidFill>
          <a:ln/>
        </p:spPr>
      </p:sp>
      <p:sp>
        <p:nvSpPr>
          <p:cNvPr id="1135160407" name="Shape 15"/>
          <p:cNvSpPr/>
          <p:nvPr/>
        </p:nvSpPr>
        <p:spPr bwMode="auto">
          <a:xfrm>
            <a:off x="1257300" y="7314248"/>
            <a:ext cx="111125" cy="1230630"/>
          </a:xfrm>
          <a:prstGeom prst="rect">
            <a:avLst/>
          </a:prstGeom>
          <a:solidFill>
            <a:srgbClr val="DB5817"/>
          </a:solidFill>
          <a:ln/>
        </p:spPr>
      </p:sp>
      <p:sp>
        <p:nvSpPr>
          <p:cNvPr id="753478895" name="Text 16"/>
          <p:cNvSpPr/>
          <p:nvPr/>
        </p:nvSpPr>
        <p:spPr bwMode="auto">
          <a:xfrm>
            <a:off x="1654175" y="7542848"/>
            <a:ext cx="166846" cy="426720"/>
          </a:xfrm>
          <a:prstGeom prst="rect">
            <a:avLst/>
          </a:prstGeom>
          <a:noFill/>
          <a:ln/>
        </p:spPr>
        <p:txBody>
          <a:bodyPr wrap="square" lIns="25400" tIns="25400" rIns="25400" bIns="25400" rtlCol="0" anchor="t">
            <a:normAutofit/>
          </a:bodyPr>
          <a:lstStyle/>
          <a:p>
            <a:pPr marL="0" indent="0" algn="l">
              <a:lnSpc>
                <a:spcPct val="105973"/>
              </a:lnSpc>
              <a:buNone/>
              <a:defRPr/>
            </a:pPr>
            <a:r>
              <a:rPr lang="en-US" sz="2550">
                <a:solidFill>
                  <a:srgbClr val="DB5817"/>
                </a:solidFill>
                <a:latin typeface="Arial"/>
                <a:ea typeface="Arial"/>
                <a:cs typeface="Arial"/>
              </a:rPr>
              <a:t>!</a:t>
            </a:r>
            <a:endParaRPr lang="en-US" sz="2550"/>
          </a:p>
        </p:txBody>
      </p:sp>
      <p:sp>
        <p:nvSpPr>
          <p:cNvPr id="1495239865" name="Text 17"/>
          <p:cNvSpPr/>
          <p:nvPr/>
        </p:nvSpPr>
        <p:spPr bwMode="auto">
          <a:xfrm>
            <a:off x="1954371" y="7542848"/>
            <a:ext cx="14603139" cy="811530"/>
          </a:xfrm>
          <a:prstGeom prst="rect">
            <a:avLst/>
          </a:prstGeom>
          <a:noFill/>
          <a:ln/>
        </p:spPr>
        <p:txBody>
          <a:bodyPr wrap="square" lIns="25400" tIns="25400" rIns="25400" bIns="25400" rtlCol="0" anchor="t">
            <a:normAutofit/>
          </a:bodyPr>
          <a:lstStyle/>
          <a:p>
            <a:pPr marL="0" indent="0" algn="l">
              <a:lnSpc>
                <a:spcPct val="122105"/>
              </a:lnSpc>
              <a:buNone/>
              <a:defRPr/>
            </a:pPr>
            <a:r>
              <a:rPr lang="en-US" sz="2200">
                <a:solidFill>
                  <a:srgbClr val="14161C"/>
                </a:solidFill>
                <a:latin typeface="Arial"/>
                <a:ea typeface="Arial"/>
                <a:cs typeface="Arial"/>
              </a:rPr>
              <a:t>A service reporting </a:t>
            </a:r>
            <a:r>
              <a:rPr lang="en-US" sz="2050">
                <a:solidFill>
                  <a:srgbClr val="14161C"/>
                </a:solidFill>
                <a:latin typeface="Courier New"/>
                <a:ea typeface="Courier New"/>
                <a:cs typeface="Courier New"/>
              </a:rPr>
              <a:t>active (running) </a:t>
            </a:r>
            <a:r>
              <a:rPr lang="en-US" sz="2200">
                <a:solidFill>
                  <a:srgbClr val="14161C"/>
                </a:solidFill>
                <a:latin typeface="Arial"/>
                <a:ea typeface="Arial"/>
                <a:cs typeface="Arial"/>
              </a:rPr>
              <a:t>does not mean it is working — its ROS nodes can fail silently and publish nothing. </a:t>
            </a:r>
            <a:r>
              <a:rPr lang="en-US" sz="2200" b="1">
                <a:solidFill>
                  <a:srgbClr val="002060"/>
                </a:solidFill>
                <a:latin typeface="Arial"/>
                <a:ea typeface="Arial"/>
                <a:cs typeface="Arial"/>
              </a:rPr>
              <a:t>Test the graph, not the process.</a:t>
            </a:r>
            <a:endParaRPr lang="en-US" sz="2200"/>
          </a:p>
        </p:txBody>
      </p:sp>
      <p:sp>
        <p:nvSpPr>
          <p:cNvPr id="1398536333" name="Shape 18"/>
          <p:cNvSpPr/>
          <p:nvPr/>
        </p:nvSpPr>
        <p:spPr bwMode="auto">
          <a:xfrm>
            <a:off x="1257300" y="9323387"/>
            <a:ext cx="9252268" cy="601663"/>
          </a:xfrm>
          <a:prstGeom prst="roundRect">
            <a:avLst>
              <a:gd name="adj" fmla="val 50000"/>
            </a:avLst>
          </a:prstGeom>
          <a:ln w="27781">
            <a:solidFill>
              <a:srgbClr val="002060">
                <a:alpha val="15999"/>
              </a:srgbClr>
            </a:solidFill>
            <a:prstDash val="solid"/>
          </a:ln>
        </p:spPr>
      </p:sp>
      <p:sp>
        <p:nvSpPr>
          <p:cNvPr id="1334047334" name="Text 19"/>
          <p:cNvSpPr/>
          <p:nvPr/>
        </p:nvSpPr>
        <p:spPr bwMode="auto">
          <a:xfrm>
            <a:off x="1532731" y="9446419"/>
            <a:ext cx="672147" cy="393700"/>
          </a:xfrm>
          <a:prstGeom prst="rect">
            <a:avLst/>
          </a:prstGeom>
          <a:noFill/>
          <a:ln/>
        </p:spPr>
        <p:txBody>
          <a:bodyPr wrap="square" lIns="25400" tIns="25400" rIns="25400" bIns="25400" rtlCol="0" anchor="t">
            <a:normAutofit/>
          </a:bodyPr>
          <a:lstStyle/>
          <a:p>
            <a:pPr marL="0" indent="0" algn="l">
              <a:buNone/>
              <a:defRPr/>
            </a:pPr>
            <a:r>
              <a:rPr lang="en-US" sz="1900" b="1">
                <a:solidFill>
                  <a:srgbClr val="DB5817"/>
                </a:solidFill>
                <a:latin typeface="Arial"/>
                <a:ea typeface="Arial"/>
                <a:cs typeface="Arial"/>
              </a:rPr>
              <a:t>Docs</a:t>
            </a:r>
            <a:endParaRPr lang="en-US" sz="1900"/>
          </a:p>
        </p:txBody>
      </p:sp>
      <p:sp>
        <p:nvSpPr>
          <p:cNvPr id="301275955" name="Text 20"/>
          <p:cNvSpPr/>
          <p:nvPr/>
        </p:nvSpPr>
        <p:spPr bwMode="auto">
          <a:xfrm>
            <a:off x="2262029" y="9457531"/>
            <a:ext cx="8211271" cy="371475"/>
          </a:xfrm>
          <a:prstGeom prst="rect">
            <a:avLst/>
          </a:prstGeom>
          <a:noFill/>
          <a:ln/>
        </p:spPr>
        <p:txBody>
          <a:bodyPr wrap="square" lIns="0" tIns="0" rIns="0" bIns="0" rtlCol="0" anchor="t">
            <a:normAutofit/>
          </a:bodyPr>
          <a:lstStyle/>
          <a:p>
            <a:pPr marL="0" indent="0" algn="l">
              <a:buNone/>
              <a:defRPr/>
            </a:pPr>
            <a:r>
              <a:rPr lang="en-US" sz="1900">
                <a:solidFill>
                  <a:srgbClr val="002060"/>
                </a:solidFill>
                <a:latin typeface="Arial"/>
                <a:ea typeface="Arial"/>
                <a:cs typeface="Arial"/>
              </a:rPr>
              <a:t>Appendices — Troubleshooting Index · Toolkit — systemd &amp; Services</a:t>
            </a:r>
            <a:endParaRPr lang="en-US" sz="1900"/>
          </a:p>
        </p:txBody>
      </p:sp>
      <p:pic>
        <p:nvPicPr>
          <p:cNvPr id="626774603" name="Image 1" descr="preencoded.png"/>
          <p:cNvPicPr>
            <a:picLocks noChangeAspect="1"/>
          </p:cNvPicPr>
          <p:nvPr/>
        </p:nvPicPr>
        <p:blipFill rotWithShape="1">
          <a:blip r:embed="rId4"/>
          <a:stretch/>
        </p:blipFill>
        <p:spPr bwMode="auto">
          <a:xfrm>
            <a:off x="17384395" y="9561512"/>
            <a:ext cx="274955" cy="34448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1">
    <p:bg>
      <p:bgPr shadeToTitle="0">
        <a:solidFill>
          <a:srgbClr val="FFFFFF"/>
        </a:solidFill>
      </p:bgPr>
    </p:bg>
    <p:spTree>
      <p:nvGrpSpPr>
        <p:cNvPr id="1" name=""/>
        <p:cNvGrpSpPr/>
        <p:nvPr/>
      </p:nvGrpSpPr>
      <p:grpSpPr bwMode="auto">
        <a:xfrm>
          <a:off x="0" y="0"/>
          <a:ext cx="0" cy="0"/>
          <a:chOff x="0" y="0"/>
          <a:chExt cx="0" cy="0"/>
        </a:xfrm>
      </p:grpSpPr>
      <p:sp>
        <p:nvSpPr>
          <p:cNvPr id="1823218236" name="Shape 0"/>
          <p:cNvSpPr/>
          <p:nvPr/>
        </p:nvSpPr>
        <p:spPr bwMode="auto">
          <a:xfrm>
            <a:off x="971550" y="0"/>
            <a:ext cx="28575" cy="10287000"/>
          </a:xfrm>
          <a:prstGeom prst="rect">
            <a:avLst/>
          </a:prstGeom>
          <a:solidFill>
            <a:srgbClr val="002060">
              <a:alpha val="15999"/>
            </a:srgbClr>
          </a:solidFill>
          <a:ln/>
        </p:spPr>
      </p:sp>
      <p:sp>
        <p:nvSpPr>
          <p:cNvPr id="582042148" name="Shape 1"/>
          <p:cNvSpPr/>
          <p:nvPr/>
        </p:nvSpPr>
        <p:spPr bwMode="auto">
          <a:xfrm>
            <a:off x="971550" y="1009650"/>
            <a:ext cx="16687800" cy="28575"/>
          </a:xfrm>
          <a:prstGeom prst="rect">
            <a:avLst/>
          </a:prstGeom>
          <a:solidFill>
            <a:srgbClr val="002060">
              <a:alpha val="15999"/>
            </a:srgbClr>
          </a:solidFill>
          <a:ln/>
        </p:spPr>
      </p:sp>
      <p:pic>
        <p:nvPicPr>
          <p:cNvPr id="1597115480" name="Image 0" descr="preencoded.png"/>
          <p:cNvPicPr>
            <a:picLocks noChangeAspect="1"/>
          </p:cNvPicPr>
          <p:nvPr/>
        </p:nvPicPr>
        <p:blipFill rotWithShape="1">
          <a:blip r:embed="rId3"/>
          <a:stretch/>
        </p:blipFill>
        <p:spPr bwMode="auto">
          <a:xfrm>
            <a:off x="1257300" y="209550"/>
            <a:ext cx="779621" cy="647700"/>
          </a:xfrm>
          <a:prstGeom prst="rect">
            <a:avLst/>
          </a:prstGeom>
        </p:spPr>
      </p:pic>
      <p:sp>
        <p:nvSpPr>
          <p:cNvPr id="555101051" name="Text 2"/>
          <p:cNvSpPr/>
          <p:nvPr/>
        </p:nvSpPr>
        <p:spPr bwMode="auto">
          <a:xfrm>
            <a:off x="14455616" y="400050"/>
            <a:ext cx="3524107" cy="393700"/>
          </a:xfrm>
          <a:prstGeom prst="rect">
            <a:avLst/>
          </a:prstGeom>
          <a:noFill/>
          <a:ln/>
        </p:spPr>
        <p:txBody>
          <a:bodyPr wrap="square" lIns="25400" tIns="25400" rIns="25400" bIns="25400" rtlCol="0" anchor="t">
            <a:normAutofit/>
          </a:bodyPr>
          <a:lstStyle/>
          <a:p>
            <a:pPr marL="0" indent="0" algn="l">
              <a:buNone/>
              <a:defRPr/>
            </a:pPr>
            <a:r>
              <a:rPr lang="en-US" sz="1900" spc="75">
                <a:solidFill>
                  <a:srgbClr val="DB5817"/>
                </a:solidFill>
                <a:latin typeface="Arial"/>
                <a:ea typeface="Arial"/>
                <a:cs typeface="Arial"/>
              </a:rPr>
              <a:t>www.centex-sarawak.my</a:t>
            </a:r>
            <a:endParaRPr lang="en-US" sz="1900"/>
          </a:p>
        </p:txBody>
      </p:sp>
      <p:sp>
        <p:nvSpPr>
          <p:cNvPr id="408853329" name="Text 3"/>
          <p:cNvSpPr/>
          <p:nvPr/>
        </p:nvSpPr>
        <p:spPr bwMode="auto">
          <a:xfrm>
            <a:off x="1257300" y="1905000"/>
            <a:ext cx="17665065" cy="410369"/>
          </a:xfrm>
          <a:prstGeom prst="rect">
            <a:avLst/>
          </a:prstGeom>
          <a:noFill/>
          <a:ln/>
        </p:spPr>
        <p:txBody>
          <a:bodyPr wrap="square" lIns="25400" tIns="25400" rIns="25400" bIns="25400" rtlCol="0" anchor="t">
            <a:normAutofit/>
          </a:bodyPr>
          <a:lstStyle/>
          <a:p>
            <a:pPr marL="0" indent="0" algn="l">
              <a:buNone/>
              <a:defRPr/>
            </a:pPr>
            <a:r>
              <a:rPr lang="en-US" sz="1950" b="1" spc="311">
                <a:solidFill>
                  <a:srgbClr val="DB5817"/>
                </a:solidFill>
                <a:latin typeface="Arial"/>
                <a:ea typeface="Arial"/>
                <a:cs typeface="Arial"/>
              </a:rPr>
              <a:t>STEP 5 · THE PAYOFF</a:t>
            </a:r>
            <a:endParaRPr lang="en-US" sz="1950"/>
          </a:p>
        </p:txBody>
      </p:sp>
      <p:sp>
        <p:nvSpPr>
          <p:cNvPr id="1091373993" name="Text 4"/>
          <p:cNvSpPr/>
          <p:nvPr/>
        </p:nvSpPr>
        <p:spPr bwMode="auto">
          <a:xfrm>
            <a:off x="1257300" y="2486819"/>
            <a:ext cx="17665065" cy="805497"/>
          </a:xfrm>
          <a:prstGeom prst="rect">
            <a:avLst/>
          </a:prstGeom>
          <a:noFill/>
          <a:ln/>
        </p:spPr>
        <p:txBody>
          <a:bodyPr wrap="square" lIns="25400" tIns="25400" rIns="25400" bIns="25400" rtlCol="0" anchor="t">
            <a:normAutofit/>
          </a:bodyPr>
          <a:lstStyle/>
          <a:p>
            <a:pPr marL="0" indent="0" algn="l">
              <a:lnSpc>
                <a:spcPct val="94599"/>
              </a:lnSpc>
              <a:buNone/>
              <a:defRPr/>
            </a:pPr>
            <a:r>
              <a:rPr lang="en-US" sz="5700" b="1" spc="-57">
                <a:solidFill>
                  <a:srgbClr val="002060"/>
                </a:solidFill>
                <a:latin typeface="Arial"/>
                <a:ea typeface="Arial"/>
                <a:cs typeface="Arial"/>
              </a:rPr>
              <a:t>Drive it from the keyboard</a:t>
            </a:r>
            <a:endParaRPr lang="en-US" sz="5700"/>
          </a:p>
        </p:txBody>
      </p:sp>
      <p:sp>
        <p:nvSpPr>
          <p:cNvPr id="936179631" name="Text 5"/>
          <p:cNvSpPr/>
          <p:nvPr/>
        </p:nvSpPr>
        <p:spPr bwMode="auto">
          <a:xfrm>
            <a:off x="1257300" y="3520916"/>
            <a:ext cx="9528201" cy="1478280"/>
          </a:xfrm>
          <a:prstGeom prst="rect">
            <a:avLst/>
          </a:prstGeom>
          <a:noFill/>
          <a:ln/>
        </p:spPr>
        <p:txBody>
          <a:bodyPr wrap="square" lIns="25400" tIns="25400" rIns="25400" bIns="25400" rtlCol="0" anchor="t">
            <a:normAutofit/>
          </a:bodyPr>
          <a:lstStyle/>
          <a:p>
            <a:pPr marL="0" indent="0" algn="l">
              <a:lnSpc>
                <a:spcPct val="123429"/>
              </a:lnSpc>
              <a:buNone/>
              <a:defRPr/>
            </a:pPr>
            <a:r>
              <a:rPr lang="en-US" sz="2700">
                <a:solidFill>
                  <a:srgbClr val="2A3040"/>
                </a:solidFill>
                <a:latin typeface="Arial"/>
                <a:ea typeface="Arial"/>
                <a:cs typeface="Arial"/>
              </a:rPr>
              <a:t>With the robot's topics visible, the stock ROS 2 teleop node drives it by publishing </a:t>
            </a:r>
            <a:r>
              <a:rPr lang="en-US" sz="2550">
                <a:solidFill>
                  <a:srgbClr val="2A3040"/>
                </a:solidFill>
                <a:latin typeface="Courier New"/>
                <a:ea typeface="Courier New"/>
                <a:cs typeface="Courier New"/>
              </a:rPr>
              <a:t>/cmd_vel </a:t>
            </a:r>
            <a:r>
              <a:rPr lang="en-US" sz="2700">
                <a:solidFill>
                  <a:srgbClr val="2A3040"/>
                </a:solidFill>
                <a:latin typeface="Arial"/>
                <a:ea typeface="Arial"/>
                <a:cs typeface="Arial"/>
              </a:rPr>
              <a:t>. Nothing about this is A2Bot-specific.</a:t>
            </a:r>
            <a:endParaRPr lang="en-US" sz="2700"/>
          </a:p>
        </p:txBody>
      </p:sp>
      <p:sp>
        <p:nvSpPr>
          <p:cNvPr id="2036532137" name="Shape 6"/>
          <p:cNvSpPr/>
          <p:nvPr/>
        </p:nvSpPr>
        <p:spPr bwMode="auto">
          <a:xfrm>
            <a:off x="1257300" y="5246846"/>
            <a:ext cx="16059150" cy="1565910"/>
          </a:xfrm>
          <a:prstGeom prst="roundRect">
            <a:avLst>
              <a:gd name="adj" fmla="val 6083"/>
            </a:avLst>
          </a:prstGeom>
          <a:ln/>
          <a:effectLst>
            <a:outerShdw blurRad="323850" dist="114300" dir="5400000" sx="100000" sy="100000" kx="0" ky="0" algn="bl" rotWithShape="0">
              <a:srgbClr val="002060">
                <a:alpha val="18000"/>
              </a:srgbClr>
            </a:outerShdw>
          </a:effectLst>
        </p:spPr>
      </p:sp>
      <p:sp>
        <p:nvSpPr>
          <p:cNvPr id="409870539" name="Shape 7"/>
          <p:cNvSpPr/>
          <p:nvPr/>
        </p:nvSpPr>
        <p:spPr bwMode="auto">
          <a:xfrm>
            <a:off x="1257300" y="5246846"/>
            <a:ext cx="16059150" cy="666750"/>
          </a:xfrm>
          <a:prstGeom prst="rect">
            <a:avLst/>
          </a:prstGeom>
          <a:solidFill>
            <a:srgbClr val="5E2750"/>
          </a:solidFill>
          <a:ln/>
        </p:spPr>
      </p:sp>
      <p:sp>
        <p:nvSpPr>
          <p:cNvPr id="249131573" name="Shape 8"/>
          <p:cNvSpPr/>
          <p:nvPr/>
        </p:nvSpPr>
        <p:spPr bwMode="auto">
          <a:xfrm>
            <a:off x="1524000" y="5380196"/>
            <a:ext cx="1802448" cy="400050"/>
          </a:xfrm>
          <a:prstGeom prst="roundRect">
            <a:avLst>
              <a:gd name="adj" fmla="val 14286"/>
            </a:avLst>
          </a:prstGeom>
          <a:solidFill>
            <a:srgbClr val="FFFFFF"/>
          </a:solidFill>
          <a:ln/>
        </p:spPr>
      </p:sp>
      <p:sp>
        <p:nvSpPr>
          <p:cNvPr id="135897213" name="Text 9"/>
          <p:cNvSpPr/>
          <p:nvPr/>
        </p:nvSpPr>
        <p:spPr bwMode="auto">
          <a:xfrm>
            <a:off x="1714500" y="5437346"/>
            <a:ext cx="1497648" cy="323850"/>
          </a:xfrm>
          <a:prstGeom prst="rect">
            <a:avLst/>
          </a:prstGeom>
          <a:noFill/>
          <a:ln/>
        </p:spPr>
        <p:txBody>
          <a:bodyPr wrap="none" lIns="25400" tIns="25400" rIns="25400" bIns="25400" rtlCol="0" anchor="ctr">
            <a:normAutofit/>
          </a:bodyPr>
          <a:lstStyle/>
          <a:p>
            <a:pPr marL="0" indent="0" algn="l">
              <a:lnSpc>
                <a:spcPct val="104956"/>
              </a:lnSpc>
              <a:buNone/>
              <a:defRPr/>
            </a:pPr>
            <a:r>
              <a:rPr lang="en-US" sz="1900" b="1">
                <a:solidFill>
                  <a:srgbClr val="772953"/>
                </a:solidFill>
                <a:latin typeface="Arial"/>
                <a:ea typeface="Arial"/>
                <a:cs typeface="Arial"/>
              </a:rPr>
              <a:t>Your device</a:t>
            </a:r>
            <a:endParaRPr lang="en-US" sz="1900"/>
          </a:p>
        </p:txBody>
      </p:sp>
      <p:sp>
        <p:nvSpPr>
          <p:cNvPr id="1303056236" name="Text 10"/>
          <p:cNvSpPr/>
          <p:nvPr/>
        </p:nvSpPr>
        <p:spPr bwMode="auto">
          <a:xfrm>
            <a:off x="3535998" y="5407977"/>
            <a:ext cx="4916741" cy="382588"/>
          </a:xfrm>
          <a:prstGeom prst="rect">
            <a:avLst/>
          </a:prstGeom>
          <a:noFill/>
          <a:ln/>
        </p:spPr>
        <p:txBody>
          <a:bodyPr wrap="square" lIns="25400" tIns="25400" rIns="25400" bIns="25400" rtlCol="0" anchor="t">
            <a:normAutofit/>
          </a:bodyPr>
          <a:lstStyle/>
          <a:p>
            <a:pPr marL="0" indent="0" algn="l">
              <a:buNone/>
              <a:defRPr/>
            </a:pPr>
            <a:r>
              <a:rPr lang="en-US" sz="1800">
                <a:solidFill>
                  <a:srgbClr val="FFFFFF">
                    <a:alpha val="82000"/>
                  </a:srgbClr>
                </a:solidFill>
                <a:latin typeface="Arial"/>
                <a:ea typeface="Arial"/>
                <a:cs typeface="Arial"/>
              </a:rPr>
              <a:t>Run this from your laptop, not the robot</a:t>
            </a:r>
            <a:endParaRPr lang="en-US" sz="1800"/>
          </a:p>
        </p:txBody>
      </p:sp>
      <p:sp>
        <p:nvSpPr>
          <p:cNvPr id="1126270409" name="Shape 11"/>
          <p:cNvSpPr/>
          <p:nvPr/>
        </p:nvSpPr>
        <p:spPr bwMode="auto">
          <a:xfrm>
            <a:off x="1257300" y="5913596"/>
            <a:ext cx="16059150" cy="899160"/>
          </a:xfrm>
          <a:prstGeom prst="rect">
            <a:avLst/>
          </a:prstGeom>
          <a:solidFill>
            <a:srgbClr val="0E1013"/>
          </a:solidFill>
          <a:ln/>
        </p:spPr>
      </p:sp>
      <p:sp>
        <p:nvSpPr>
          <p:cNvPr id="998089751" name="Shape 12"/>
          <p:cNvSpPr/>
          <p:nvPr/>
        </p:nvSpPr>
        <p:spPr bwMode="auto">
          <a:xfrm>
            <a:off x="1257300" y="5913596"/>
            <a:ext cx="111125" cy="899160"/>
          </a:xfrm>
          <a:prstGeom prst="rect">
            <a:avLst/>
          </a:prstGeom>
          <a:solidFill>
            <a:srgbClr val="772953"/>
          </a:solidFill>
          <a:ln/>
        </p:spPr>
      </p:sp>
      <p:sp>
        <p:nvSpPr>
          <p:cNvPr id="435143100" name="Text 13"/>
          <p:cNvSpPr/>
          <p:nvPr/>
        </p:nvSpPr>
        <p:spPr bwMode="auto">
          <a:xfrm>
            <a:off x="1654175" y="6142196"/>
            <a:ext cx="15858299" cy="480060"/>
          </a:xfrm>
          <a:prstGeom prst="rect">
            <a:avLst/>
          </a:prstGeom>
          <a:noFill/>
          <a:ln/>
        </p:spPr>
        <p:txBody>
          <a:bodyPr wrap="square" lIns="25400" tIns="25400" rIns="25400" bIns="25400" rtlCol="0" anchor="t">
            <a:normAutofit/>
          </a:bodyPr>
          <a:lstStyle/>
          <a:p>
            <a:pPr marL="0" indent="0" algn="l">
              <a:lnSpc>
                <a:spcPct val="126259"/>
              </a:lnSpc>
              <a:buNone/>
              <a:defRPr/>
            </a:pPr>
            <a:r>
              <a:rPr lang="en-US" sz="2400">
                <a:solidFill>
                  <a:srgbClr val="7FD1A6"/>
                </a:solidFill>
                <a:latin typeface="Courier New"/>
                <a:ea typeface="Courier New"/>
                <a:cs typeface="Courier New"/>
              </a:rPr>
              <a:t>$</a:t>
            </a:r>
            <a:r>
              <a:rPr lang="en-US" sz="2400">
                <a:solidFill>
                  <a:srgbClr val="F2F4F7"/>
                </a:solidFill>
                <a:highlight>
                  <a:srgbClr val="0E1013"/>
                </a:highlight>
                <a:latin typeface="Courier New"/>
                <a:ea typeface="Courier New"/>
                <a:cs typeface="Courier New"/>
              </a:rPr>
              <a:t> ros2 run teleop_twist_keyboard teleop_twist_keyboard</a:t>
            </a:r>
            <a:endParaRPr lang="en-US" sz="2400"/>
          </a:p>
        </p:txBody>
      </p:sp>
      <p:sp>
        <p:nvSpPr>
          <p:cNvPr id="1627830034" name="Shape 14"/>
          <p:cNvSpPr/>
          <p:nvPr/>
        </p:nvSpPr>
        <p:spPr bwMode="auto">
          <a:xfrm>
            <a:off x="1257300" y="7098506"/>
            <a:ext cx="15160625" cy="1230630"/>
          </a:xfrm>
          <a:prstGeom prst="roundRect">
            <a:avLst>
              <a:gd name="adj" fmla="val 6192"/>
            </a:avLst>
          </a:prstGeom>
          <a:solidFill>
            <a:srgbClr val="F3E2CD"/>
          </a:solidFill>
          <a:ln/>
        </p:spPr>
      </p:sp>
      <p:sp>
        <p:nvSpPr>
          <p:cNvPr id="339479064" name="Shape 15"/>
          <p:cNvSpPr/>
          <p:nvPr/>
        </p:nvSpPr>
        <p:spPr bwMode="auto">
          <a:xfrm>
            <a:off x="1257300" y="7098506"/>
            <a:ext cx="111125" cy="1230630"/>
          </a:xfrm>
          <a:prstGeom prst="rect">
            <a:avLst/>
          </a:prstGeom>
          <a:solidFill>
            <a:srgbClr val="DB5817"/>
          </a:solidFill>
          <a:ln/>
        </p:spPr>
      </p:sp>
      <p:sp>
        <p:nvSpPr>
          <p:cNvPr id="853707225" name="Text 16"/>
          <p:cNvSpPr/>
          <p:nvPr/>
        </p:nvSpPr>
        <p:spPr bwMode="auto">
          <a:xfrm>
            <a:off x="1654175" y="7327106"/>
            <a:ext cx="166846" cy="426720"/>
          </a:xfrm>
          <a:prstGeom prst="rect">
            <a:avLst/>
          </a:prstGeom>
          <a:noFill/>
          <a:ln/>
        </p:spPr>
        <p:txBody>
          <a:bodyPr wrap="square" lIns="25400" tIns="25400" rIns="25400" bIns="25400" rtlCol="0" anchor="t">
            <a:normAutofit/>
          </a:bodyPr>
          <a:lstStyle/>
          <a:p>
            <a:pPr marL="0" indent="0" algn="l">
              <a:lnSpc>
                <a:spcPct val="105973"/>
              </a:lnSpc>
              <a:buNone/>
              <a:defRPr/>
            </a:pPr>
            <a:r>
              <a:rPr lang="en-US" sz="2550">
                <a:solidFill>
                  <a:srgbClr val="DB5817"/>
                </a:solidFill>
                <a:latin typeface="Arial"/>
                <a:ea typeface="Arial"/>
                <a:cs typeface="Arial"/>
              </a:rPr>
              <a:t>!</a:t>
            </a:r>
            <a:endParaRPr lang="en-US" sz="2550"/>
          </a:p>
        </p:txBody>
      </p:sp>
      <p:sp>
        <p:nvSpPr>
          <p:cNvPr id="2005008614" name="Text 17"/>
          <p:cNvSpPr/>
          <p:nvPr/>
        </p:nvSpPr>
        <p:spPr bwMode="auto">
          <a:xfrm>
            <a:off x="1954371" y="7327106"/>
            <a:ext cx="14603139" cy="811530"/>
          </a:xfrm>
          <a:prstGeom prst="rect">
            <a:avLst/>
          </a:prstGeom>
          <a:noFill/>
          <a:ln/>
        </p:spPr>
        <p:txBody>
          <a:bodyPr wrap="square" lIns="25400" tIns="25400" rIns="25400" bIns="25400" rtlCol="0" anchor="t">
            <a:normAutofit/>
          </a:bodyPr>
          <a:lstStyle/>
          <a:p>
            <a:pPr marL="0" indent="0" algn="l">
              <a:lnSpc>
                <a:spcPct val="122105"/>
              </a:lnSpc>
              <a:buNone/>
              <a:defRPr/>
            </a:pPr>
            <a:r>
              <a:rPr lang="en-US" sz="2200" b="1">
                <a:solidFill>
                  <a:srgbClr val="002060"/>
                </a:solidFill>
                <a:latin typeface="Arial"/>
                <a:ea typeface="Arial"/>
                <a:cs typeface="Arial"/>
              </a:rPr>
              <a:t>Keep that terminal focused </a:t>
            </a:r>
            <a:r>
              <a:rPr lang="en-US" sz="2200">
                <a:solidFill>
                  <a:srgbClr val="14161C"/>
                </a:solidFill>
                <a:latin typeface="Arial"/>
                <a:ea typeface="Arial"/>
                <a:cs typeface="Arial"/>
              </a:rPr>
              <a:t>— click into it and leave it there, or the keys go nowhere. Follow its on-screen key legend, and start slow with space around the robot.</a:t>
            </a:r>
            <a:endParaRPr lang="en-US" sz="2200"/>
          </a:p>
        </p:txBody>
      </p:sp>
      <p:sp>
        <p:nvSpPr>
          <p:cNvPr id="625291921" name="Shape 18"/>
          <p:cNvSpPr/>
          <p:nvPr/>
        </p:nvSpPr>
        <p:spPr bwMode="auto">
          <a:xfrm>
            <a:off x="1257300" y="9323387"/>
            <a:ext cx="9493250" cy="601663"/>
          </a:xfrm>
          <a:prstGeom prst="roundRect">
            <a:avLst>
              <a:gd name="adj" fmla="val 50000"/>
            </a:avLst>
          </a:prstGeom>
          <a:ln w="27781">
            <a:solidFill>
              <a:srgbClr val="002060">
                <a:alpha val="15999"/>
              </a:srgbClr>
            </a:solidFill>
            <a:prstDash val="solid"/>
          </a:ln>
        </p:spPr>
      </p:sp>
      <p:sp>
        <p:nvSpPr>
          <p:cNvPr id="229464178" name="Text 19"/>
          <p:cNvSpPr/>
          <p:nvPr/>
        </p:nvSpPr>
        <p:spPr bwMode="auto">
          <a:xfrm>
            <a:off x="1532731" y="9446419"/>
            <a:ext cx="672147" cy="393700"/>
          </a:xfrm>
          <a:prstGeom prst="rect">
            <a:avLst/>
          </a:prstGeom>
          <a:noFill/>
          <a:ln/>
        </p:spPr>
        <p:txBody>
          <a:bodyPr wrap="square" lIns="25400" tIns="25400" rIns="25400" bIns="25400" rtlCol="0" anchor="t">
            <a:normAutofit/>
          </a:bodyPr>
          <a:lstStyle/>
          <a:p>
            <a:pPr marL="0" indent="0" algn="l">
              <a:buNone/>
              <a:defRPr/>
            </a:pPr>
            <a:r>
              <a:rPr lang="en-US" sz="1900" b="1">
                <a:solidFill>
                  <a:srgbClr val="DB5817"/>
                </a:solidFill>
                <a:latin typeface="Arial"/>
                <a:ea typeface="Arial"/>
                <a:cs typeface="Arial"/>
              </a:rPr>
              <a:t>Docs</a:t>
            </a:r>
            <a:endParaRPr lang="en-US" sz="1900"/>
          </a:p>
        </p:txBody>
      </p:sp>
      <p:sp>
        <p:nvSpPr>
          <p:cNvPr id="559757453" name="Text 20"/>
          <p:cNvSpPr/>
          <p:nvPr/>
        </p:nvSpPr>
        <p:spPr bwMode="auto">
          <a:xfrm>
            <a:off x="2262029" y="9457531"/>
            <a:ext cx="8459483" cy="371475"/>
          </a:xfrm>
          <a:prstGeom prst="rect">
            <a:avLst/>
          </a:prstGeom>
          <a:noFill/>
          <a:ln/>
        </p:spPr>
        <p:txBody>
          <a:bodyPr wrap="square" lIns="0" tIns="0" rIns="0" bIns="0" rtlCol="0" anchor="t">
            <a:normAutofit/>
          </a:bodyPr>
          <a:lstStyle/>
          <a:p>
            <a:pPr marL="0" indent="0" algn="l">
              <a:buNone/>
              <a:defRPr/>
            </a:pPr>
            <a:r>
              <a:rPr lang="en-US" sz="1900">
                <a:solidFill>
                  <a:srgbClr val="002060"/>
                </a:solidFill>
                <a:latin typeface="Arial"/>
                <a:ea typeface="Arial"/>
                <a:cs typeface="Arial"/>
              </a:rPr>
              <a:t>Part 3 — Bringup &amp; Driving · for smoother, acceleration-limited driving</a:t>
            </a:r>
            <a:endParaRPr lang="en-US" sz="1900"/>
          </a:p>
        </p:txBody>
      </p:sp>
      <p:pic>
        <p:nvPicPr>
          <p:cNvPr id="190501280" name="Image 1" descr="preencoded.png"/>
          <p:cNvPicPr>
            <a:picLocks noChangeAspect="1"/>
          </p:cNvPicPr>
          <p:nvPr/>
        </p:nvPicPr>
        <p:blipFill rotWithShape="1">
          <a:blip r:embed="rId4"/>
          <a:stretch/>
        </p:blipFill>
        <p:spPr bwMode="auto">
          <a:xfrm>
            <a:off x="17454721" y="9561512"/>
            <a:ext cx="204629" cy="34448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2">
    <p:bg>
      <p:bgPr shadeToTitle="0">
        <a:solidFill>
          <a:srgbClr val="FFFFFF"/>
        </a:solidFill>
      </p:bgPr>
    </p:bg>
    <p:spTree>
      <p:nvGrpSpPr>
        <p:cNvPr id="1" name=""/>
        <p:cNvGrpSpPr/>
        <p:nvPr/>
      </p:nvGrpSpPr>
      <p:grpSpPr bwMode="auto">
        <a:xfrm>
          <a:off x="0" y="0"/>
          <a:ext cx="0" cy="0"/>
          <a:chOff x="0" y="0"/>
          <a:chExt cx="0" cy="0"/>
        </a:xfrm>
      </p:grpSpPr>
      <p:sp>
        <p:nvSpPr>
          <p:cNvPr id="739061776" name="Shape 0"/>
          <p:cNvSpPr/>
          <p:nvPr/>
        </p:nvSpPr>
        <p:spPr bwMode="auto">
          <a:xfrm>
            <a:off x="971550" y="0"/>
            <a:ext cx="28575" cy="10287000"/>
          </a:xfrm>
          <a:prstGeom prst="rect">
            <a:avLst/>
          </a:prstGeom>
          <a:solidFill>
            <a:srgbClr val="002060">
              <a:alpha val="15999"/>
            </a:srgbClr>
          </a:solidFill>
          <a:ln/>
        </p:spPr>
      </p:sp>
      <p:sp>
        <p:nvSpPr>
          <p:cNvPr id="749001838" name="Shape 1"/>
          <p:cNvSpPr/>
          <p:nvPr/>
        </p:nvSpPr>
        <p:spPr bwMode="auto">
          <a:xfrm>
            <a:off x="971550" y="1009650"/>
            <a:ext cx="16687800" cy="28575"/>
          </a:xfrm>
          <a:prstGeom prst="rect">
            <a:avLst/>
          </a:prstGeom>
          <a:solidFill>
            <a:srgbClr val="002060">
              <a:alpha val="15999"/>
            </a:srgbClr>
          </a:solidFill>
          <a:ln/>
        </p:spPr>
      </p:sp>
      <p:pic>
        <p:nvPicPr>
          <p:cNvPr id="140930609" name="Image 0" descr="preencoded.png"/>
          <p:cNvPicPr>
            <a:picLocks noChangeAspect="1"/>
          </p:cNvPicPr>
          <p:nvPr/>
        </p:nvPicPr>
        <p:blipFill rotWithShape="1">
          <a:blip r:embed="rId3"/>
          <a:stretch/>
        </p:blipFill>
        <p:spPr bwMode="auto">
          <a:xfrm>
            <a:off x="1257300" y="209550"/>
            <a:ext cx="779621" cy="647700"/>
          </a:xfrm>
          <a:prstGeom prst="rect">
            <a:avLst/>
          </a:prstGeom>
        </p:spPr>
      </p:pic>
      <p:sp>
        <p:nvSpPr>
          <p:cNvPr id="1191270988" name="Text 2"/>
          <p:cNvSpPr/>
          <p:nvPr/>
        </p:nvSpPr>
        <p:spPr bwMode="auto">
          <a:xfrm>
            <a:off x="14455616" y="400050"/>
            <a:ext cx="3524107" cy="393700"/>
          </a:xfrm>
          <a:prstGeom prst="rect">
            <a:avLst/>
          </a:prstGeom>
          <a:noFill/>
          <a:ln/>
        </p:spPr>
        <p:txBody>
          <a:bodyPr wrap="square" lIns="25400" tIns="25400" rIns="25400" bIns="25400" rtlCol="0" anchor="t">
            <a:normAutofit/>
          </a:bodyPr>
          <a:lstStyle/>
          <a:p>
            <a:pPr marL="0" indent="0" algn="l">
              <a:buNone/>
              <a:defRPr/>
            </a:pPr>
            <a:r>
              <a:rPr lang="en-US" sz="1900" spc="75">
                <a:solidFill>
                  <a:srgbClr val="DB5817"/>
                </a:solidFill>
                <a:latin typeface="Arial"/>
                <a:ea typeface="Arial"/>
                <a:cs typeface="Arial"/>
              </a:rPr>
              <a:t>www.centex-sarawak.my</a:t>
            </a:r>
            <a:endParaRPr lang="en-US" sz="1900"/>
          </a:p>
        </p:txBody>
      </p:sp>
      <p:sp>
        <p:nvSpPr>
          <p:cNvPr id="1881414865" name="Text 3"/>
          <p:cNvSpPr/>
          <p:nvPr/>
        </p:nvSpPr>
        <p:spPr bwMode="auto">
          <a:xfrm>
            <a:off x="1257300" y="1905000"/>
            <a:ext cx="17665065" cy="410369"/>
          </a:xfrm>
          <a:prstGeom prst="rect">
            <a:avLst/>
          </a:prstGeom>
          <a:noFill/>
          <a:ln/>
        </p:spPr>
        <p:txBody>
          <a:bodyPr wrap="square" lIns="25400" tIns="25400" rIns="25400" bIns="25400" rtlCol="0" anchor="t">
            <a:normAutofit/>
          </a:bodyPr>
          <a:lstStyle/>
          <a:p>
            <a:pPr marL="0" indent="0" algn="l">
              <a:buNone/>
              <a:defRPr/>
            </a:pPr>
            <a:r>
              <a:rPr lang="en-US" sz="1950" b="1" spc="311">
                <a:solidFill>
                  <a:srgbClr val="DB5817"/>
                </a:solidFill>
                <a:latin typeface="Arial"/>
                <a:ea typeface="Arial"/>
                <a:cs typeface="Arial"/>
              </a:rPr>
              <a:t>EXERCISE · YOUR TURN</a:t>
            </a:r>
            <a:endParaRPr lang="en-US" sz="1950"/>
          </a:p>
        </p:txBody>
      </p:sp>
      <p:sp>
        <p:nvSpPr>
          <p:cNvPr id="892212720" name="Text 4"/>
          <p:cNvSpPr/>
          <p:nvPr/>
        </p:nvSpPr>
        <p:spPr bwMode="auto">
          <a:xfrm>
            <a:off x="1257300" y="2486819"/>
            <a:ext cx="17665065" cy="805497"/>
          </a:xfrm>
          <a:prstGeom prst="rect">
            <a:avLst/>
          </a:prstGeom>
          <a:noFill/>
          <a:ln/>
        </p:spPr>
        <p:txBody>
          <a:bodyPr wrap="square" lIns="25400" tIns="25400" rIns="25400" bIns="25400" rtlCol="0" anchor="t">
            <a:normAutofit/>
          </a:bodyPr>
          <a:lstStyle/>
          <a:p>
            <a:pPr marL="0" indent="0" algn="l">
              <a:lnSpc>
                <a:spcPct val="94599"/>
              </a:lnSpc>
              <a:buNone/>
              <a:defRPr/>
            </a:pPr>
            <a:r>
              <a:rPr lang="en-US" sz="5700" b="1" spc="-57">
                <a:solidFill>
                  <a:srgbClr val="002060"/>
                </a:solidFill>
                <a:latin typeface="Arial"/>
                <a:ea typeface="Arial"/>
                <a:cs typeface="Arial"/>
              </a:rPr>
              <a:t>Drive it from the browser instead</a:t>
            </a:r>
            <a:endParaRPr lang="en-US" sz="5700"/>
          </a:p>
        </p:txBody>
      </p:sp>
      <p:sp>
        <p:nvSpPr>
          <p:cNvPr id="1925144958" name="Text 5"/>
          <p:cNvSpPr/>
          <p:nvPr/>
        </p:nvSpPr>
        <p:spPr bwMode="auto">
          <a:xfrm>
            <a:off x="1257300" y="3520916"/>
            <a:ext cx="9528201" cy="998220"/>
          </a:xfrm>
          <a:prstGeom prst="rect">
            <a:avLst/>
          </a:prstGeom>
          <a:noFill/>
          <a:ln/>
        </p:spPr>
        <p:txBody>
          <a:bodyPr wrap="square" lIns="25400" tIns="25400" rIns="25400" bIns="25400" rtlCol="0" anchor="t">
            <a:normAutofit/>
          </a:bodyPr>
          <a:lstStyle/>
          <a:p>
            <a:pPr marL="0" indent="0" algn="l">
              <a:lnSpc>
                <a:spcPct val="123429"/>
              </a:lnSpc>
              <a:buNone/>
              <a:defRPr/>
            </a:pPr>
            <a:r>
              <a:rPr lang="en-US" sz="2700">
                <a:solidFill>
                  <a:srgbClr val="2A3040"/>
                </a:solidFill>
                <a:latin typeface="Arial"/>
                <a:ea typeface="Arial"/>
                <a:cs typeface="Arial"/>
              </a:rPr>
              <a:t>Same robot, no terminal. Get to the robot's web control panel and drive it from there.</a:t>
            </a:r>
            <a:endParaRPr lang="en-US" sz="2700"/>
          </a:p>
        </p:txBody>
      </p:sp>
      <p:sp>
        <p:nvSpPr>
          <p:cNvPr id="1116859311" name="Shape 6"/>
          <p:cNvSpPr/>
          <p:nvPr/>
        </p:nvSpPr>
        <p:spPr bwMode="auto">
          <a:xfrm>
            <a:off x="1257300" y="4747736"/>
            <a:ext cx="7772400" cy="55562"/>
          </a:xfrm>
          <a:prstGeom prst="rect">
            <a:avLst/>
          </a:prstGeom>
          <a:solidFill>
            <a:srgbClr val="DB5817"/>
          </a:solidFill>
          <a:ln/>
        </p:spPr>
      </p:sp>
      <p:sp>
        <p:nvSpPr>
          <p:cNvPr id="1485421984" name="Text 7"/>
          <p:cNvSpPr/>
          <p:nvPr/>
        </p:nvSpPr>
        <p:spPr bwMode="auto">
          <a:xfrm>
            <a:off x="1257300" y="4974749"/>
            <a:ext cx="8549640" cy="438149"/>
          </a:xfrm>
          <a:prstGeom prst="rect">
            <a:avLst/>
          </a:prstGeom>
          <a:noFill/>
          <a:ln/>
        </p:spPr>
        <p:txBody>
          <a:bodyPr wrap="square" lIns="25400" tIns="25400" rIns="25400" bIns="25400" rtlCol="0" anchor="t">
            <a:normAutofit/>
          </a:bodyPr>
          <a:lstStyle/>
          <a:p>
            <a:pPr marL="0" indent="0" algn="l">
              <a:buNone/>
              <a:defRPr/>
            </a:pPr>
            <a:r>
              <a:rPr lang="en-US" sz="2100" b="1">
                <a:solidFill>
                  <a:srgbClr val="002060"/>
                </a:solidFill>
                <a:latin typeface="Arial"/>
                <a:ea typeface="Arial"/>
                <a:cs typeface="Arial"/>
              </a:rPr>
              <a:t>1 Find your robot's current IP address</a:t>
            </a:r>
            <a:endParaRPr lang="en-US" sz="2100"/>
          </a:p>
        </p:txBody>
      </p:sp>
      <p:sp>
        <p:nvSpPr>
          <p:cNvPr id="738455831" name="Text 8"/>
          <p:cNvSpPr/>
          <p:nvPr/>
        </p:nvSpPr>
        <p:spPr bwMode="auto">
          <a:xfrm>
            <a:off x="1257300" y="5374798"/>
            <a:ext cx="8549640" cy="352425"/>
          </a:xfrm>
          <a:prstGeom prst="rect">
            <a:avLst/>
          </a:prstGeom>
          <a:noFill/>
          <a:ln/>
        </p:spPr>
        <p:txBody>
          <a:bodyPr wrap="square" lIns="25400" tIns="25400" rIns="25400" bIns="25400" rtlCol="0" anchor="t">
            <a:normAutofit/>
          </a:bodyPr>
          <a:lstStyle/>
          <a:p>
            <a:pPr marL="0" indent="0" algn="l">
              <a:lnSpc>
                <a:spcPct val="115452"/>
              </a:lnSpc>
              <a:buNone/>
              <a:defRPr/>
            </a:pPr>
            <a:r>
              <a:rPr lang="en-US" sz="1900">
                <a:solidFill>
                  <a:srgbClr val="3A4152"/>
                </a:solidFill>
                <a:latin typeface="Arial"/>
                <a:ea typeface="Arial"/>
                <a:cs typeface="Arial"/>
              </a:rPr>
              <a:t>Not the one from the table — the one it holds right now.</a:t>
            </a:r>
            <a:endParaRPr lang="en-US" sz="1900"/>
          </a:p>
        </p:txBody>
      </p:sp>
      <p:sp>
        <p:nvSpPr>
          <p:cNvPr id="1421534583" name="Shape 9"/>
          <p:cNvSpPr/>
          <p:nvPr/>
        </p:nvSpPr>
        <p:spPr bwMode="auto">
          <a:xfrm>
            <a:off x="1257300" y="5841524"/>
            <a:ext cx="7772400" cy="55562"/>
          </a:xfrm>
          <a:prstGeom prst="rect">
            <a:avLst/>
          </a:prstGeom>
          <a:solidFill>
            <a:srgbClr val="DB5817"/>
          </a:solidFill>
          <a:ln/>
        </p:spPr>
      </p:sp>
      <p:sp>
        <p:nvSpPr>
          <p:cNvPr id="1762941885" name="Text 10"/>
          <p:cNvSpPr/>
          <p:nvPr/>
        </p:nvSpPr>
        <p:spPr bwMode="auto">
          <a:xfrm>
            <a:off x="1257300" y="6068537"/>
            <a:ext cx="8549640" cy="438149"/>
          </a:xfrm>
          <a:prstGeom prst="rect">
            <a:avLst/>
          </a:prstGeom>
          <a:noFill/>
          <a:ln/>
        </p:spPr>
        <p:txBody>
          <a:bodyPr wrap="square" lIns="25400" tIns="25400" rIns="25400" bIns="25400" rtlCol="0" anchor="t">
            <a:normAutofit/>
          </a:bodyPr>
          <a:lstStyle/>
          <a:p>
            <a:pPr marL="0" indent="0" algn="l">
              <a:buNone/>
              <a:defRPr/>
            </a:pPr>
            <a:r>
              <a:rPr lang="en-US" sz="2100" b="1">
                <a:solidFill>
                  <a:srgbClr val="002060"/>
                </a:solidFill>
                <a:latin typeface="Arial"/>
                <a:ea typeface="Arial"/>
                <a:cs typeface="Arial"/>
              </a:rPr>
              <a:t>2 Open the control panel in your browser</a:t>
            </a:r>
            <a:endParaRPr lang="en-US" sz="2100"/>
          </a:p>
        </p:txBody>
      </p:sp>
      <p:sp>
        <p:nvSpPr>
          <p:cNvPr id="825360641" name="Text 11"/>
          <p:cNvSpPr/>
          <p:nvPr/>
        </p:nvSpPr>
        <p:spPr bwMode="auto">
          <a:xfrm>
            <a:off x="1257300" y="6468587"/>
            <a:ext cx="8549640" cy="352425"/>
          </a:xfrm>
          <a:prstGeom prst="rect">
            <a:avLst/>
          </a:prstGeom>
          <a:noFill/>
          <a:ln/>
        </p:spPr>
        <p:txBody>
          <a:bodyPr wrap="square" lIns="25400" tIns="25400" rIns="25400" bIns="25400" rtlCol="0" anchor="t">
            <a:normAutofit/>
          </a:bodyPr>
          <a:lstStyle/>
          <a:p>
            <a:pPr marL="0" indent="0" algn="l">
              <a:lnSpc>
                <a:spcPct val="115452"/>
              </a:lnSpc>
              <a:buNone/>
              <a:defRPr/>
            </a:pPr>
            <a:r>
              <a:rPr lang="en-US" sz="1900">
                <a:solidFill>
                  <a:srgbClr val="3A4152"/>
                </a:solidFill>
                <a:latin typeface="Arial"/>
                <a:ea typeface="Arial"/>
                <a:cs typeface="Arial"/>
              </a:rPr>
              <a:t>Same address, the other port.</a:t>
            </a:r>
            <a:endParaRPr lang="en-US" sz="1900"/>
          </a:p>
        </p:txBody>
      </p:sp>
      <p:sp>
        <p:nvSpPr>
          <p:cNvPr id="1268036021" name="Shape 12"/>
          <p:cNvSpPr/>
          <p:nvPr/>
        </p:nvSpPr>
        <p:spPr bwMode="auto">
          <a:xfrm>
            <a:off x="1257300" y="6935312"/>
            <a:ext cx="7772400" cy="55562"/>
          </a:xfrm>
          <a:prstGeom prst="rect">
            <a:avLst/>
          </a:prstGeom>
          <a:solidFill>
            <a:srgbClr val="DB5817"/>
          </a:solidFill>
          <a:ln/>
        </p:spPr>
      </p:sp>
      <p:sp>
        <p:nvSpPr>
          <p:cNvPr id="566002262" name="Text 13"/>
          <p:cNvSpPr/>
          <p:nvPr/>
        </p:nvSpPr>
        <p:spPr bwMode="auto">
          <a:xfrm>
            <a:off x="1257300" y="7162324"/>
            <a:ext cx="8549640" cy="438149"/>
          </a:xfrm>
          <a:prstGeom prst="rect">
            <a:avLst/>
          </a:prstGeom>
          <a:noFill/>
          <a:ln/>
        </p:spPr>
        <p:txBody>
          <a:bodyPr wrap="square" lIns="25400" tIns="25400" rIns="25400" bIns="25400" rtlCol="0" anchor="t">
            <a:normAutofit/>
          </a:bodyPr>
          <a:lstStyle/>
          <a:p>
            <a:pPr marL="0" indent="0" algn="l">
              <a:buNone/>
              <a:defRPr/>
            </a:pPr>
            <a:r>
              <a:rPr lang="en-US" sz="2100" b="1">
                <a:solidFill>
                  <a:srgbClr val="002060"/>
                </a:solidFill>
                <a:latin typeface="Arial"/>
                <a:ea typeface="Arial"/>
                <a:cs typeface="Arial"/>
              </a:rPr>
              <a:t>3 Drive the robot with the on-screen controls</a:t>
            </a:r>
            <a:endParaRPr lang="en-US" sz="2100"/>
          </a:p>
        </p:txBody>
      </p:sp>
      <p:sp>
        <p:nvSpPr>
          <p:cNvPr id="1308056205" name="Text 14"/>
          <p:cNvSpPr/>
          <p:nvPr/>
        </p:nvSpPr>
        <p:spPr bwMode="auto">
          <a:xfrm>
            <a:off x="1257300" y="7562374"/>
            <a:ext cx="8549640" cy="352425"/>
          </a:xfrm>
          <a:prstGeom prst="rect">
            <a:avLst/>
          </a:prstGeom>
          <a:noFill/>
          <a:ln/>
        </p:spPr>
        <p:txBody>
          <a:bodyPr wrap="square" lIns="25400" tIns="25400" rIns="25400" bIns="25400" rtlCol="0" anchor="t">
            <a:normAutofit/>
          </a:bodyPr>
          <a:lstStyle/>
          <a:p>
            <a:pPr marL="0" indent="0" algn="l">
              <a:lnSpc>
                <a:spcPct val="115452"/>
              </a:lnSpc>
              <a:buNone/>
              <a:defRPr/>
            </a:pPr>
            <a:r>
              <a:rPr lang="en-US" sz="1900">
                <a:solidFill>
                  <a:srgbClr val="3A4152"/>
                </a:solidFill>
                <a:latin typeface="Arial"/>
                <a:ea typeface="Arial"/>
                <a:cs typeface="Arial"/>
              </a:rPr>
              <a:t>Then explain what the page is publishing to make it move.</a:t>
            </a:r>
            <a:endParaRPr lang="en-US" sz="1900"/>
          </a:p>
        </p:txBody>
      </p:sp>
      <p:sp>
        <p:nvSpPr>
          <p:cNvPr id="1849494943" name="Shape 15"/>
          <p:cNvSpPr/>
          <p:nvPr/>
        </p:nvSpPr>
        <p:spPr bwMode="auto">
          <a:xfrm>
            <a:off x="9544050" y="4747736"/>
            <a:ext cx="7772400" cy="3470275"/>
          </a:xfrm>
          <a:prstGeom prst="roundRect">
            <a:avLst>
              <a:gd name="adj" fmla="val 3294"/>
            </a:avLst>
          </a:prstGeom>
          <a:solidFill>
            <a:srgbClr val="F3E2CD"/>
          </a:solidFill>
          <a:ln/>
        </p:spPr>
      </p:sp>
      <p:sp>
        <p:nvSpPr>
          <p:cNvPr id="893221071" name="Shape 16"/>
          <p:cNvSpPr/>
          <p:nvPr/>
        </p:nvSpPr>
        <p:spPr bwMode="auto">
          <a:xfrm>
            <a:off x="9544050" y="4747736"/>
            <a:ext cx="7772400" cy="111125"/>
          </a:xfrm>
          <a:prstGeom prst="rect">
            <a:avLst/>
          </a:prstGeom>
          <a:solidFill>
            <a:srgbClr val="DB5817"/>
          </a:solidFill>
          <a:ln/>
        </p:spPr>
      </p:sp>
      <p:sp>
        <p:nvSpPr>
          <p:cNvPr id="1910937292" name="Text 17"/>
          <p:cNvSpPr/>
          <p:nvPr/>
        </p:nvSpPr>
        <p:spPr bwMode="auto">
          <a:xfrm>
            <a:off x="9925050" y="5182712"/>
            <a:ext cx="7711440" cy="521494"/>
          </a:xfrm>
          <a:prstGeom prst="rect">
            <a:avLst/>
          </a:prstGeom>
          <a:noFill/>
          <a:ln/>
        </p:spPr>
        <p:txBody>
          <a:bodyPr wrap="square" lIns="25400" tIns="25400" rIns="25400" bIns="25400" rtlCol="0" anchor="t">
            <a:normAutofit/>
          </a:bodyPr>
          <a:lstStyle/>
          <a:p>
            <a:pPr marL="0" indent="0" algn="l">
              <a:buNone/>
              <a:defRPr/>
            </a:pPr>
            <a:r>
              <a:rPr lang="en-US" sz="2550" b="1">
                <a:solidFill>
                  <a:srgbClr val="002060"/>
                </a:solidFill>
                <a:latin typeface="Arial"/>
                <a:ea typeface="Arial"/>
                <a:cs typeface="Arial"/>
              </a:rPr>
              <a:t>You already have what you need</a:t>
            </a:r>
            <a:endParaRPr lang="en-US" sz="2550"/>
          </a:p>
        </p:txBody>
      </p:sp>
      <p:sp>
        <p:nvSpPr>
          <p:cNvPr id="1547285510" name="Text 18"/>
          <p:cNvSpPr/>
          <p:nvPr/>
        </p:nvSpPr>
        <p:spPr bwMode="auto">
          <a:xfrm>
            <a:off x="9925050" y="5780405"/>
            <a:ext cx="7220712" cy="1214914"/>
          </a:xfrm>
          <a:prstGeom prst="rect">
            <a:avLst/>
          </a:prstGeom>
          <a:noFill/>
          <a:ln/>
        </p:spPr>
        <p:txBody>
          <a:bodyPr wrap="square" lIns="25400" tIns="25400" rIns="25400" bIns="25400" rtlCol="0" anchor="t">
            <a:normAutofit/>
          </a:bodyPr>
          <a:lstStyle/>
          <a:p>
            <a:pPr marL="0" indent="0" algn="l">
              <a:lnSpc>
                <a:spcPct val="123859"/>
              </a:lnSpc>
              <a:buNone/>
              <a:defRPr/>
            </a:pPr>
            <a:r>
              <a:rPr lang="en-US" sz="2200">
                <a:solidFill>
                  <a:srgbClr val="2A3040"/>
                </a:solidFill>
                <a:latin typeface="Arial"/>
                <a:ea typeface="Arial"/>
                <a:cs typeface="Arial"/>
              </a:rPr>
              <a:t>Two earlier slides carry the answer — the one about the robot's </a:t>
            </a:r>
            <a:r>
              <a:rPr lang="en-US" sz="2200" b="1">
                <a:solidFill>
                  <a:srgbClr val="2A3040"/>
                </a:solidFill>
                <a:latin typeface="Arial"/>
                <a:ea typeface="Arial"/>
                <a:cs typeface="Arial"/>
              </a:rPr>
              <a:t>two web pages </a:t>
            </a:r>
            <a:r>
              <a:rPr lang="en-US" sz="2200">
                <a:solidFill>
                  <a:srgbClr val="2A3040"/>
                </a:solidFill>
                <a:latin typeface="Arial"/>
                <a:ea typeface="Arial"/>
                <a:cs typeface="Arial"/>
              </a:rPr>
              <a:t>, and the one about asking the robot for its own </a:t>
            </a:r>
            <a:r>
              <a:rPr lang="en-US" sz="2200" b="1">
                <a:solidFill>
                  <a:srgbClr val="2A3040"/>
                </a:solidFill>
                <a:latin typeface="Arial"/>
                <a:ea typeface="Arial"/>
                <a:cs typeface="Arial"/>
              </a:rPr>
              <a:t>address</a:t>
            </a:r>
            <a:r>
              <a:rPr lang="en-US" sz="2200">
                <a:solidFill>
                  <a:srgbClr val="2A3040"/>
                </a:solidFill>
                <a:latin typeface="Arial"/>
                <a:ea typeface="Arial"/>
                <a:cs typeface="Arial"/>
              </a:rPr>
              <a:t>.</a:t>
            </a:r>
            <a:endParaRPr lang="en-US" sz="2200"/>
          </a:p>
        </p:txBody>
      </p:sp>
      <p:sp>
        <p:nvSpPr>
          <p:cNvPr id="1258309028" name="Text 19"/>
          <p:cNvSpPr/>
          <p:nvPr/>
        </p:nvSpPr>
        <p:spPr bwMode="auto">
          <a:xfrm>
            <a:off x="9925050" y="7109619"/>
            <a:ext cx="7220712" cy="822643"/>
          </a:xfrm>
          <a:prstGeom prst="rect">
            <a:avLst/>
          </a:prstGeom>
          <a:noFill/>
          <a:ln/>
        </p:spPr>
        <p:txBody>
          <a:bodyPr wrap="square" lIns="25400" tIns="25400" rIns="25400" bIns="25400" rtlCol="0" anchor="t">
            <a:normAutofit/>
          </a:bodyPr>
          <a:lstStyle/>
          <a:p>
            <a:pPr marL="0" indent="0" algn="l">
              <a:lnSpc>
                <a:spcPct val="123859"/>
              </a:lnSpc>
              <a:buNone/>
              <a:defRPr/>
            </a:pPr>
            <a:r>
              <a:rPr lang="en-US" sz="2200">
                <a:solidFill>
                  <a:srgbClr val="2A3040"/>
                </a:solidFill>
                <a:latin typeface="Arial"/>
                <a:ea typeface="Arial"/>
                <a:cs typeface="Arial"/>
              </a:rPr>
              <a:t>Your laptop and the robot must still be on the same network.</a:t>
            </a:r>
            <a:endParaRPr lang="en-US" sz="2200"/>
          </a:p>
        </p:txBody>
      </p:sp>
      <p:sp>
        <p:nvSpPr>
          <p:cNvPr id="1817525427" name="Shape 20"/>
          <p:cNvSpPr/>
          <p:nvPr/>
        </p:nvSpPr>
        <p:spPr bwMode="auto">
          <a:xfrm>
            <a:off x="9544050" y="8503761"/>
            <a:ext cx="7772400" cy="1634014"/>
          </a:xfrm>
          <a:prstGeom prst="roundRect">
            <a:avLst>
              <a:gd name="adj" fmla="val 4663"/>
            </a:avLst>
          </a:prstGeom>
          <a:solidFill>
            <a:srgbClr val="F3E2CD"/>
          </a:solidFill>
          <a:ln/>
        </p:spPr>
      </p:sp>
      <p:sp>
        <p:nvSpPr>
          <p:cNvPr id="1292321471" name="Shape 21"/>
          <p:cNvSpPr/>
          <p:nvPr/>
        </p:nvSpPr>
        <p:spPr bwMode="auto">
          <a:xfrm>
            <a:off x="9544050" y="8503761"/>
            <a:ext cx="111125" cy="1634014"/>
          </a:xfrm>
          <a:prstGeom prst="rect">
            <a:avLst/>
          </a:prstGeom>
          <a:solidFill>
            <a:srgbClr val="002060"/>
          </a:solidFill>
          <a:ln/>
        </p:spPr>
      </p:sp>
      <p:sp>
        <p:nvSpPr>
          <p:cNvPr id="1191922783" name="Text 22"/>
          <p:cNvSpPr/>
          <p:nvPr/>
        </p:nvSpPr>
        <p:spPr bwMode="auto">
          <a:xfrm>
            <a:off x="9940925" y="8732361"/>
            <a:ext cx="347504" cy="426720"/>
          </a:xfrm>
          <a:prstGeom prst="rect">
            <a:avLst/>
          </a:prstGeom>
          <a:noFill/>
          <a:ln/>
        </p:spPr>
        <p:txBody>
          <a:bodyPr wrap="square" lIns="25400" tIns="25400" rIns="25400" bIns="25400" rtlCol="0" anchor="t">
            <a:normAutofit/>
          </a:bodyPr>
          <a:lstStyle/>
          <a:p>
            <a:pPr marL="0" indent="0" algn="l">
              <a:lnSpc>
                <a:spcPct val="105973"/>
              </a:lnSpc>
              <a:buNone/>
              <a:defRPr/>
            </a:pPr>
            <a:r>
              <a:rPr lang="en-US" sz="2550">
                <a:solidFill>
                  <a:srgbClr val="002060"/>
                </a:solidFill>
                <a:latin typeface="Arial"/>
                <a:ea typeface="Arial"/>
                <a:cs typeface="Arial"/>
              </a:rPr>
              <a:t>→</a:t>
            </a:r>
            <a:endParaRPr lang="en-US" sz="2550"/>
          </a:p>
        </p:txBody>
      </p:sp>
      <p:sp>
        <p:nvSpPr>
          <p:cNvPr id="384454060" name="Text 23"/>
          <p:cNvSpPr/>
          <p:nvPr/>
        </p:nvSpPr>
        <p:spPr bwMode="auto">
          <a:xfrm>
            <a:off x="10421779" y="8732361"/>
            <a:ext cx="6807189" cy="1214914"/>
          </a:xfrm>
          <a:prstGeom prst="rect">
            <a:avLst/>
          </a:prstGeom>
          <a:noFill/>
          <a:ln/>
        </p:spPr>
        <p:txBody>
          <a:bodyPr wrap="square" lIns="25400" tIns="25400" rIns="25400" bIns="25400" rtlCol="0" anchor="t">
            <a:normAutofit/>
          </a:bodyPr>
          <a:lstStyle/>
          <a:p>
            <a:pPr marL="0" indent="0" algn="l">
              <a:lnSpc>
                <a:spcPct val="123859"/>
              </a:lnSpc>
              <a:buNone/>
              <a:defRPr/>
            </a:pPr>
            <a:r>
              <a:rPr lang="en-US" sz="2200">
                <a:solidFill>
                  <a:srgbClr val="2A3040"/>
                </a:solidFill>
                <a:latin typeface="Arial"/>
                <a:ea typeface="Arial"/>
                <a:cs typeface="Arial"/>
              </a:rPr>
              <a:t>Finished early? Compare what the browser sends with what the keyboard teleop sends — </a:t>
            </a:r>
            <a:r>
              <a:rPr lang="en-US" sz="2050">
                <a:solidFill>
                  <a:srgbClr val="2A3040"/>
                </a:solidFill>
                <a:latin typeface="Courier New"/>
                <a:ea typeface="Courier New"/>
                <a:cs typeface="Courier New"/>
              </a:rPr>
              <a:t>ros2 topic echo /cmd_vel </a:t>
            </a:r>
            <a:r>
              <a:rPr lang="en-US" sz="2200">
                <a:solidFill>
                  <a:srgbClr val="2A3040"/>
                </a:solidFill>
                <a:latin typeface="Arial"/>
                <a:ea typeface="Arial"/>
                <a:cs typeface="Arial"/>
              </a:rPr>
              <a:t>while you drive.</a:t>
            </a:r>
            <a:endParaRPr lang="en-US" sz="2200"/>
          </a:p>
        </p:txBody>
      </p:sp>
      <p:pic>
        <p:nvPicPr>
          <p:cNvPr id="1404216048" name="Image 1" descr="preencoded.png"/>
          <p:cNvPicPr>
            <a:picLocks noChangeAspect="1"/>
          </p:cNvPicPr>
          <p:nvPr/>
        </p:nvPicPr>
        <p:blipFill rotWithShape="1">
          <a:blip r:embed="rId4"/>
          <a:stretch/>
        </p:blipFill>
        <p:spPr bwMode="auto">
          <a:xfrm>
            <a:off x="17396460" y="9561512"/>
            <a:ext cx="262890" cy="34448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3">
    <p:bg>
      <p:bgPr shadeToTitle="0">
        <a:solidFill>
          <a:srgbClr val="FFFFFF"/>
        </a:solidFill>
      </p:bgPr>
    </p:bg>
    <p:spTree>
      <p:nvGrpSpPr>
        <p:cNvPr id="1" name=""/>
        <p:cNvGrpSpPr/>
        <p:nvPr/>
      </p:nvGrpSpPr>
      <p:grpSpPr bwMode="auto">
        <a:xfrm>
          <a:off x="0" y="0"/>
          <a:ext cx="0" cy="0"/>
          <a:chOff x="0" y="0"/>
          <a:chExt cx="0" cy="0"/>
        </a:xfrm>
      </p:grpSpPr>
      <p:sp>
        <p:nvSpPr>
          <p:cNvPr id="133610138" name="Shape 0"/>
          <p:cNvSpPr/>
          <p:nvPr/>
        </p:nvSpPr>
        <p:spPr bwMode="auto">
          <a:xfrm>
            <a:off x="971550" y="0"/>
            <a:ext cx="28575" cy="10287000"/>
          </a:xfrm>
          <a:prstGeom prst="rect">
            <a:avLst/>
          </a:prstGeom>
          <a:solidFill>
            <a:srgbClr val="002060">
              <a:alpha val="15999"/>
            </a:srgbClr>
          </a:solidFill>
          <a:ln/>
        </p:spPr>
      </p:sp>
      <p:sp>
        <p:nvSpPr>
          <p:cNvPr id="1838379762" name="Shape 1"/>
          <p:cNvSpPr/>
          <p:nvPr/>
        </p:nvSpPr>
        <p:spPr bwMode="auto">
          <a:xfrm>
            <a:off x="971550" y="1009650"/>
            <a:ext cx="16687800" cy="28575"/>
          </a:xfrm>
          <a:prstGeom prst="rect">
            <a:avLst/>
          </a:prstGeom>
          <a:solidFill>
            <a:srgbClr val="002060">
              <a:alpha val="15999"/>
            </a:srgbClr>
          </a:solidFill>
          <a:ln/>
        </p:spPr>
      </p:sp>
      <p:pic>
        <p:nvPicPr>
          <p:cNvPr id="2084375010" name="Image 0" descr="preencoded.png"/>
          <p:cNvPicPr>
            <a:picLocks noChangeAspect="1"/>
          </p:cNvPicPr>
          <p:nvPr/>
        </p:nvPicPr>
        <p:blipFill rotWithShape="1">
          <a:blip r:embed="rId3"/>
          <a:stretch/>
        </p:blipFill>
        <p:spPr bwMode="auto">
          <a:xfrm>
            <a:off x="1257300" y="209550"/>
            <a:ext cx="779621" cy="647700"/>
          </a:xfrm>
          <a:prstGeom prst="rect">
            <a:avLst/>
          </a:prstGeom>
        </p:spPr>
      </p:pic>
      <p:sp>
        <p:nvSpPr>
          <p:cNvPr id="1204648745" name="Text 2"/>
          <p:cNvSpPr/>
          <p:nvPr/>
        </p:nvSpPr>
        <p:spPr bwMode="auto">
          <a:xfrm>
            <a:off x="14455616" y="400050"/>
            <a:ext cx="3524107" cy="393700"/>
          </a:xfrm>
          <a:prstGeom prst="rect">
            <a:avLst/>
          </a:prstGeom>
          <a:noFill/>
          <a:ln/>
        </p:spPr>
        <p:txBody>
          <a:bodyPr wrap="square" lIns="25400" tIns="25400" rIns="25400" bIns="25400" rtlCol="0" anchor="t">
            <a:normAutofit/>
          </a:bodyPr>
          <a:lstStyle/>
          <a:p>
            <a:pPr marL="0" indent="0" algn="l">
              <a:buNone/>
              <a:defRPr/>
            </a:pPr>
            <a:r>
              <a:rPr lang="en-US" sz="1900" spc="75">
                <a:solidFill>
                  <a:srgbClr val="DB5817"/>
                </a:solidFill>
                <a:latin typeface="Arial"/>
                <a:ea typeface="Arial"/>
                <a:cs typeface="Arial"/>
              </a:rPr>
              <a:t>www.centex-sarawak.my</a:t>
            </a:r>
            <a:endParaRPr lang="en-US" sz="1900"/>
          </a:p>
        </p:txBody>
      </p:sp>
      <p:sp>
        <p:nvSpPr>
          <p:cNvPr id="456187779" name="Text 3"/>
          <p:cNvSpPr/>
          <p:nvPr/>
        </p:nvSpPr>
        <p:spPr bwMode="auto">
          <a:xfrm>
            <a:off x="1257300" y="1905000"/>
            <a:ext cx="17665065" cy="410369"/>
          </a:xfrm>
          <a:prstGeom prst="rect">
            <a:avLst/>
          </a:prstGeom>
          <a:noFill/>
          <a:ln/>
        </p:spPr>
        <p:txBody>
          <a:bodyPr wrap="square" lIns="25400" tIns="25400" rIns="25400" bIns="25400" rtlCol="0" anchor="t">
            <a:normAutofit/>
          </a:bodyPr>
          <a:lstStyle/>
          <a:p>
            <a:pPr marL="0" indent="0" algn="l">
              <a:buNone/>
              <a:defRPr/>
            </a:pPr>
            <a:r>
              <a:rPr lang="en-US" sz="1950" b="1" spc="311">
                <a:solidFill>
                  <a:srgbClr val="DB5817"/>
                </a:solidFill>
                <a:latin typeface="Arial"/>
                <a:ea typeface="Arial"/>
                <a:cs typeface="Arial"/>
              </a:rPr>
              <a:t>TROUBLESHOOTING</a:t>
            </a:r>
            <a:endParaRPr lang="en-US" sz="1950"/>
          </a:p>
        </p:txBody>
      </p:sp>
      <p:sp>
        <p:nvSpPr>
          <p:cNvPr id="1889484495" name="Text 4"/>
          <p:cNvSpPr/>
          <p:nvPr/>
        </p:nvSpPr>
        <p:spPr bwMode="auto">
          <a:xfrm>
            <a:off x="1257300" y="2486819"/>
            <a:ext cx="17665065" cy="805497"/>
          </a:xfrm>
          <a:prstGeom prst="rect">
            <a:avLst/>
          </a:prstGeom>
          <a:noFill/>
          <a:ln/>
        </p:spPr>
        <p:txBody>
          <a:bodyPr wrap="square" lIns="25400" tIns="25400" rIns="25400" bIns="25400" rtlCol="0" anchor="t">
            <a:normAutofit/>
          </a:bodyPr>
          <a:lstStyle/>
          <a:p>
            <a:pPr marL="0" indent="0" algn="l">
              <a:lnSpc>
                <a:spcPct val="94599"/>
              </a:lnSpc>
              <a:buNone/>
              <a:defRPr/>
            </a:pPr>
            <a:r>
              <a:rPr lang="en-US" sz="5700" b="1" spc="-57">
                <a:solidFill>
                  <a:srgbClr val="002060"/>
                </a:solidFill>
                <a:latin typeface="Arial"/>
                <a:ea typeface="Arial"/>
                <a:cs typeface="Arial"/>
              </a:rPr>
              <a:t>If the robot is not responding</a:t>
            </a:r>
            <a:endParaRPr lang="en-US" sz="5700"/>
          </a:p>
        </p:txBody>
      </p:sp>
      <p:sp>
        <p:nvSpPr>
          <p:cNvPr id="341775320" name="Text 5"/>
          <p:cNvSpPr/>
          <p:nvPr/>
        </p:nvSpPr>
        <p:spPr bwMode="auto">
          <a:xfrm>
            <a:off x="1257300" y="3444716"/>
            <a:ext cx="13101276" cy="998220"/>
          </a:xfrm>
          <a:prstGeom prst="rect">
            <a:avLst/>
          </a:prstGeom>
          <a:noFill/>
          <a:ln/>
        </p:spPr>
        <p:txBody>
          <a:bodyPr wrap="square" lIns="25400" tIns="25400" rIns="25400" bIns="25400" rtlCol="0" anchor="t">
            <a:normAutofit/>
          </a:bodyPr>
          <a:lstStyle/>
          <a:p>
            <a:pPr marL="0" indent="0" algn="l">
              <a:lnSpc>
                <a:spcPct val="123429"/>
              </a:lnSpc>
              <a:buNone/>
              <a:defRPr/>
            </a:pPr>
            <a:r>
              <a:rPr lang="en-US" sz="2700">
                <a:solidFill>
                  <a:srgbClr val="2A3040"/>
                </a:solidFill>
                <a:latin typeface="Arial"/>
                <a:ea typeface="Arial"/>
                <a:cs typeface="Arial"/>
              </a:rPr>
              <a:t>No topics, a dead dashboard, or teleop doing nothing — start on the robot and ask what is running.</a:t>
            </a:r>
            <a:endParaRPr lang="en-US" sz="2700"/>
          </a:p>
        </p:txBody>
      </p:sp>
      <p:sp>
        <p:nvSpPr>
          <p:cNvPr id="320921749" name="Shape 6"/>
          <p:cNvSpPr/>
          <p:nvPr/>
        </p:nvSpPr>
        <p:spPr bwMode="auto">
          <a:xfrm>
            <a:off x="1257300" y="4633436"/>
            <a:ext cx="16059150" cy="1496854"/>
          </a:xfrm>
          <a:prstGeom prst="roundRect">
            <a:avLst>
              <a:gd name="adj" fmla="val 6363"/>
            </a:avLst>
          </a:prstGeom>
          <a:ln/>
          <a:effectLst>
            <a:outerShdw blurRad="323850" dist="114300" dir="5400000" sx="100000" sy="100000" kx="0" ky="0" algn="bl" rotWithShape="0">
              <a:srgbClr val="002060">
                <a:alpha val="18000"/>
              </a:srgbClr>
            </a:outerShdw>
          </a:effectLst>
        </p:spPr>
      </p:sp>
      <p:sp>
        <p:nvSpPr>
          <p:cNvPr id="207173018" name="Shape 7"/>
          <p:cNvSpPr/>
          <p:nvPr/>
        </p:nvSpPr>
        <p:spPr bwMode="auto">
          <a:xfrm>
            <a:off x="1257300" y="4633436"/>
            <a:ext cx="16059150" cy="666750"/>
          </a:xfrm>
          <a:prstGeom prst="rect">
            <a:avLst/>
          </a:prstGeom>
          <a:solidFill>
            <a:srgbClr val="23262E"/>
          </a:solidFill>
          <a:ln/>
        </p:spPr>
      </p:sp>
      <p:sp>
        <p:nvSpPr>
          <p:cNvPr id="1009798185" name="Shape 8"/>
          <p:cNvSpPr/>
          <p:nvPr/>
        </p:nvSpPr>
        <p:spPr bwMode="auto">
          <a:xfrm>
            <a:off x="1524000" y="4766786"/>
            <a:ext cx="2937986" cy="400050"/>
          </a:xfrm>
          <a:prstGeom prst="roundRect">
            <a:avLst>
              <a:gd name="adj" fmla="val 14286"/>
            </a:avLst>
          </a:prstGeom>
          <a:solidFill>
            <a:srgbClr val="C51A4A"/>
          </a:solidFill>
          <a:ln/>
        </p:spPr>
      </p:sp>
      <p:sp>
        <p:nvSpPr>
          <p:cNvPr id="228707057" name="Text 9"/>
          <p:cNvSpPr/>
          <p:nvPr/>
        </p:nvSpPr>
        <p:spPr bwMode="auto">
          <a:xfrm>
            <a:off x="1714500" y="4823936"/>
            <a:ext cx="2645126" cy="323850"/>
          </a:xfrm>
          <a:prstGeom prst="rect">
            <a:avLst/>
          </a:prstGeom>
          <a:noFill/>
          <a:ln/>
        </p:spPr>
        <p:txBody>
          <a:bodyPr wrap="none" lIns="25400" tIns="25400" rIns="25400" bIns="25400" rtlCol="0" anchor="ctr">
            <a:normAutofit/>
          </a:bodyPr>
          <a:lstStyle/>
          <a:p>
            <a:pPr marL="0" indent="0" algn="l">
              <a:lnSpc>
                <a:spcPct val="104956"/>
              </a:lnSpc>
              <a:buNone/>
              <a:defRPr/>
            </a:pPr>
            <a:r>
              <a:rPr lang="en-US" sz="1900" b="1">
                <a:solidFill>
                  <a:srgbClr val="FFFFFF"/>
                </a:solidFill>
                <a:latin typeface="Arial"/>
                <a:ea typeface="Arial"/>
                <a:cs typeface="Arial"/>
              </a:rPr>
              <a:t>A2Bot — Raspberry Pi</a:t>
            </a:r>
            <a:endParaRPr lang="en-US" sz="1900"/>
          </a:p>
        </p:txBody>
      </p:sp>
      <p:sp>
        <p:nvSpPr>
          <p:cNvPr id="2129419209" name="Text 10"/>
          <p:cNvSpPr/>
          <p:nvPr/>
        </p:nvSpPr>
        <p:spPr bwMode="auto">
          <a:xfrm>
            <a:off x="4671536" y="4794568"/>
            <a:ext cx="3357690" cy="382588"/>
          </a:xfrm>
          <a:prstGeom prst="rect">
            <a:avLst/>
          </a:prstGeom>
          <a:noFill/>
          <a:ln/>
        </p:spPr>
        <p:txBody>
          <a:bodyPr wrap="square" lIns="25400" tIns="25400" rIns="25400" bIns="25400" rtlCol="0" anchor="t">
            <a:normAutofit/>
          </a:bodyPr>
          <a:lstStyle/>
          <a:p>
            <a:pPr marL="0" indent="0" algn="l">
              <a:buNone/>
              <a:defRPr/>
            </a:pPr>
            <a:r>
              <a:rPr lang="en-US" sz="1800">
                <a:solidFill>
                  <a:srgbClr val="FFFFFF">
                    <a:alpha val="82000"/>
                  </a:srgbClr>
                </a:solidFill>
                <a:latin typeface="Arial"/>
                <a:ea typeface="Arial"/>
                <a:cs typeface="Arial"/>
              </a:rPr>
              <a:t>First — what is actually up?</a:t>
            </a:r>
            <a:endParaRPr lang="en-US" sz="1800"/>
          </a:p>
        </p:txBody>
      </p:sp>
      <p:sp>
        <p:nvSpPr>
          <p:cNvPr id="100078292" name="Shape 11"/>
          <p:cNvSpPr/>
          <p:nvPr/>
        </p:nvSpPr>
        <p:spPr bwMode="auto">
          <a:xfrm>
            <a:off x="1257300" y="5300186"/>
            <a:ext cx="16059150" cy="830104"/>
          </a:xfrm>
          <a:prstGeom prst="rect">
            <a:avLst/>
          </a:prstGeom>
          <a:solidFill>
            <a:srgbClr val="0E1013"/>
          </a:solidFill>
          <a:ln/>
        </p:spPr>
      </p:sp>
      <p:sp>
        <p:nvSpPr>
          <p:cNvPr id="759884142" name="Shape 12"/>
          <p:cNvSpPr/>
          <p:nvPr/>
        </p:nvSpPr>
        <p:spPr bwMode="auto">
          <a:xfrm>
            <a:off x="1257300" y="5300186"/>
            <a:ext cx="111125" cy="830104"/>
          </a:xfrm>
          <a:prstGeom prst="rect">
            <a:avLst/>
          </a:prstGeom>
          <a:solidFill>
            <a:srgbClr val="C51A4A"/>
          </a:solidFill>
          <a:ln/>
        </p:spPr>
      </p:sp>
      <p:sp>
        <p:nvSpPr>
          <p:cNvPr id="602054905" name="Text 13"/>
          <p:cNvSpPr/>
          <p:nvPr/>
        </p:nvSpPr>
        <p:spPr bwMode="auto">
          <a:xfrm>
            <a:off x="1654175" y="5528786"/>
            <a:ext cx="15858299" cy="411004"/>
          </a:xfrm>
          <a:prstGeom prst="rect">
            <a:avLst/>
          </a:prstGeom>
          <a:noFill/>
          <a:ln/>
        </p:spPr>
        <p:txBody>
          <a:bodyPr wrap="square" lIns="25400" tIns="25400" rIns="25400" bIns="25400" rtlCol="0" anchor="t">
            <a:normAutofit/>
          </a:bodyPr>
          <a:lstStyle/>
          <a:p>
            <a:pPr marL="0" indent="0" algn="l">
              <a:lnSpc>
                <a:spcPct val="126631"/>
              </a:lnSpc>
              <a:buNone/>
              <a:defRPr/>
            </a:pPr>
            <a:r>
              <a:rPr lang="en-US" sz="2050">
                <a:solidFill>
                  <a:srgbClr val="7FD1A6"/>
                </a:solidFill>
                <a:latin typeface="Courier New"/>
                <a:ea typeface="Courier New"/>
                <a:cs typeface="Courier New"/>
              </a:rPr>
              <a:t>a2botX@a2botX-host:~$</a:t>
            </a:r>
            <a:r>
              <a:rPr lang="en-US" sz="2050">
                <a:solidFill>
                  <a:srgbClr val="F2F4F7"/>
                </a:solidFill>
                <a:highlight>
                  <a:srgbClr val="0E1013"/>
                </a:highlight>
                <a:latin typeface="Courier New"/>
                <a:ea typeface="Courier New"/>
                <a:cs typeface="Courier New"/>
              </a:rPr>
              <a:t> services_report</a:t>
            </a:r>
            <a:endParaRPr lang="en-US" sz="2050"/>
          </a:p>
        </p:txBody>
      </p:sp>
      <p:sp>
        <p:nvSpPr>
          <p:cNvPr id="934498178" name="Shape 14"/>
          <p:cNvSpPr/>
          <p:nvPr/>
        </p:nvSpPr>
        <p:spPr bwMode="auto">
          <a:xfrm>
            <a:off x="1257300" y="6377940"/>
            <a:ext cx="16059150" cy="1869757"/>
          </a:xfrm>
          <a:prstGeom prst="roundRect">
            <a:avLst>
              <a:gd name="adj" fmla="val 5094"/>
            </a:avLst>
          </a:prstGeom>
          <a:ln/>
          <a:effectLst>
            <a:outerShdw blurRad="323850" dist="114300" dir="5400000" sx="100000" sy="100000" kx="0" ky="0" algn="bl" rotWithShape="0">
              <a:srgbClr val="002060">
                <a:alpha val="18000"/>
              </a:srgbClr>
            </a:outerShdw>
          </a:effectLst>
        </p:spPr>
      </p:sp>
      <p:sp>
        <p:nvSpPr>
          <p:cNvPr id="1528828881" name="Shape 15"/>
          <p:cNvSpPr/>
          <p:nvPr/>
        </p:nvSpPr>
        <p:spPr bwMode="auto">
          <a:xfrm>
            <a:off x="1257300" y="6377940"/>
            <a:ext cx="16059150" cy="666750"/>
          </a:xfrm>
          <a:prstGeom prst="rect">
            <a:avLst/>
          </a:prstGeom>
          <a:solidFill>
            <a:srgbClr val="23262E"/>
          </a:solidFill>
          <a:ln/>
        </p:spPr>
      </p:sp>
      <p:sp>
        <p:nvSpPr>
          <p:cNvPr id="210325934" name="Shape 16"/>
          <p:cNvSpPr/>
          <p:nvPr/>
        </p:nvSpPr>
        <p:spPr bwMode="auto">
          <a:xfrm>
            <a:off x="1524000" y="6511290"/>
            <a:ext cx="2937986" cy="400050"/>
          </a:xfrm>
          <a:prstGeom prst="roundRect">
            <a:avLst>
              <a:gd name="adj" fmla="val 14286"/>
            </a:avLst>
          </a:prstGeom>
          <a:solidFill>
            <a:srgbClr val="C51A4A"/>
          </a:solidFill>
          <a:ln/>
        </p:spPr>
      </p:sp>
      <p:sp>
        <p:nvSpPr>
          <p:cNvPr id="270904578" name="Text 17"/>
          <p:cNvSpPr/>
          <p:nvPr/>
        </p:nvSpPr>
        <p:spPr bwMode="auto">
          <a:xfrm>
            <a:off x="1714500" y="6568440"/>
            <a:ext cx="2645126" cy="323850"/>
          </a:xfrm>
          <a:prstGeom prst="rect">
            <a:avLst/>
          </a:prstGeom>
          <a:noFill/>
          <a:ln/>
        </p:spPr>
        <p:txBody>
          <a:bodyPr wrap="none" lIns="25400" tIns="25400" rIns="25400" bIns="25400" rtlCol="0" anchor="ctr">
            <a:normAutofit/>
          </a:bodyPr>
          <a:lstStyle/>
          <a:p>
            <a:pPr marL="0" indent="0" algn="l">
              <a:lnSpc>
                <a:spcPct val="104956"/>
              </a:lnSpc>
              <a:buNone/>
              <a:defRPr/>
            </a:pPr>
            <a:r>
              <a:rPr lang="en-US" sz="1900" b="1">
                <a:solidFill>
                  <a:srgbClr val="FFFFFF"/>
                </a:solidFill>
                <a:latin typeface="Arial"/>
                <a:ea typeface="Arial"/>
                <a:cs typeface="Arial"/>
              </a:rPr>
              <a:t>A2Bot — Raspberry Pi</a:t>
            </a:r>
            <a:endParaRPr lang="en-US" sz="1900"/>
          </a:p>
        </p:txBody>
      </p:sp>
      <p:sp>
        <p:nvSpPr>
          <p:cNvPr id="170603333" name="Text 18"/>
          <p:cNvSpPr/>
          <p:nvPr/>
        </p:nvSpPr>
        <p:spPr bwMode="auto">
          <a:xfrm>
            <a:off x="4671536" y="6539071"/>
            <a:ext cx="3872135" cy="382588"/>
          </a:xfrm>
          <a:prstGeom prst="rect">
            <a:avLst/>
          </a:prstGeom>
          <a:noFill/>
          <a:ln/>
        </p:spPr>
        <p:txBody>
          <a:bodyPr wrap="square" lIns="25400" tIns="25400" rIns="25400" bIns="25400" rtlCol="0" anchor="t">
            <a:normAutofit/>
          </a:bodyPr>
          <a:lstStyle/>
          <a:p>
            <a:pPr marL="0" indent="0" algn="l">
              <a:buNone/>
              <a:defRPr/>
            </a:pPr>
            <a:r>
              <a:rPr lang="en-US" sz="1800">
                <a:solidFill>
                  <a:srgbClr val="FFFFFF">
                    <a:alpha val="82000"/>
                  </a:srgbClr>
                </a:solidFill>
                <a:latin typeface="Arial"/>
                <a:ea typeface="Arial"/>
                <a:cs typeface="Arial"/>
              </a:rPr>
              <a:t>Then — restart all four together</a:t>
            </a:r>
            <a:endParaRPr lang="en-US" sz="1800"/>
          </a:p>
        </p:txBody>
      </p:sp>
      <p:sp>
        <p:nvSpPr>
          <p:cNvPr id="1787396465" name="Shape 19"/>
          <p:cNvSpPr/>
          <p:nvPr/>
        </p:nvSpPr>
        <p:spPr bwMode="auto">
          <a:xfrm>
            <a:off x="1257300" y="7044690"/>
            <a:ext cx="16059150" cy="1203007"/>
          </a:xfrm>
          <a:prstGeom prst="rect">
            <a:avLst/>
          </a:prstGeom>
          <a:solidFill>
            <a:srgbClr val="0E1013"/>
          </a:solidFill>
          <a:ln/>
        </p:spPr>
      </p:sp>
      <p:sp>
        <p:nvSpPr>
          <p:cNvPr id="2055460737" name="Shape 20"/>
          <p:cNvSpPr/>
          <p:nvPr/>
        </p:nvSpPr>
        <p:spPr bwMode="auto">
          <a:xfrm>
            <a:off x="1257300" y="7044690"/>
            <a:ext cx="111125" cy="1203007"/>
          </a:xfrm>
          <a:prstGeom prst="rect">
            <a:avLst/>
          </a:prstGeom>
          <a:solidFill>
            <a:srgbClr val="C51A4A"/>
          </a:solidFill>
          <a:ln/>
        </p:spPr>
      </p:sp>
      <p:sp>
        <p:nvSpPr>
          <p:cNvPr id="357176783" name="Text 21"/>
          <p:cNvSpPr/>
          <p:nvPr/>
        </p:nvSpPr>
        <p:spPr bwMode="auto">
          <a:xfrm>
            <a:off x="1654175" y="7273290"/>
            <a:ext cx="15858299" cy="783907"/>
          </a:xfrm>
          <a:prstGeom prst="rect">
            <a:avLst/>
          </a:prstGeom>
          <a:noFill/>
          <a:ln/>
        </p:spPr>
        <p:txBody>
          <a:bodyPr wrap="square" lIns="25400" tIns="25400" rIns="25400" bIns="25400" rtlCol="0" anchor="t">
            <a:normAutofit/>
          </a:bodyPr>
          <a:lstStyle/>
          <a:p>
            <a:pPr marL="0" indent="0" algn="l">
              <a:lnSpc>
                <a:spcPct val="126631"/>
              </a:lnSpc>
              <a:buNone/>
              <a:defRPr/>
            </a:pPr>
            <a:r>
              <a:rPr lang="en-US" sz="2050">
                <a:solidFill>
                  <a:srgbClr val="7FD1A6"/>
                </a:solidFill>
                <a:latin typeface="Courier New"/>
                <a:ea typeface="Courier New"/>
                <a:cs typeface="Courier New"/>
              </a:rPr>
              <a:t>$ </a:t>
            </a:r>
            <a:r>
              <a:rPr lang="en-US" sz="2050">
                <a:solidFill>
                  <a:srgbClr val="F2F4F7"/>
                </a:solidFill>
                <a:highlight>
                  <a:srgbClr val="0E1013"/>
                </a:highlight>
                <a:latin typeface="Courier New"/>
                <a:ea typeface="Courier New"/>
                <a:cs typeface="Courier New"/>
              </a:rPr>
              <a:t> sudo systemctl restart a2bot-robot.service a2bot-rosbridge.service \</a:t>
            </a:r>
            <a:endParaRPr lang="en-US" sz="2050"/>
          </a:p>
          <a:p>
            <a:pPr marL="0" indent="0" algn="l">
              <a:lnSpc>
                <a:spcPct val="126631"/>
              </a:lnSpc>
              <a:buNone/>
              <a:defRPr/>
            </a:pPr>
            <a:r>
              <a:rPr lang="en-US" sz="2050">
                <a:solidFill>
                  <a:srgbClr val="F2F4F7"/>
                </a:solidFill>
                <a:highlight>
                  <a:srgbClr val="0E1013"/>
                </a:highlight>
                <a:latin typeface="Courier New"/>
                <a:ea typeface="Courier New"/>
                <a:cs typeface="Courier New"/>
              </a:rPr>
              <a:t>    a2bot-webui.service a2bot-dashboard.service</a:t>
            </a:r>
            <a:endParaRPr lang="en-US" sz="2050"/>
          </a:p>
        </p:txBody>
      </p:sp>
      <p:sp>
        <p:nvSpPr>
          <p:cNvPr id="775358346" name="Shape 22"/>
          <p:cNvSpPr/>
          <p:nvPr/>
        </p:nvSpPr>
        <p:spPr bwMode="auto">
          <a:xfrm>
            <a:off x="1257300" y="8533448"/>
            <a:ext cx="15160625" cy="845820"/>
          </a:xfrm>
          <a:prstGeom prst="roundRect">
            <a:avLst>
              <a:gd name="adj" fmla="val 9009"/>
            </a:avLst>
          </a:prstGeom>
          <a:solidFill>
            <a:srgbClr val="F3E2CD"/>
          </a:solidFill>
          <a:ln/>
        </p:spPr>
      </p:sp>
      <p:sp>
        <p:nvSpPr>
          <p:cNvPr id="723380975" name="Shape 23"/>
          <p:cNvSpPr/>
          <p:nvPr/>
        </p:nvSpPr>
        <p:spPr bwMode="auto">
          <a:xfrm>
            <a:off x="1257300" y="8533448"/>
            <a:ext cx="111125" cy="845820"/>
          </a:xfrm>
          <a:prstGeom prst="rect">
            <a:avLst/>
          </a:prstGeom>
          <a:solidFill>
            <a:srgbClr val="DB5817"/>
          </a:solidFill>
          <a:ln/>
        </p:spPr>
      </p:sp>
      <p:sp>
        <p:nvSpPr>
          <p:cNvPr id="971243830" name="Text 24"/>
          <p:cNvSpPr/>
          <p:nvPr/>
        </p:nvSpPr>
        <p:spPr bwMode="auto">
          <a:xfrm>
            <a:off x="1654175" y="8762048"/>
            <a:ext cx="166846" cy="426720"/>
          </a:xfrm>
          <a:prstGeom prst="rect">
            <a:avLst/>
          </a:prstGeom>
          <a:noFill/>
          <a:ln/>
        </p:spPr>
        <p:txBody>
          <a:bodyPr wrap="square" lIns="25400" tIns="25400" rIns="25400" bIns="25400" rtlCol="0" anchor="t">
            <a:normAutofit/>
          </a:bodyPr>
          <a:lstStyle/>
          <a:p>
            <a:pPr marL="0" indent="0" algn="l">
              <a:lnSpc>
                <a:spcPct val="105973"/>
              </a:lnSpc>
              <a:buNone/>
              <a:defRPr/>
            </a:pPr>
            <a:r>
              <a:rPr lang="en-US" sz="2550">
                <a:solidFill>
                  <a:srgbClr val="DB5817"/>
                </a:solidFill>
                <a:latin typeface="Arial"/>
                <a:ea typeface="Arial"/>
                <a:cs typeface="Arial"/>
              </a:rPr>
              <a:t>!</a:t>
            </a:r>
            <a:endParaRPr lang="en-US" sz="2550"/>
          </a:p>
        </p:txBody>
      </p:sp>
      <p:sp>
        <p:nvSpPr>
          <p:cNvPr id="1778676482" name="Text 25"/>
          <p:cNvSpPr/>
          <p:nvPr/>
        </p:nvSpPr>
        <p:spPr bwMode="auto">
          <a:xfrm>
            <a:off x="1954371" y="8762048"/>
            <a:ext cx="13851952" cy="424815"/>
          </a:xfrm>
          <a:prstGeom prst="rect">
            <a:avLst/>
          </a:prstGeom>
          <a:noFill/>
          <a:ln/>
        </p:spPr>
        <p:txBody>
          <a:bodyPr wrap="square" lIns="25400" tIns="25400" rIns="25400" bIns="25400" rtlCol="0" anchor="t">
            <a:normAutofit/>
          </a:bodyPr>
          <a:lstStyle/>
          <a:p>
            <a:pPr marL="0" indent="0" algn="l">
              <a:lnSpc>
                <a:spcPct val="122105"/>
              </a:lnSpc>
              <a:buNone/>
              <a:defRPr/>
            </a:pPr>
            <a:r>
              <a:rPr lang="en-US" sz="2200" b="1">
                <a:solidFill>
                  <a:srgbClr val="002060"/>
                </a:solidFill>
                <a:latin typeface="Arial"/>
                <a:ea typeface="Arial"/>
                <a:cs typeface="Arial"/>
              </a:rPr>
              <a:t>Restart all four, not just the broken one </a:t>
            </a:r>
            <a:r>
              <a:rPr lang="en-US" sz="2200">
                <a:solidFill>
                  <a:srgbClr val="14161C"/>
                </a:solidFill>
                <a:latin typeface="Arial"/>
                <a:ea typeface="Arial"/>
                <a:cs typeface="Arial"/>
              </a:rPr>
              <a:t>— they depend on each other. Wait ~15s, then re-run the report.</a:t>
            </a:r>
            <a:endParaRPr lang="en-US" sz="2200"/>
          </a:p>
        </p:txBody>
      </p:sp>
      <p:sp>
        <p:nvSpPr>
          <p:cNvPr id="1746833355" name="Shape 26"/>
          <p:cNvSpPr/>
          <p:nvPr/>
        </p:nvSpPr>
        <p:spPr bwMode="auto">
          <a:xfrm>
            <a:off x="1257300" y="9323387"/>
            <a:ext cx="5664200" cy="601663"/>
          </a:xfrm>
          <a:prstGeom prst="roundRect">
            <a:avLst>
              <a:gd name="adj" fmla="val 50000"/>
            </a:avLst>
          </a:prstGeom>
          <a:ln w="27781">
            <a:solidFill>
              <a:srgbClr val="002060">
                <a:alpha val="15999"/>
              </a:srgbClr>
            </a:solidFill>
            <a:prstDash val="solid"/>
          </a:ln>
        </p:spPr>
      </p:sp>
      <p:sp>
        <p:nvSpPr>
          <p:cNvPr id="1804844219" name="Text 27"/>
          <p:cNvSpPr/>
          <p:nvPr/>
        </p:nvSpPr>
        <p:spPr bwMode="auto">
          <a:xfrm>
            <a:off x="1532731" y="9446419"/>
            <a:ext cx="672147" cy="393700"/>
          </a:xfrm>
          <a:prstGeom prst="rect">
            <a:avLst/>
          </a:prstGeom>
          <a:noFill/>
          <a:ln/>
        </p:spPr>
        <p:txBody>
          <a:bodyPr wrap="square" lIns="25400" tIns="25400" rIns="25400" bIns="25400" rtlCol="0" anchor="t">
            <a:normAutofit/>
          </a:bodyPr>
          <a:lstStyle/>
          <a:p>
            <a:pPr marL="0" indent="0" algn="l">
              <a:buNone/>
              <a:defRPr/>
            </a:pPr>
            <a:r>
              <a:rPr lang="en-US" sz="1900" b="1">
                <a:solidFill>
                  <a:srgbClr val="DB5817"/>
                </a:solidFill>
                <a:latin typeface="Arial"/>
                <a:ea typeface="Arial"/>
                <a:cs typeface="Arial"/>
              </a:rPr>
              <a:t>Docs</a:t>
            </a:r>
            <a:endParaRPr lang="en-US" sz="1900"/>
          </a:p>
        </p:txBody>
      </p:sp>
      <p:sp>
        <p:nvSpPr>
          <p:cNvPr id="1375018821" name="Text 28"/>
          <p:cNvSpPr/>
          <p:nvPr/>
        </p:nvSpPr>
        <p:spPr bwMode="auto">
          <a:xfrm>
            <a:off x="2262029" y="9457531"/>
            <a:ext cx="4515561" cy="371475"/>
          </a:xfrm>
          <a:prstGeom prst="rect">
            <a:avLst/>
          </a:prstGeom>
          <a:noFill/>
          <a:ln/>
        </p:spPr>
        <p:txBody>
          <a:bodyPr wrap="square" lIns="0" tIns="0" rIns="0" bIns="0" rtlCol="0" anchor="t">
            <a:normAutofit/>
          </a:bodyPr>
          <a:lstStyle/>
          <a:p>
            <a:pPr marL="0" indent="0" algn="l">
              <a:buNone/>
              <a:defRPr/>
            </a:pPr>
            <a:r>
              <a:rPr lang="en-US" sz="1900">
                <a:solidFill>
                  <a:srgbClr val="002060"/>
                </a:solidFill>
                <a:latin typeface="Arial"/>
                <a:ea typeface="Arial"/>
                <a:cs typeface="Arial"/>
              </a:rPr>
              <a:t>Appendices — Troubleshooting Index</a:t>
            </a:r>
            <a:endParaRPr lang="en-US" sz="1900"/>
          </a:p>
        </p:txBody>
      </p:sp>
      <p:pic>
        <p:nvPicPr>
          <p:cNvPr id="160556200" name="Image 1" descr="preencoded.png"/>
          <p:cNvPicPr>
            <a:picLocks noChangeAspect="1"/>
          </p:cNvPicPr>
          <p:nvPr/>
        </p:nvPicPr>
        <p:blipFill rotWithShape="1">
          <a:blip r:embed="rId4"/>
          <a:stretch/>
        </p:blipFill>
        <p:spPr bwMode="auto">
          <a:xfrm>
            <a:off x="17393285" y="9561512"/>
            <a:ext cx="266065" cy="34448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4">
    <p:bg>
      <p:bgPr shadeToTitle="0">
        <a:solidFill>
          <a:srgbClr val="002060"/>
        </a:solidFill>
      </p:bgPr>
    </p:bg>
    <p:spTree>
      <p:nvGrpSpPr>
        <p:cNvPr id="1" name=""/>
        <p:cNvGrpSpPr/>
        <p:nvPr/>
      </p:nvGrpSpPr>
      <p:grpSpPr bwMode="auto">
        <a:xfrm>
          <a:off x="0" y="0"/>
          <a:ext cx="0" cy="0"/>
          <a:chOff x="0" y="0"/>
          <a:chExt cx="0" cy="0"/>
        </a:xfrm>
      </p:grpSpPr>
      <p:sp>
        <p:nvSpPr>
          <p:cNvPr id="2045995814" name="Shape 0"/>
          <p:cNvSpPr/>
          <p:nvPr/>
        </p:nvSpPr>
        <p:spPr bwMode="auto">
          <a:xfrm>
            <a:off x="971550" y="0"/>
            <a:ext cx="28575" cy="10287000"/>
          </a:xfrm>
          <a:prstGeom prst="rect">
            <a:avLst/>
          </a:prstGeom>
          <a:solidFill>
            <a:srgbClr val="FFFFFF">
              <a:alpha val="22000"/>
            </a:srgbClr>
          </a:solidFill>
          <a:ln/>
        </p:spPr>
      </p:sp>
      <p:sp>
        <p:nvSpPr>
          <p:cNvPr id="1217715305" name="Shape 1"/>
          <p:cNvSpPr/>
          <p:nvPr/>
        </p:nvSpPr>
        <p:spPr bwMode="auto">
          <a:xfrm>
            <a:off x="971550" y="1009650"/>
            <a:ext cx="16687800" cy="28575"/>
          </a:xfrm>
          <a:prstGeom prst="rect">
            <a:avLst/>
          </a:prstGeom>
          <a:solidFill>
            <a:srgbClr val="FFFFFF">
              <a:alpha val="22000"/>
            </a:srgbClr>
          </a:solidFill>
          <a:ln/>
        </p:spPr>
      </p:sp>
      <p:sp>
        <p:nvSpPr>
          <p:cNvPr id="1047857039" name="Shape 2"/>
          <p:cNvSpPr/>
          <p:nvPr/>
        </p:nvSpPr>
        <p:spPr bwMode="auto">
          <a:xfrm>
            <a:off x="1257300" y="209550"/>
            <a:ext cx="1267778" cy="952500"/>
          </a:xfrm>
          <a:prstGeom prst="roundRect">
            <a:avLst>
              <a:gd name="adj" fmla="val 6000"/>
            </a:avLst>
          </a:prstGeom>
          <a:solidFill>
            <a:srgbClr val="FFFFFF"/>
          </a:solidFill>
          <a:ln/>
        </p:spPr>
      </p:sp>
      <p:pic>
        <p:nvPicPr>
          <p:cNvPr id="420645017" name="Image 0" descr="preencoded.png"/>
          <p:cNvPicPr>
            <a:picLocks noChangeAspect="1"/>
          </p:cNvPicPr>
          <p:nvPr/>
        </p:nvPicPr>
        <p:blipFill rotWithShape="1">
          <a:blip r:embed="rId3"/>
          <a:stretch/>
        </p:blipFill>
        <p:spPr bwMode="auto">
          <a:xfrm>
            <a:off x="1409700" y="285750"/>
            <a:ext cx="962978" cy="800100"/>
          </a:xfrm>
          <a:prstGeom prst="rect">
            <a:avLst/>
          </a:prstGeom>
        </p:spPr>
      </p:pic>
      <p:sp>
        <p:nvSpPr>
          <p:cNvPr id="29127759" name="Text 3"/>
          <p:cNvSpPr/>
          <p:nvPr/>
        </p:nvSpPr>
        <p:spPr bwMode="auto">
          <a:xfrm>
            <a:off x="14455616" y="400050"/>
            <a:ext cx="3524107" cy="393700"/>
          </a:xfrm>
          <a:prstGeom prst="rect">
            <a:avLst/>
          </a:prstGeom>
          <a:noFill/>
          <a:ln/>
        </p:spPr>
        <p:txBody>
          <a:bodyPr wrap="square" lIns="25400" tIns="25400" rIns="25400" bIns="25400" rtlCol="0" anchor="t">
            <a:normAutofit/>
          </a:bodyPr>
          <a:lstStyle/>
          <a:p>
            <a:pPr marL="0" indent="0" algn="l">
              <a:buNone/>
              <a:defRPr/>
            </a:pPr>
            <a:r>
              <a:rPr lang="en-US" sz="1900" spc="75">
                <a:solidFill>
                  <a:srgbClr val="F1592A"/>
                </a:solidFill>
                <a:latin typeface="Arial"/>
                <a:ea typeface="Arial"/>
                <a:cs typeface="Arial"/>
              </a:rPr>
              <a:t>www.centex-sarawak.my</a:t>
            </a:r>
            <a:endParaRPr lang="en-US" sz="1900"/>
          </a:p>
        </p:txBody>
      </p:sp>
      <p:sp>
        <p:nvSpPr>
          <p:cNvPr id="331994016" name="Text 4"/>
          <p:cNvSpPr/>
          <p:nvPr/>
        </p:nvSpPr>
        <p:spPr bwMode="auto">
          <a:xfrm>
            <a:off x="1257300" y="2542540"/>
            <a:ext cx="17665065" cy="410369"/>
          </a:xfrm>
          <a:prstGeom prst="rect">
            <a:avLst/>
          </a:prstGeom>
          <a:noFill/>
          <a:ln/>
        </p:spPr>
        <p:txBody>
          <a:bodyPr wrap="square" lIns="25400" tIns="25400" rIns="25400" bIns="25400" rtlCol="0" anchor="t">
            <a:normAutofit/>
          </a:bodyPr>
          <a:lstStyle/>
          <a:p>
            <a:pPr marL="0" indent="0" algn="l">
              <a:buNone/>
              <a:defRPr/>
            </a:pPr>
            <a:r>
              <a:rPr lang="en-US" sz="1950" b="1" spc="311">
                <a:solidFill>
                  <a:srgbClr val="DB5817"/>
                </a:solidFill>
                <a:latin typeface="Arial"/>
                <a:ea typeface="Arial"/>
                <a:cs typeface="Arial"/>
              </a:rPr>
              <a:t>CHECKLIST</a:t>
            </a:r>
            <a:endParaRPr lang="en-US" sz="1950"/>
          </a:p>
        </p:txBody>
      </p:sp>
      <p:sp>
        <p:nvSpPr>
          <p:cNvPr id="2081561350" name="Text 5"/>
          <p:cNvSpPr/>
          <p:nvPr/>
        </p:nvSpPr>
        <p:spPr bwMode="auto">
          <a:xfrm>
            <a:off x="1257300" y="3124359"/>
            <a:ext cx="17665065" cy="805497"/>
          </a:xfrm>
          <a:prstGeom prst="rect">
            <a:avLst/>
          </a:prstGeom>
          <a:noFill/>
          <a:ln/>
        </p:spPr>
        <p:txBody>
          <a:bodyPr wrap="square" lIns="25400" tIns="25400" rIns="25400" bIns="25400" rtlCol="0" anchor="t">
            <a:normAutofit/>
          </a:bodyPr>
          <a:lstStyle/>
          <a:p>
            <a:pPr marL="0" indent="0" algn="l">
              <a:lnSpc>
                <a:spcPct val="94599"/>
              </a:lnSpc>
              <a:buNone/>
              <a:defRPr/>
            </a:pPr>
            <a:r>
              <a:rPr lang="en-US" sz="5700" b="1" spc="-57">
                <a:solidFill>
                  <a:srgbClr val="FFFFFF"/>
                </a:solidFill>
                <a:latin typeface="Arial"/>
                <a:ea typeface="Arial"/>
                <a:cs typeface="Arial"/>
              </a:rPr>
              <a:t>Before the next session</a:t>
            </a:r>
            <a:endParaRPr lang="en-US" sz="5700"/>
          </a:p>
        </p:txBody>
      </p:sp>
      <p:sp>
        <p:nvSpPr>
          <p:cNvPr id="1029674173" name="Text 6"/>
          <p:cNvSpPr/>
          <p:nvPr/>
        </p:nvSpPr>
        <p:spPr bwMode="auto">
          <a:xfrm>
            <a:off x="1860550" y="4297839"/>
            <a:ext cx="4005239" cy="399256"/>
          </a:xfrm>
          <a:prstGeom prst="rect">
            <a:avLst/>
          </a:prstGeom>
          <a:noFill/>
          <a:ln/>
        </p:spPr>
        <p:txBody>
          <a:bodyPr wrap="square" lIns="0" tIns="0" rIns="0" bIns="0" rtlCol="0" anchor="t">
            <a:normAutofit/>
          </a:bodyPr>
          <a:lstStyle/>
          <a:p>
            <a:pPr marL="0" indent="0" algn="l">
              <a:lnSpc>
                <a:spcPct val="119446"/>
              </a:lnSpc>
              <a:buNone/>
              <a:defRPr/>
            </a:pPr>
            <a:r>
              <a:rPr lang="en-US" sz="2400">
                <a:solidFill>
                  <a:srgbClr val="FFFFFF"/>
                </a:solidFill>
                <a:latin typeface="Arial"/>
                <a:ea typeface="Arial"/>
                <a:cs typeface="Arial"/>
              </a:rPr>
              <a:t>You know your robot number</a:t>
            </a:r>
            <a:endParaRPr lang="en-US" sz="2400"/>
          </a:p>
        </p:txBody>
      </p:sp>
      <p:sp>
        <p:nvSpPr>
          <p:cNvPr id="97027283" name="Text 7"/>
          <p:cNvSpPr/>
          <p:nvPr/>
        </p:nvSpPr>
        <p:spPr bwMode="auto">
          <a:xfrm>
            <a:off x="5958681" y="4272756"/>
            <a:ext cx="248126" cy="424815"/>
          </a:xfrm>
          <a:prstGeom prst="rect">
            <a:avLst/>
          </a:prstGeom>
          <a:noFill/>
          <a:ln/>
        </p:spPr>
        <p:txBody>
          <a:bodyPr wrap="square" lIns="25400" tIns="25400" rIns="25400" bIns="25400" rtlCol="0" anchor="t">
            <a:normAutofit/>
          </a:bodyPr>
          <a:lstStyle/>
          <a:p>
            <a:pPr marL="0" indent="0" algn="l">
              <a:lnSpc>
                <a:spcPct val="117966"/>
              </a:lnSpc>
              <a:buNone/>
              <a:defRPr/>
            </a:pPr>
            <a:r>
              <a:rPr lang="en-US" sz="2250">
                <a:solidFill>
                  <a:srgbClr val="FFFFFF"/>
                </a:solidFill>
                <a:latin typeface="Courier New"/>
                <a:ea typeface="Courier New"/>
                <a:cs typeface="Courier New"/>
              </a:rPr>
              <a:t>X</a:t>
            </a:r>
            <a:endParaRPr lang="en-US" sz="2250"/>
          </a:p>
        </p:txBody>
      </p:sp>
      <p:sp>
        <p:nvSpPr>
          <p:cNvPr id="1164655644" name="Text 8"/>
          <p:cNvSpPr/>
          <p:nvPr/>
        </p:nvSpPr>
        <p:spPr bwMode="auto">
          <a:xfrm>
            <a:off x="6340157" y="4297839"/>
            <a:ext cx="5664563" cy="399256"/>
          </a:xfrm>
          <a:prstGeom prst="rect">
            <a:avLst/>
          </a:prstGeom>
          <a:noFill/>
          <a:ln/>
        </p:spPr>
        <p:txBody>
          <a:bodyPr wrap="square" lIns="0" tIns="0" rIns="0" bIns="0" rtlCol="0" anchor="t">
            <a:normAutofit/>
          </a:bodyPr>
          <a:lstStyle/>
          <a:p>
            <a:pPr marL="0" indent="0" algn="l">
              <a:lnSpc>
                <a:spcPct val="119446"/>
              </a:lnSpc>
              <a:buNone/>
              <a:defRPr/>
            </a:pPr>
            <a:r>
              <a:rPr lang="en-US" sz="2400">
                <a:solidFill>
                  <a:srgbClr val="FFFFFF"/>
                </a:solidFill>
                <a:latin typeface="Arial"/>
                <a:ea typeface="Arial"/>
                <a:cs typeface="Arial"/>
              </a:rPr>
              <a:t>— and that every address follows from it.</a:t>
            </a:r>
            <a:endParaRPr lang="en-US" sz="2400"/>
          </a:p>
        </p:txBody>
      </p:sp>
      <p:sp>
        <p:nvSpPr>
          <p:cNvPr id="739524644" name="Text 9"/>
          <p:cNvSpPr/>
          <p:nvPr/>
        </p:nvSpPr>
        <p:spPr bwMode="auto">
          <a:xfrm>
            <a:off x="1860550" y="4942681"/>
            <a:ext cx="2458545" cy="424815"/>
          </a:xfrm>
          <a:prstGeom prst="rect">
            <a:avLst/>
          </a:prstGeom>
          <a:noFill/>
          <a:ln/>
        </p:spPr>
        <p:txBody>
          <a:bodyPr wrap="square" lIns="25400" tIns="25400" rIns="25400" bIns="25400" rtlCol="0" anchor="t">
            <a:normAutofit/>
          </a:bodyPr>
          <a:lstStyle/>
          <a:p>
            <a:pPr marL="0" indent="0" algn="l">
              <a:lnSpc>
                <a:spcPct val="117966"/>
              </a:lnSpc>
              <a:buNone/>
              <a:defRPr/>
            </a:pPr>
            <a:r>
              <a:rPr lang="en-US" sz="2250">
                <a:solidFill>
                  <a:srgbClr val="FFFFFF"/>
                </a:solidFill>
                <a:latin typeface="Courier New"/>
                <a:ea typeface="Courier New"/>
                <a:cs typeface="Courier New"/>
              </a:rPr>
              <a:t>ROS_DOMAIN_ID</a:t>
            </a:r>
            <a:endParaRPr lang="en-US" sz="2250"/>
          </a:p>
        </p:txBody>
      </p:sp>
      <p:sp>
        <p:nvSpPr>
          <p:cNvPr id="884691770" name="Text 10"/>
          <p:cNvSpPr/>
          <p:nvPr/>
        </p:nvSpPr>
        <p:spPr bwMode="auto">
          <a:xfrm>
            <a:off x="4305141" y="4967764"/>
            <a:ext cx="582136" cy="399256"/>
          </a:xfrm>
          <a:prstGeom prst="rect">
            <a:avLst/>
          </a:prstGeom>
          <a:noFill/>
          <a:ln/>
        </p:spPr>
        <p:txBody>
          <a:bodyPr wrap="square" lIns="0" tIns="0" rIns="0" bIns="0" rtlCol="0" anchor="t">
            <a:normAutofit/>
          </a:bodyPr>
          <a:lstStyle/>
          <a:p>
            <a:pPr marL="0" indent="0" algn="l">
              <a:lnSpc>
                <a:spcPct val="119446"/>
              </a:lnSpc>
              <a:buNone/>
              <a:defRPr/>
            </a:pPr>
            <a:r>
              <a:rPr lang="en-US" sz="2400">
                <a:solidFill>
                  <a:srgbClr val="FFFFFF"/>
                </a:solidFill>
                <a:latin typeface="Arial"/>
                <a:ea typeface="Arial"/>
                <a:cs typeface="Arial"/>
              </a:rPr>
              <a:t>and</a:t>
            </a:r>
            <a:endParaRPr lang="en-US" sz="2400"/>
          </a:p>
        </p:txBody>
      </p:sp>
      <p:sp>
        <p:nvSpPr>
          <p:cNvPr id="1722991347" name="Text 11"/>
          <p:cNvSpPr/>
          <p:nvPr/>
        </p:nvSpPr>
        <p:spPr bwMode="auto">
          <a:xfrm>
            <a:off x="5020627" y="4942681"/>
            <a:ext cx="3404139" cy="424815"/>
          </a:xfrm>
          <a:prstGeom prst="rect">
            <a:avLst/>
          </a:prstGeom>
          <a:noFill/>
          <a:ln/>
        </p:spPr>
        <p:txBody>
          <a:bodyPr wrap="square" lIns="25400" tIns="25400" rIns="25400" bIns="25400" rtlCol="0" anchor="t">
            <a:normAutofit/>
          </a:bodyPr>
          <a:lstStyle/>
          <a:p>
            <a:pPr marL="0" indent="0" algn="l">
              <a:lnSpc>
                <a:spcPct val="117966"/>
              </a:lnSpc>
              <a:buNone/>
              <a:defRPr/>
            </a:pPr>
            <a:r>
              <a:rPr lang="en-US" sz="2250">
                <a:solidFill>
                  <a:srgbClr val="FFFFFF"/>
                </a:solidFill>
                <a:latin typeface="Courier New"/>
                <a:ea typeface="Courier New"/>
                <a:cs typeface="Courier New"/>
              </a:rPr>
              <a:t>RMW_IMPLEMENTATION</a:t>
            </a:r>
            <a:endParaRPr lang="en-US" sz="2250"/>
          </a:p>
        </p:txBody>
      </p:sp>
      <p:sp>
        <p:nvSpPr>
          <p:cNvPr id="388122977" name="Text 12"/>
          <p:cNvSpPr/>
          <p:nvPr/>
        </p:nvSpPr>
        <p:spPr bwMode="auto">
          <a:xfrm>
            <a:off x="8324850" y="4967764"/>
            <a:ext cx="1484630" cy="399256"/>
          </a:xfrm>
          <a:prstGeom prst="rect">
            <a:avLst/>
          </a:prstGeom>
          <a:noFill/>
          <a:ln/>
        </p:spPr>
        <p:txBody>
          <a:bodyPr wrap="square" lIns="0" tIns="0" rIns="0" bIns="0" rtlCol="0" anchor="t">
            <a:normAutofit/>
          </a:bodyPr>
          <a:lstStyle/>
          <a:p>
            <a:pPr marL="0" indent="0" algn="l">
              <a:lnSpc>
                <a:spcPct val="119446"/>
              </a:lnSpc>
              <a:buNone/>
              <a:defRPr/>
            </a:pPr>
            <a:r>
              <a:rPr lang="en-US" sz="2400">
                <a:solidFill>
                  <a:srgbClr val="FFFFFF"/>
                </a:solidFill>
                <a:latin typeface="Arial"/>
                <a:ea typeface="Arial"/>
                <a:cs typeface="Arial"/>
              </a:rPr>
              <a:t>are in your</a:t>
            </a:r>
            <a:endParaRPr lang="en-US" sz="2400"/>
          </a:p>
        </p:txBody>
      </p:sp>
      <p:sp>
        <p:nvSpPr>
          <p:cNvPr id="1986927063" name="Text 13"/>
          <p:cNvSpPr/>
          <p:nvPr/>
        </p:nvSpPr>
        <p:spPr bwMode="auto">
          <a:xfrm>
            <a:off x="9942830" y="4942681"/>
            <a:ext cx="1702069" cy="424815"/>
          </a:xfrm>
          <a:prstGeom prst="rect">
            <a:avLst/>
          </a:prstGeom>
          <a:noFill/>
          <a:ln/>
        </p:spPr>
        <p:txBody>
          <a:bodyPr wrap="square" lIns="25400" tIns="25400" rIns="25400" bIns="25400" rtlCol="0" anchor="t">
            <a:normAutofit/>
          </a:bodyPr>
          <a:lstStyle/>
          <a:p>
            <a:pPr marL="0" indent="0" algn="l">
              <a:lnSpc>
                <a:spcPct val="117966"/>
              </a:lnSpc>
              <a:buNone/>
              <a:defRPr/>
            </a:pPr>
            <a:r>
              <a:rPr lang="en-US" sz="2250">
                <a:solidFill>
                  <a:srgbClr val="FFFFFF"/>
                </a:solidFill>
                <a:latin typeface="Courier New"/>
                <a:ea typeface="Courier New"/>
                <a:cs typeface="Courier New"/>
              </a:rPr>
              <a:t>~/.bashrc</a:t>
            </a:r>
            <a:endParaRPr lang="en-US" sz="2250"/>
          </a:p>
        </p:txBody>
      </p:sp>
      <p:sp>
        <p:nvSpPr>
          <p:cNvPr id="1895671635" name="Text 14"/>
          <p:cNvSpPr/>
          <p:nvPr/>
        </p:nvSpPr>
        <p:spPr bwMode="auto">
          <a:xfrm>
            <a:off x="11699716" y="4967764"/>
            <a:ext cx="156528" cy="399256"/>
          </a:xfrm>
          <a:prstGeom prst="rect">
            <a:avLst/>
          </a:prstGeom>
          <a:noFill/>
          <a:ln/>
        </p:spPr>
        <p:txBody>
          <a:bodyPr wrap="square" lIns="0" tIns="0" rIns="0" bIns="0" rtlCol="0" anchor="t">
            <a:normAutofit/>
          </a:bodyPr>
          <a:lstStyle/>
          <a:p>
            <a:pPr marL="0" indent="0" algn="l">
              <a:lnSpc>
                <a:spcPct val="119446"/>
              </a:lnSpc>
              <a:buNone/>
              <a:defRPr/>
            </a:pPr>
            <a:r>
              <a:rPr lang="en-US" sz="2400">
                <a:solidFill>
                  <a:srgbClr val="FFFFFF"/>
                </a:solidFill>
                <a:latin typeface="Arial"/>
                <a:ea typeface="Arial"/>
                <a:cs typeface="Arial"/>
              </a:rPr>
              <a:t>.</a:t>
            </a:r>
            <a:endParaRPr lang="en-US" sz="2400"/>
          </a:p>
        </p:txBody>
      </p:sp>
      <p:sp>
        <p:nvSpPr>
          <p:cNvPr id="1088701282" name="Text 15"/>
          <p:cNvSpPr/>
          <p:nvPr/>
        </p:nvSpPr>
        <p:spPr bwMode="auto">
          <a:xfrm>
            <a:off x="1860550" y="5637688"/>
            <a:ext cx="5338029" cy="399256"/>
          </a:xfrm>
          <a:prstGeom prst="rect">
            <a:avLst/>
          </a:prstGeom>
          <a:noFill/>
          <a:ln/>
        </p:spPr>
        <p:txBody>
          <a:bodyPr wrap="square" lIns="0" tIns="0" rIns="0" bIns="0" rtlCol="0" anchor="t">
            <a:normAutofit/>
          </a:bodyPr>
          <a:lstStyle/>
          <a:p>
            <a:pPr marL="0" indent="0" algn="l">
              <a:lnSpc>
                <a:spcPct val="119446"/>
              </a:lnSpc>
              <a:buNone/>
              <a:defRPr/>
            </a:pPr>
            <a:r>
              <a:rPr lang="en-US" sz="2400">
                <a:solidFill>
                  <a:srgbClr val="FFFFFF"/>
                </a:solidFill>
                <a:latin typeface="Arial"/>
                <a:ea typeface="Arial"/>
                <a:cs typeface="Arial"/>
              </a:rPr>
              <a:t>You can reach the Pi in one command:</a:t>
            </a:r>
            <a:endParaRPr lang="en-US" sz="2400"/>
          </a:p>
        </p:txBody>
      </p:sp>
      <p:sp>
        <p:nvSpPr>
          <p:cNvPr id="1705754457" name="Text 16"/>
          <p:cNvSpPr/>
          <p:nvPr/>
        </p:nvSpPr>
        <p:spPr bwMode="auto">
          <a:xfrm>
            <a:off x="7252653" y="5612606"/>
            <a:ext cx="5295328" cy="424815"/>
          </a:xfrm>
          <a:prstGeom prst="rect">
            <a:avLst/>
          </a:prstGeom>
          <a:noFill/>
          <a:ln/>
        </p:spPr>
        <p:txBody>
          <a:bodyPr wrap="square" lIns="25400" tIns="25400" rIns="25400" bIns="25400" rtlCol="0" anchor="t">
            <a:normAutofit/>
          </a:bodyPr>
          <a:lstStyle/>
          <a:p>
            <a:pPr marL="0" indent="0" algn="l">
              <a:lnSpc>
                <a:spcPct val="117966"/>
              </a:lnSpc>
              <a:buNone/>
              <a:defRPr/>
            </a:pPr>
            <a:r>
              <a:rPr lang="en-US" sz="2250">
                <a:solidFill>
                  <a:srgbClr val="FFFFFF"/>
                </a:solidFill>
                <a:latin typeface="Courier New"/>
                <a:ea typeface="Courier New"/>
                <a:cs typeface="Courier New"/>
              </a:rPr>
              <a:t>ssh a2botX@a2botX-host.local</a:t>
            </a:r>
            <a:endParaRPr lang="en-US" sz="2250"/>
          </a:p>
        </p:txBody>
      </p:sp>
      <p:sp>
        <p:nvSpPr>
          <p:cNvPr id="1562407005" name="Text 17"/>
          <p:cNvSpPr/>
          <p:nvPr/>
        </p:nvSpPr>
        <p:spPr bwMode="auto">
          <a:xfrm>
            <a:off x="12276138" y="5637688"/>
            <a:ext cx="156528" cy="399256"/>
          </a:xfrm>
          <a:prstGeom prst="rect">
            <a:avLst/>
          </a:prstGeom>
          <a:noFill/>
          <a:ln/>
        </p:spPr>
        <p:txBody>
          <a:bodyPr wrap="square" lIns="0" tIns="0" rIns="0" bIns="0" rtlCol="0" anchor="t">
            <a:normAutofit/>
          </a:bodyPr>
          <a:lstStyle/>
          <a:p>
            <a:pPr marL="0" indent="0" algn="l">
              <a:lnSpc>
                <a:spcPct val="119446"/>
              </a:lnSpc>
              <a:buNone/>
              <a:defRPr/>
            </a:pPr>
            <a:r>
              <a:rPr lang="en-US" sz="2400">
                <a:solidFill>
                  <a:srgbClr val="FFFFFF"/>
                </a:solidFill>
                <a:latin typeface="Arial"/>
                <a:ea typeface="Arial"/>
                <a:cs typeface="Arial"/>
              </a:rPr>
              <a:t>.</a:t>
            </a:r>
            <a:endParaRPr lang="en-US" sz="2400"/>
          </a:p>
        </p:txBody>
      </p:sp>
      <p:sp>
        <p:nvSpPr>
          <p:cNvPr id="1725602401" name="Text 18"/>
          <p:cNvSpPr/>
          <p:nvPr/>
        </p:nvSpPr>
        <p:spPr bwMode="auto">
          <a:xfrm>
            <a:off x="1860550" y="6282531"/>
            <a:ext cx="2836783" cy="424815"/>
          </a:xfrm>
          <a:prstGeom prst="rect">
            <a:avLst/>
          </a:prstGeom>
          <a:noFill/>
          <a:ln/>
        </p:spPr>
        <p:txBody>
          <a:bodyPr wrap="square" lIns="25400" tIns="25400" rIns="25400" bIns="25400" rtlCol="0" anchor="t">
            <a:normAutofit/>
          </a:bodyPr>
          <a:lstStyle/>
          <a:p>
            <a:pPr marL="0" indent="0" algn="l">
              <a:lnSpc>
                <a:spcPct val="117966"/>
              </a:lnSpc>
              <a:buNone/>
              <a:defRPr/>
            </a:pPr>
            <a:r>
              <a:rPr lang="en-US" sz="2250">
                <a:solidFill>
                  <a:srgbClr val="FFFFFF"/>
                </a:solidFill>
                <a:latin typeface="Courier New"/>
                <a:ea typeface="Courier New"/>
                <a:cs typeface="Courier New"/>
              </a:rPr>
              <a:t>ros2 topic list</a:t>
            </a:r>
            <a:endParaRPr lang="en-US" sz="2250"/>
          </a:p>
        </p:txBody>
      </p:sp>
      <p:sp>
        <p:nvSpPr>
          <p:cNvPr id="541063873" name="Text 19"/>
          <p:cNvSpPr/>
          <p:nvPr/>
        </p:nvSpPr>
        <p:spPr bwMode="auto">
          <a:xfrm>
            <a:off x="4648994" y="6307614"/>
            <a:ext cx="4519649" cy="399256"/>
          </a:xfrm>
          <a:prstGeom prst="rect">
            <a:avLst/>
          </a:prstGeom>
          <a:noFill/>
          <a:ln/>
        </p:spPr>
        <p:txBody>
          <a:bodyPr wrap="square" lIns="0" tIns="0" rIns="0" bIns="0" rtlCol="0" anchor="t">
            <a:normAutofit/>
          </a:bodyPr>
          <a:lstStyle/>
          <a:p>
            <a:pPr marL="0" indent="0" algn="l">
              <a:lnSpc>
                <a:spcPct val="119446"/>
              </a:lnSpc>
              <a:buNone/>
              <a:defRPr/>
            </a:pPr>
            <a:r>
              <a:rPr lang="en-US" sz="2400">
                <a:solidFill>
                  <a:srgbClr val="FFFFFF"/>
                </a:solidFill>
                <a:latin typeface="Arial"/>
                <a:ea typeface="Arial"/>
                <a:cs typeface="Arial"/>
              </a:rPr>
              <a:t>on your own laptop is not empty.</a:t>
            </a:r>
            <a:endParaRPr lang="en-US" sz="2400"/>
          </a:p>
        </p:txBody>
      </p:sp>
      <p:sp>
        <p:nvSpPr>
          <p:cNvPr id="1587168537" name="Text 20"/>
          <p:cNvSpPr/>
          <p:nvPr/>
        </p:nvSpPr>
        <p:spPr bwMode="auto">
          <a:xfrm>
            <a:off x="1860549" y="6952455"/>
            <a:ext cx="17665065" cy="479425"/>
          </a:xfrm>
          <a:prstGeom prst="rect">
            <a:avLst/>
          </a:prstGeom>
          <a:noFill/>
          <a:ln/>
        </p:spPr>
        <p:txBody>
          <a:bodyPr wrap="square" lIns="25400" tIns="25400" rIns="25400" bIns="25400" rtlCol="0" anchor="t">
            <a:normAutofit/>
          </a:bodyPr>
          <a:lstStyle/>
          <a:p>
            <a:pPr marL="0" indent="0" algn="l">
              <a:lnSpc>
                <a:spcPct val="119446"/>
              </a:lnSpc>
              <a:buNone/>
              <a:defRPr/>
            </a:pPr>
            <a:r>
              <a:rPr lang="en-US" sz="2400">
                <a:solidFill>
                  <a:srgbClr val="FFFFFF"/>
                </a:solidFill>
                <a:latin typeface="Arial"/>
                <a:ea typeface="Arial"/>
                <a:cs typeface="Arial"/>
              </a:rPr>
              <a:t>You have driven the robot — once from the keyboard, once from the browser.</a:t>
            </a:r>
            <a:endParaRPr lang="en-US" sz="2400"/>
          </a:p>
        </p:txBody>
      </p:sp>
      <p:sp>
        <p:nvSpPr>
          <p:cNvPr id="1829345304" name="Text 21"/>
          <p:cNvSpPr/>
          <p:nvPr/>
        </p:nvSpPr>
        <p:spPr bwMode="auto">
          <a:xfrm>
            <a:off x="1257300" y="7774781"/>
            <a:ext cx="9528201" cy="998220"/>
          </a:xfrm>
          <a:prstGeom prst="rect">
            <a:avLst/>
          </a:prstGeom>
          <a:noFill/>
          <a:ln/>
        </p:spPr>
        <p:txBody>
          <a:bodyPr wrap="square" lIns="25400" tIns="25400" rIns="25400" bIns="25400" rtlCol="0" anchor="t">
            <a:normAutofit/>
          </a:bodyPr>
          <a:lstStyle/>
          <a:p>
            <a:pPr marL="0" indent="0" algn="l">
              <a:lnSpc>
                <a:spcPct val="123429"/>
              </a:lnSpc>
              <a:buNone/>
              <a:defRPr/>
            </a:pPr>
            <a:r>
              <a:rPr lang="en-US" sz="2700">
                <a:solidFill>
                  <a:srgbClr val="C9D4E9"/>
                </a:solidFill>
                <a:latin typeface="Arial"/>
                <a:ea typeface="Arial"/>
                <a:cs typeface="Arial"/>
              </a:rPr>
              <a:t>Everything here, in more detail: </a:t>
            </a:r>
            <a:r>
              <a:rPr lang="en-US" sz="2550">
                <a:solidFill>
                  <a:srgbClr val="C9D4E9"/>
                </a:solidFill>
                <a:latin typeface="Courier New"/>
                <a:ea typeface="Courier New"/>
                <a:cs typeface="Courier New"/>
              </a:rPr>
              <a:t>mhd-01.github.io/A2Bot-Docs</a:t>
            </a:r>
            <a:endParaRPr lang="en-US" sz="2700"/>
          </a:p>
        </p:txBody>
      </p:sp>
      <p:sp>
        <p:nvSpPr>
          <p:cNvPr id="1197173337" name="Shape 22"/>
          <p:cNvSpPr/>
          <p:nvPr/>
        </p:nvSpPr>
        <p:spPr bwMode="auto">
          <a:xfrm>
            <a:off x="1257300" y="9067800"/>
            <a:ext cx="10725150" cy="552450"/>
          </a:xfrm>
          <a:prstGeom prst="roundRect">
            <a:avLst>
              <a:gd name="adj" fmla="val 10345"/>
            </a:avLst>
          </a:prstGeom>
          <a:solidFill>
            <a:srgbClr val="FFFFFF"/>
          </a:solidFill>
          <a:ln/>
        </p:spPr>
      </p:sp>
      <p:pic>
        <p:nvPicPr>
          <p:cNvPr id="379856752" name="Image 1" descr="preencoded.png"/>
          <p:cNvPicPr>
            <a:picLocks noChangeAspect="1"/>
          </p:cNvPicPr>
          <p:nvPr/>
        </p:nvPicPr>
        <p:blipFill rotWithShape="1">
          <a:blip r:embed="rId4"/>
          <a:stretch/>
        </p:blipFill>
        <p:spPr bwMode="auto">
          <a:xfrm>
            <a:off x="1428750" y="9124950"/>
            <a:ext cx="10382250" cy="438149"/>
          </a:xfrm>
          <a:prstGeom prst="rect">
            <a:avLst/>
          </a:prstGeom>
        </p:spPr>
      </p:pic>
      <p:pic>
        <p:nvPicPr>
          <p:cNvPr id="600621011" name="Image 2" descr="preencoded.png"/>
          <p:cNvPicPr>
            <a:picLocks noChangeAspect="1"/>
          </p:cNvPicPr>
          <p:nvPr/>
        </p:nvPicPr>
        <p:blipFill rotWithShape="1">
          <a:blip r:embed="rId5"/>
          <a:stretch/>
        </p:blipFill>
        <p:spPr bwMode="auto">
          <a:xfrm>
            <a:off x="17384077" y="9561512"/>
            <a:ext cx="275272" cy="344488"/>
          </a:xfrm>
          <a:prstGeom prst="rect">
            <a:avLst/>
          </a:prstGeom>
        </p:spPr>
      </p:pic>
      <p:sp>
        <p:nvSpPr>
          <p:cNvPr id="1140022718" name=""/>
          <p:cNvSpPr/>
          <p:nvPr/>
        </p:nvSpPr>
        <p:spPr bwMode="auto">
          <a:xfrm rot="0" flipH="0" flipV="0">
            <a:off x="1315424" y="4362449"/>
            <a:ext cx="352424" cy="333374"/>
          </a:xfrm>
          <a:prstGeom prst="rect">
            <a:avLst/>
          </a:prstGeom>
          <a:solidFill>
            <a:srgbClr val="DB5817">
              <a:alpha val="0"/>
            </a:srgbClr>
          </a:solidFill>
          <a:ln w="57150" cap="flat" cmpd="sng" algn="ctr">
            <a:solidFill>
              <a:srgbClr val="DB5817"/>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551313071" name=""/>
          <p:cNvSpPr/>
          <p:nvPr/>
        </p:nvSpPr>
        <p:spPr bwMode="auto">
          <a:xfrm rot="0" flipH="0" flipV="0">
            <a:off x="1315424" y="4988401"/>
            <a:ext cx="352424" cy="333373"/>
          </a:xfrm>
          <a:prstGeom prst="rect">
            <a:avLst/>
          </a:prstGeom>
          <a:solidFill>
            <a:srgbClr val="DB5817">
              <a:alpha val="0"/>
            </a:srgbClr>
          </a:solidFill>
          <a:ln w="57150" cap="flat" cmpd="sng" algn="ctr">
            <a:solidFill>
              <a:srgbClr val="DB5817"/>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264004566" name=""/>
          <p:cNvSpPr/>
          <p:nvPr/>
        </p:nvSpPr>
        <p:spPr bwMode="auto">
          <a:xfrm rot="0" flipH="0" flipV="0">
            <a:off x="1315424" y="5670628"/>
            <a:ext cx="352424" cy="333373"/>
          </a:xfrm>
          <a:prstGeom prst="rect">
            <a:avLst/>
          </a:prstGeom>
          <a:solidFill>
            <a:srgbClr val="DB5817">
              <a:alpha val="0"/>
            </a:srgbClr>
          </a:solidFill>
          <a:ln w="57150" cap="flat" cmpd="sng" algn="ctr">
            <a:solidFill>
              <a:srgbClr val="DB5817"/>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848966224" name=""/>
          <p:cNvSpPr/>
          <p:nvPr/>
        </p:nvSpPr>
        <p:spPr bwMode="auto">
          <a:xfrm rot="0" flipH="0" flipV="0">
            <a:off x="1315424" y="6328251"/>
            <a:ext cx="352424" cy="333373"/>
          </a:xfrm>
          <a:prstGeom prst="rect">
            <a:avLst/>
          </a:prstGeom>
          <a:solidFill>
            <a:srgbClr val="DB5817">
              <a:alpha val="0"/>
            </a:srgbClr>
          </a:solidFill>
          <a:ln w="57150" cap="flat" cmpd="sng" algn="ctr">
            <a:solidFill>
              <a:srgbClr val="DB5817"/>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811393179" name=""/>
          <p:cNvSpPr/>
          <p:nvPr/>
        </p:nvSpPr>
        <p:spPr bwMode="auto">
          <a:xfrm rot="0" flipH="0" flipV="0">
            <a:off x="1315424" y="7025481"/>
            <a:ext cx="352424" cy="333373"/>
          </a:xfrm>
          <a:prstGeom prst="rect">
            <a:avLst/>
          </a:prstGeom>
          <a:solidFill>
            <a:srgbClr val="DB5817">
              <a:alpha val="0"/>
            </a:srgbClr>
          </a:solidFill>
          <a:ln w="57150" cap="flat" cmpd="sng" algn="ctr">
            <a:solidFill>
              <a:srgbClr val="DB5817"/>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24</Slides>
  <Notes>24</Notes>
  <HiddenSlides>0</HiddenSlides>
  <MMClips>2</MMClips>
  <ScaleCrop>0</ScaleCrop>
  <HeadingPairs>
    <vt:vector size="4" baseType="variant">
      <vt:variant>
        <vt:lpstr>Theme</vt:lpstr>
      </vt:variant>
      <vt:variant>
        <vt:i4>1</vt:i4>
      </vt:variant>
      <vt:variant>
        <vt:lpstr>Slide Titles</vt:lpstr>
      </vt:variant>
      <vt:variant>
        <vt:i4>24</vt:i4>
      </vt:variant>
    </vt:vector>
  </HeadingPairs>
  <TitlesOfParts>
    <vt:vector size="25"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
  <cp:revision>2</cp:revision>
  <dcterms:created xsi:type="dcterms:W3CDTF">2026-09-05T12:02:37Z</dcterms:created>
  <dcterms:modified xsi:type="dcterms:W3CDTF">2026-09-05T12:25:51Z</dcterms:modified>
</cp:coreProperties>
</file>